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79" r:id="rId3"/>
    <p:sldId id="277" r:id="rId4"/>
    <p:sldId id="278" r:id="rId5"/>
    <p:sldId id="258" r:id="rId6"/>
    <p:sldId id="259" r:id="rId7"/>
    <p:sldId id="260" r:id="rId8"/>
    <p:sldId id="261" r:id="rId9"/>
    <p:sldId id="280" r:id="rId10"/>
    <p:sldId id="262" r:id="rId11"/>
    <p:sldId id="263" r:id="rId12"/>
    <p:sldId id="264" r:id="rId13"/>
    <p:sldId id="281"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E96D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98"/>
    <p:restoredTop sz="94564"/>
  </p:normalViewPr>
  <p:slideViewPr>
    <p:cSldViewPr snapToGrid="0" snapToObjects="1">
      <p:cViewPr varScale="1">
        <p:scale>
          <a:sx n="131" d="100"/>
          <a:sy n="131" d="100"/>
        </p:scale>
        <p:origin x="172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8833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Give the audience the answer in the first ninety seconds; everything after this slide is evidence for it. Optimisation finds the best plan inside the time available, simulation says what can be promised, sensitivity analysis says what actually moves the outcome. This is the final meeting of the project: the deck ends in a rule the service can run, and asks for nothing.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D80D2-EB60-AF56-306F-5EFA9CF4DF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CBFED-AEF5-C555-1353-9E524DDA501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7CDE4C0-1ECE-1768-DA31-E5B750FA66D5}"/>
              </a:ext>
            </a:extLst>
          </p:cNvPr>
          <p:cNvSpPr>
            <a:spLocks noGrp="1"/>
          </p:cNvSpPr>
          <p:nvPr>
            <p:ph type="body" sz="quarter" idx="3"/>
          </p:nvPr>
        </p:nvSpPr>
        <p:spPr/>
        <p:txBody>
          <a:bodyPr/>
          <a:lstStyle/>
          <a:p>
            <a:r>
              <a:rPr dirty="0"/>
              <a:t>This is the operational problem, before any model. The window opens on the later of HRA approval and site selection, which is often well before pharmacy is told. The median pharmacy work interval alone is longer than the whole target. No case study finished inside the target from a standing start — the four that met it had all entered the queue before the clock opened.</a:t>
            </a:r>
          </a:p>
        </p:txBody>
      </p:sp>
      <p:sp>
        <p:nvSpPr>
          <p:cNvPr id="4" name="Slide Number Placeholder 3">
            <a:extLst>
              <a:ext uri="{FF2B5EF4-FFF2-40B4-BE49-F238E27FC236}">
                <a16:creationId xmlns:a16="http://schemas.microsoft.com/office/drawing/2014/main" id="{8EE6C07C-83D4-C622-F89D-C8B1779B07B2}"/>
              </a:ext>
            </a:extLst>
          </p:cNvPr>
          <p:cNvSpPr>
            <a:spLocks noGrp="1"/>
          </p:cNvSpPr>
          <p:nvPr>
            <p:ph type="sldNum" sz="quarter" idx="5"/>
          </p:nvPr>
        </p:nvSpPr>
        <p:spPr/>
      </p:sp>
    </p:spTree>
    <p:extLst>
      <p:ext uri="{BB962C8B-B14F-4D97-AF65-F5344CB8AC3E}">
        <p14:creationId xmlns:p14="http://schemas.microsoft.com/office/powerpoint/2010/main" val="2888760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44207-B5D5-AAFE-6D43-25EBEF0D7A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06AF4-C95B-0F04-4323-7EDEF984C4C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71D4DE6-0F78-CE58-6785-7D02941F13E8}"/>
              </a:ext>
            </a:extLst>
          </p:cNvPr>
          <p:cNvSpPr>
            <a:spLocks noGrp="1"/>
          </p:cNvSpPr>
          <p:nvPr>
            <p:ph type="body" sz="quarter" idx="3"/>
          </p:nvPr>
        </p:nvSpPr>
        <p:spPr/>
        <p:txBody>
          <a:bodyPr/>
          <a:lstStyle/>
          <a:p>
            <a:r>
              <a:rPr dirty="0"/>
              <a:t>This is the operational problem, before any model. The window opens on the later of HRA approval and site selection, which is often well before pharmacy is told. The median pharmacy work interval alone is longer than the whole target. No case study finished inside the target from a standing start — the four that met it had all entered the queue before the clock opened.</a:t>
            </a:r>
          </a:p>
        </p:txBody>
      </p:sp>
      <p:sp>
        <p:nvSpPr>
          <p:cNvPr id="4" name="Slide Number Placeholder 3">
            <a:extLst>
              <a:ext uri="{FF2B5EF4-FFF2-40B4-BE49-F238E27FC236}">
                <a16:creationId xmlns:a16="http://schemas.microsoft.com/office/drawing/2014/main" id="{A6EC6C55-ECB3-C838-3AC0-13C0D43E8A7D}"/>
              </a:ext>
            </a:extLst>
          </p:cNvPr>
          <p:cNvSpPr>
            <a:spLocks noGrp="1"/>
          </p:cNvSpPr>
          <p:nvPr>
            <p:ph type="sldNum" sz="quarter" idx="5"/>
          </p:nvPr>
        </p:nvSpPr>
        <p:spPr/>
      </p:sp>
    </p:spTree>
    <p:extLst>
      <p:ext uri="{BB962C8B-B14F-4D97-AF65-F5344CB8AC3E}">
        <p14:creationId xmlns:p14="http://schemas.microsoft.com/office/powerpoint/2010/main" val="3995616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State the evidence base once, here. Twenty case studies, nineteen usable. An approval time recorded nowhere. Duration floors taken from the fastest performance each pathway has achieved. Say the reconstruction point plainly: it credits the work both teams did, and it is why the measurement stage of the roadmap exists. The dissertation calls these retrospective estimates rather than recorded events, and the deck must not describe them more confidently than the submitted text does.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Three methods, three different jobs. </a:t>
            </a:r>
            <a:r>
              <a:rPr dirty="0" err="1"/>
              <a:t>Optimisation</a:t>
            </a:r>
            <a:r>
              <a:rPr dirty="0"/>
              <a:t>: if we must decide now, which trials should we commit to. Simulation: how often will that plan actually deliver. Sensitivity: which operational changes genuinely change the outcome. Say what the model does not do, so nobody hears it as a ranking of scientific worth.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Two counts of nine exist in the analysis and are easily confused. This slide uses the lever baseline: 9 of the 25 monthly queues already admit one on-time trial with no change at all. The other nine is against the arrival-order comparator, where the model produced at least one on-time completion at 9 decision points against 6 for the comparator, at commitment limits of one and two. Both nines cover only four distinct trials. Careful in the room: four is an upper bound observed across 25 decision points, on the fastest durations each pathway has achieved. Saying we can do four a year would misstate 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scorecard is the whole sensitivity analysis on one slide. Five of the six settings move months onto the target or reduce lateness; only one raises the ceiling. Opening more set-ups changed the on-time count at none of the 25 decision points — give that number plainly. Closing the hand-over gap produces the largest single-date reduction in weighted lateness, 498 days, but adds on-time completions at only two further decision points, because it mainly affects trials already beyond rescue.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Preparation adds days before the window opens; everything else moves days around inside it. Keep both caveats audible: the base model does not charge pre-window preparation against the commitment limit, and a queue's own composition sets a ceiling no lever passes. These figures give the lead to every committed trial, which no service can sustain — the targeted version follows on slides 9 and 10.</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what simulation is for, in one sentence: it stops the service over-promising. A possible maximum is not a reliable promise. Agree a confidence level and commit to the count that holds at 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Phrase the high-burden claim as a floor, never as an average. What the data supports is not that high-burden studies take longer on average, but that none has ever been set up here in under 60 days. The band is a risk screen, not a value ranking, and it does not decide which studies are committed.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Deliver the 4b finding as a fact about the scoring group's membership, not about anyone's diligence: the measure asks a question only pharmacy can answer, and pharmacy is not in the room when it is asked. Targeting is the affordable policy, not the maximum one — spreading the lead is the only way to reach three in a month, and targeting reaches two.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Sequencing matters. Do not let the measurement stage read as a precondition, or the service will wait for data and start nothing. The not-recommended list is deliberately set apart so nobody reads it as a fourth stage.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Close on the four sentences and stop. The A4 sheet is the leave-behind; hand it over rather than presenting it line by line. This is the last meeting of the project and the deck asks for nothing.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leave-behind. Print it as a single A4 sheet and hand it over rather than presenting it line by line.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of the main deck. The following seven slides are back-up, shown only if asked.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full parameter set behind the model. The floors are demonstrated-achievable standards, not averages or forecasts. The three hand-over medians come from different sources and definitions, which is why only the 14-day figure is used in the triage rule.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Ranges as tested. The hand-over gap was swept to 120 days in the figure, although recorded gaps run to 210.</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only if asked what happens if the signature takes longer than a day.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tests are held here rather than in the main deck. Each pattern fits the proposed mechanism without establishing it, and the case base is too small to rule out a moderate effect.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frontier rotation and the preparation steps. A governance rule that ranks lateness first gives up nothing when preparation is adequate, and two rescues when it is not, so it is the wrong rule to fix in advance.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 current performance the model never beats arrival order for on-time completions. The weights are not staff-time ratios.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It computes nothing and has not been used by anyone. It belongs after the measurement stage.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nchester-logo.png"/>
          <p:cNvPicPr>
            <a:picLocks noChangeAspect="1"/>
          </p:cNvPicPr>
          <p:nvPr/>
        </p:nvPicPr>
        <p:blipFill>
          <a:blip r:embed="rId3"/>
          <a:stretch>
            <a:fillRect/>
          </a:stretch>
        </p:blipFill>
        <p:spPr>
          <a:xfrm>
            <a:off x="609600" y="406400"/>
            <a:ext cx="979328" cy="304800"/>
          </a:xfrm>
          <a:prstGeom prst="rect">
            <a:avLst/>
          </a:prstGeom>
        </p:spPr>
      </p:pic>
      <p:sp>
        <p:nvSpPr>
          <p:cNvPr id="3" name="TextBox 2"/>
          <p:cNvSpPr txBox="1"/>
          <p:nvPr/>
        </p:nvSpPr>
        <p:spPr>
          <a:xfrm>
            <a:off x="609600" y="1587500"/>
            <a:ext cx="10541000" cy="2540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LANCASHIRE TEACHING HOSPITALS NHS FOUNDATION TRUST · RESULTS REPORT-OUT</a:t>
            </a:r>
          </a:p>
        </p:txBody>
      </p:sp>
      <p:sp>
        <p:nvSpPr>
          <p:cNvPr id="4" name="TextBox 3"/>
          <p:cNvSpPr txBox="1"/>
          <p:nvPr/>
        </p:nvSpPr>
        <p:spPr>
          <a:xfrm>
            <a:off x="609600" y="1905000"/>
            <a:ext cx="10795000" cy="1079500"/>
          </a:xfrm>
          <a:prstGeom prst="rect">
            <a:avLst/>
          </a:prstGeom>
          <a:noFill/>
        </p:spPr>
        <p:txBody>
          <a:bodyPr wrap="square" lIns="0" tIns="0" rIns="0" bIns="0" anchor="t">
            <a:spAutoFit/>
          </a:bodyPr>
          <a:lstStyle/>
          <a:p>
            <a:pPr algn="l">
              <a:lnSpc>
                <a:spcPct val="112000"/>
              </a:lnSpc>
            </a:pPr>
            <a:r>
              <a:rPr sz="2900" b="1" dirty="0">
                <a:solidFill>
                  <a:srgbClr val="1F0E33"/>
                </a:solidFill>
                <a:latin typeface="Arial"/>
              </a:rPr>
              <a:t>Which trials pharmacy can complete within 60 days, and what limits that number</a:t>
            </a:r>
          </a:p>
        </p:txBody>
      </p:sp>
      <p:sp>
        <p:nvSpPr>
          <p:cNvPr id="5" name="Rectangle 4"/>
          <p:cNvSpPr/>
          <p:nvPr/>
        </p:nvSpPr>
        <p:spPr>
          <a:xfrm>
            <a:off x="609600" y="3175000"/>
            <a:ext cx="38100" cy="114300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38200" y="3175000"/>
            <a:ext cx="9779000" cy="254000"/>
          </a:xfrm>
          <a:prstGeom prst="rect">
            <a:avLst/>
          </a:prstGeom>
          <a:noFill/>
        </p:spPr>
        <p:txBody>
          <a:bodyPr wrap="square" lIns="0" tIns="0" rIns="0" bIns="0" anchor="t">
            <a:spAutoFit/>
          </a:bodyPr>
          <a:lstStyle/>
          <a:p>
            <a:pPr algn="l">
              <a:lnSpc>
                <a:spcPct val="135000"/>
              </a:lnSpc>
            </a:pPr>
            <a:r>
              <a:rPr sz="1100" b="1" spc="260">
                <a:solidFill>
                  <a:srgbClr val="50017D"/>
                </a:solidFill>
                <a:latin typeface="Arial"/>
              </a:rPr>
              <a:t>THE FINDING</a:t>
            </a:r>
          </a:p>
        </p:txBody>
      </p:sp>
      <p:sp>
        <p:nvSpPr>
          <p:cNvPr id="7" name="TextBox 6"/>
          <p:cNvSpPr txBox="1"/>
          <p:nvPr/>
        </p:nvSpPr>
        <p:spPr>
          <a:xfrm>
            <a:off x="838200" y="3441700"/>
            <a:ext cx="9779000" cy="952500"/>
          </a:xfrm>
          <a:prstGeom prst="rect">
            <a:avLst/>
          </a:prstGeom>
          <a:noFill/>
        </p:spPr>
        <p:txBody>
          <a:bodyPr wrap="square" lIns="0" tIns="0" rIns="0" bIns="0" anchor="t">
            <a:spAutoFit/>
          </a:bodyPr>
          <a:lstStyle/>
          <a:p>
            <a:pPr algn="l">
              <a:lnSpc>
                <a:spcPct val="128000"/>
              </a:lnSpc>
            </a:pPr>
            <a:r>
              <a:rPr sz="1850" b="1">
                <a:solidFill>
                  <a:srgbClr val="1F0E33"/>
                </a:solidFill>
                <a:latin typeface="Arial"/>
              </a:rPr>
              <a:t>On-time performance is set by the usable time remaining when the study reaches pharmacy — not by the number of set-ups opened each month.</a:t>
            </a:r>
          </a:p>
        </p:txBody>
      </p:sp>
      <p:sp>
        <p:nvSpPr>
          <p:cNvPr id="8" name="TextBox 7"/>
          <p:cNvSpPr txBox="1"/>
          <p:nvPr/>
        </p:nvSpPr>
        <p:spPr>
          <a:xfrm>
            <a:off x="609600" y="4635500"/>
            <a:ext cx="9271000" cy="889000"/>
          </a:xfrm>
          <a:prstGeom prst="rect">
            <a:avLst/>
          </a:prstGeom>
          <a:noFill/>
        </p:spPr>
        <p:txBody>
          <a:bodyPr wrap="square" lIns="0" tIns="0" rIns="0" bIns="0" anchor="t">
            <a:spAutoFit/>
          </a:bodyPr>
          <a:lstStyle/>
          <a:p>
            <a:pPr algn="l">
              <a:lnSpc>
                <a:spcPct val="145000"/>
              </a:lnSpc>
            </a:pPr>
            <a:r>
              <a:rPr sz="1300" b="0">
                <a:solidFill>
                  <a:srgbClr val="6B5B7E"/>
                </a:solidFill>
                <a:latin typeface="Arial"/>
              </a:rPr>
              <a:t>Optimisation identifies the best portfolio within the time available. Simulation tests whether that promise survives the variation in set-up durations. Sensitivity analysis identifies which operational changes genuinely move the outcome.</a:t>
            </a:r>
          </a:p>
        </p:txBody>
      </p:sp>
      <p:sp>
        <p:nvSpPr>
          <p:cNvPr id="9" name="Rectangle 8"/>
          <p:cNvSpPr/>
          <p:nvPr/>
        </p:nvSpPr>
        <p:spPr>
          <a:xfrm>
            <a:off x="609600" y="6096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09600" y="6235700"/>
            <a:ext cx="9525000" cy="254000"/>
          </a:xfrm>
          <a:prstGeom prst="rect">
            <a:avLst/>
          </a:prstGeom>
          <a:noFill/>
        </p:spPr>
        <p:txBody>
          <a:bodyPr wrap="square" lIns="0" tIns="0" rIns="0" bIns="0" anchor="t">
            <a:spAutoFit/>
          </a:bodyPr>
          <a:lstStyle/>
          <a:p>
            <a:pPr algn="l">
              <a:lnSpc>
                <a:spcPct val="135000"/>
              </a:lnSpc>
            </a:pPr>
            <a:r>
              <a:rPr sz="1100" b="0">
                <a:solidFill>
                  <a:srgbClr val="9D8FB0"/>
                </a:solidFill>
                <a:latin typeface="Arial"/>
              </a:rPr>
              <a:t>A planning model built on LTHTR's own records, across 25 monthly decision points, 2024 to 2026 · MSc dissertation with R&amp;I and Pharmacy Clinical Trials, September 2026</a:t>
            </a:r>
          </a:p>
        </p:txBody>
      </p:sp>
      <p:sp>
        <p:nvSpPr>
          <p:cNvPr id="11" name="TextBox 10"/>
          <p:cNvSpPr txBox="1"/>
          <p:nvPr/>
        </p:nvSpPr>
        <p:spPr>
          <a:xfrm>
            <a:off x="10795000" y="6235700"/>
            <a:ext cx="787400" cy="2540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1D573-F66C-437E-931F-E9022CA88F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E384BD-319A-00A7-FA85-55C4FC13EC05}"/>
              </a:ext>
            </a:extLst>
          </p:cNvPr>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ACT 1 · THE PROBLEM</a:t>
            </a:r>
          </a:p>
        </p:txBody>
      </p:sp>
      <p:sp>
        <p:nvSpPr>
          <p:cNvPr id="3" name="TextBox 2">
            <a:extLst>
              <a:ext uri="{FF2B5EF4-FFF2-40B4-BE49-F238E27FC236}">
                <a16:creationId xmlns:a16="http://schemas.microsoft.com/office/drawing/2014/main" id="{8F27284A-97C1-9147-FE3F-E30F9FCEB8D8}"/>
              </a:ext>
            </a:extLst>
          </p:cNvPr>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02</a:t>
            </a:r>
          </a:p>
        </p:txBody>
      </p:sp>
      <p:sp>
        <p:nvSpPr>
          <p:cNvPr id="4" name="Rectangle 3">
            <a:extLst>
              <a:ext uri="{FF2B5EF4-FFF2-40B4-BE49-F238E27FC236}">
                <a16:creationId xmlns:a16="http://schemas.microsoft.com/office/drawing/2014/main" id="{FA613AD6-4BF5-1AF8-7AFE-EABCA92BA88A}"/>
              </a:ext>
            </a:extLst>
          </p:cNvPr>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a:extLst>
              <a:ext uri="{FF2B5EF4-FFF2-40B4-BE49-F238E27FC236}">
                <a16:creationId xmlns:a16="http://schemas.microsoft.com/office/drawing/2014/main" id="{01BA4704-657A-A9E4-DB6F-64F5C8DE814E}"/>
              </a:ext>
            </a:extLst>
          </p:cNvPr>
          <p:cNvSpPr txBox="1"/>
          <p:nvPr/>
        </p:nvSpPr>
        <p:spPr>
          <a:xfrm>
            <a:off x="609600" y="825500"/>
            <a:ext cx="11049000" cy="1270000"/>
          </a:xfrm>
          <a:prstGeom prst="rect">
            <a:avLst/>
          </a:prstGeom>
          <a:noFill/>
        </p:spPr>
        <p:txBody>
          <a:bodyPr wrap="square" lIns="0" tIns="0" rIns="0" bIns="0" anchor="t">
            <a:spAutoFit/>
          </a:bodyPr>
          <a:lstStyle/>
          <a:p>
            <a:pPr algn="l">
              <a:lnSpc>
                <a:spcPct val="116000"/>
              </a:lnSpc>
            </a:pPr>
            <a:r>
              <a:rPr sz="2400" b="1">
                <a:solidFill>
                  <a:srgbClr val="1F0E33"/>
                </a:solidFill>
                <a:latin typeface="Arial"/>
              </a:rPr>
              <a:t>The clock opens before pharmacy is notified, and that gap consumes the target</a:t>
            </a:r>
          </a:p>
        </p:txBody>
      </p:sp>
      <p:sp>
        <p:nvSpPr>
          <p:cNvPr id="6" name="Rectangle 5">
            <a:extLst>
              <a:ext uri="{FF2B5EF4-FFF2-40B4-BE49-F238E27FC236}">
                <a16:creationId xmlns:a16="http://schemas.microsoft.com/office/drawing/2014/main" id="{4C3E4035-813C-050C-9D35-8DD04F069B8B}"/>
              </a:ext>
            </a:extLst>
          </p:cNvPr>
          <p:cNvSpPr/>
          <p:nvPr/>
        </p:nvSpPr>
        <p:spPr>
          <a:xfrm>
            <a:off x="609600" y="1701800"/>
            <a:ext cx="347980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a:extLst>
              <a:ext uri="{FF2B5EF4-FFF2-40B4-BE49-F238E27FC236}">
                <a16:creationId xmlns:a16="http://schemas.microsoft.com/office/drawing/2014/main" id="{FBD0CA0C-A586-3236-7A94-1F943C0640EE}"/>
              </a:ext>
            </a:extLst>
          </p:cNvPr>
          <p:cNvSpPr txBox="1"/>
          <p:nvPr/>
        </p:nvSpPr>
        <p:spPr>
          <a:xfrm>
            <a:off x="609600" y="1816100"/>
            <a:ext cx="3479800" cy="571500"/>
          </a:xfrm>
          <a:prstGeom prst="rect">
            <a:avLst/>
          </a:prstGeom>
          <a:noFill/>
        </p:spPr>
        <p:txBody>
          <a:bodyPr wrap="square" lIns="0" tIns="0" rIns="0" bIns="0" anchor="t">
            <a:spAutoFit/>
          </a:bodyPr>
          <a:lstStyle/>
          <a:p>
            <a:pPr algn="l">
              <a:lnSpc>
                <a:spcPct val="100000"/>
              </a:lnSpc>
            </a:pPr>
            <a:r>
              <a:rPr sz="3600" b="1">
                <a:solidFill>
                  <a:srgbClr val="50017D"/>
                </a:solidFill>
                <a:latin typeface="Arial"/>
              </a:rPr>
              <a:t>60</a:t>
            </a:r>
          </a:p>
        </p:txBody>
      </p:sp>
      <p:sp>
        <p:nvSpPr>
          <p:cNvPr id="8" name="TextBox 7">
            <a:extLst>
              <a:ext uri="{FF2B5EF4-FFF2-40B4-BE49-F238E27FC236}">
                <a16:creationId xmlns:a16="http://schemas.microsoft.com/office/drawing/2014/main" id="{0FD5DB95-657B-55F0-D043-F7DC0EB663CE}"/>
              </a:ext>
            </a:extLst>
          </p:cNvPr>
          <p:cNvSpPr txBox="1"/>
          <p:nvPr/>
        </p:nvSpPr>
        <p:spPr>
          <a:xfrm>
            <a:off x="609600" y="2413000"/>
            <a:ext cx="3479800" cy="952500"/>
          </a:xfrm>
          <a:prstGeom prst="rect">
            <a:avLst/>
          </a:prstGeom>
          <a:noFill/>
        </p:spPr>
        <p:txBody>
          <a:bodyPr wrap="square" lIns="0" tIns="0" rIns="0" bIns="0" anchor="t">
            <a:spAutoFit/>
          </a:bodyPr>
          <a:lstStyle/>
          <a:p>
            <a:pPr algn="l">
              <a:lnSpc>
                <a:spcPct val="135000"/>
              </a:lnSpc>
            </a:pPr>
            <a:r>
              <a:rPr sz="1200" b="0">
                <a:solidFill>
                  <a:srgbClr val="3F3350"/>
                </a:solidFill>
                <a:latin typeface="Arial"/>
              </a:rPr>
              <a:t>days in the target window, from the later of HRA approval and site selection</a:t>
            </a:r>
          </a:p>
        </p:txBody>
      </p:sp>
      <p:sp>
        <p:nvSpPr>
          <p:cNvPr id="9" name="Rectangle 8">
            <a:extLst>
              <a:ext uri="{FF2B5EF4-FFF2-40B4-BE49-F238E27FC236}">
                <a16:creationId xmlns:a16="http://schemas.microsoft.com/office/drawing/2014/main" id="{526419E5-D9CA-CBED-4F48-611D2FA99028}"/>
              </a:ext>
            </a:extLst>
          </p:cNvPr>
          <p:cNvSpPr/>
          <p:nvPr/>
        </p:nvSpPr>
        <p:spPr>
          <a:xfrm>
            <a:off x="4368800" y="1701800"/>
            <a:ext cx="347980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a:extLst>
              <a:ext uri="{FF2B5EF4-FFF2-40B4-BE49-F238E27FC236}">
                <a16:creationId xmlns:a16="http://schemas.microsoft.com/office/drawing/2014/main" id="{0FB421B9-C972-E922-FCB1-6D2B5E147805}"/>
              </a:ext>
            </a:extLst>
          </p:cNvPr>
          <p:cNvSpPr txBox="1"/>
          <p:nvPr/>
        </p:nvSpPr>
        <p:spPr>
          <a:xfrm>
            <a:off x="4368800" y="1816100"/>
            <a:ext cx="3479800" cy="571500"/>
          </a:xfrm>
          <a:prstGeom prst="rect">
            <a:avLst/>
          </a:prstGeom>
          <a:noFill/>
        </p:spPr>
        <p:txBody>
          <a:bodyPr wrap="square" lIns="0" tIns="0" rIns="0" bIns="0" anchor="t">
            <a:spAutoFit/>
          </a:bodyPr>
          <a:lstStyle/>
          <a:p>
            <a:pPr algn="l">
              <a:lnSpc>
                <a:spcPct val="100000"/>
              </a:lnSpc>
            </a:pPr>
            <a:r>
              <a:rPr sz="3600" b="1">
                <a:solidFill>
                  <a:srgbClr val="50017D"/>
                </a:solidFill>
                <a:latin typeface="Arial"/>
              </a:rPr>
              <a:t>79</a:t>
            </a:r>
          </a:p>
        </p:txBody>
      </p:sp>
      <p:sp>
        <p:nvSpPr>
          <p:cNvPr id="11" name="TextBox 10">
            <a:extLst>
              <a:ext uri="{FF2B5EF4-FFF2-40B4-BE49-F238E27FC236}">
                <a16:creationId xmlns:a16="http://schemas.microsoft.com/office/drawing/2014/main" id="{C0A805B6-3DB4-9102-86EC-03C75F23C8BF}"/>
              </a:ext>
            </a:extLst>
          </p:cNvPr>
          <p:cNvSpPr txBox="1"/>
          <p:nvPr/>
        </p:nvSpPr>
        <p:spPr>
          <a:xfrm>
            <a:off x="4368800" y="2413000"/>
            <a:ext cx="3479800" cy="952500"/>
          </a:xfrm>
          <a:prstGeom prst="rect">
            <a:avLst/>
          </a:prstGeom>
          <a:noFill/>
        </p:spPr>
        <p:txBody>
          <a:bodyPr wrap="square" lIns="0" tIns="0" rIns="0" bIns="0" anchor="t">
            <a:spAutoFit/>
          </a:bodyPr>
          <a:lstStyle/>
          <a:p>
            <a:pPr algn="l">
              <a:lnSpc>
                <a:spcPct val="135000"/>
              </a:lnSpc>
            </a:pPr>
            <a:r>
              <a:rPr sz="1200" b="0">
                <a:solidFill>
                  <a:srgbClr val="3F3350"/>
                </a:solidFill>
                <a:latin typeface="Arial"/>
              </a:rPr>
              <a:t>days is the median pharmacy work interval — longer than the whole target before any hand-over is counted</a:t>
            </a:r>
          </a:p>
        </p:txBody>
      </p:sp>
      <p:sp>
        <p:nvSpPr>
          <p:cNvPr id="12" name="Rectangle 11">
            <a:extLst>
              <a:ext uri="{FF2B5EF4-FFF2-40B4-BE49-F238E27FC236}">
                <a16:creationId xmlns:a16="http://schemas.microsoft.com/office/drawing/2014/main" id="{E6F0526A-B43B-9BCD-F2E3-217F0DB7B50F}"/>
              </a:ext>
            </a:extLst>
          </p:cNvPr>
          <p:cNvSpPr/>
          <p:nvPr/>
        </p:nvSpPr>
        <p:spPr>
          <a:xfrm>
            <a:off x="8128000" y="1701800"/>
            <a:ext cx="347980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a:extLst>
              <a:ext uri="{FF2B5EF4-FFF2-40B4-BE49-F238E27FC236}">
                <a16:creationId xmlns:a16="http://schemas.microsoft.com/office/drawing/2014/main" id="{CF70D44E-2D14-EB2C-CBE7-8BA1033F93CF}"/>
              </a:ext>
            </a:extLst>
          </p:cNvPr>
          <p:cNvSpPr txBox="1"/>
          <p:nvPr/>
        </p:nvSpPr>
        <p:spPr>
          <a:xfrm>
            <a:off x="8128000" y="1816100"/>
            <a:ext cx="3479800" cy="571500"/>
          </a:xfrm>
          <a:prstGeom prst="rect">
            <a:avLst/>
          </a:prstGeom>
          <a:noFill/>
        </p:spPr>
        <p:txBody>
          <a:bodyPr wrap="square" lIns="0" tIns="0" rIns="0" bIns="0" anchor="t">
            <a:spAutoFit/>
          </a:bodyPr>
          <a:lstStyle/>
          <a:p>
            <a:pPr algn="l">
              <a:lnSpc>
                <a:spcPct val="100000"/>
              </a:lnSpc>
            </a:pPr>
            <a:r>
              <a:rPr sz="3600" b="1">
                <a:solidFill>
                  <a:srgbClr val="50017D"/>
                </a:solidFill>
                <a:latin typeface="Arial"/>
              </a:rPr>
              <a:t>0</a:t>
            </a:r>
          </a:p>
        </p:txBody>
      </p:sp>
      <p:sp>
        <p:nvSpPr>
          <p:cNvPr id="14" name="TextBox 13">
            <a:extLst>
              <a:ext uri="{FF2B5EF4-FFF2-40B4-BE49-F238E27FC236}">
                <a16:creationId xmlns:a16="http://schemas.microsoft.com/office/drawing/2014/main" id="{A767975F-CA6C-F157-ACAE-CC738DCE6F70}"/>
              </a:ext>
            </a:extLst>
          </p:cNvPr>
          <p:cNvSpPr txBox="1"/>
          <p:nvPr/>
        </p:nvSpPr>
        <p:spPr>
          <a:xfrm>
            <a:off x="8128000" y="2413000"/>
            <a:ext cx="3479800" cy="952500"/>
          </a:xfrm>
          <a:prstGeom prst="rect">
            <a:avLst/>
          </a:prstGeom>
          <a:noFill/>
        </p:spPr>
        <p:txBody>
          <a:bodyPr wrap="square" lIns="0" tIns="0" rIns="0" bIns="0" anchor="t">
            <a:spAutoFit/>
          </a:bodyPr>
          <a:lstStyle/>
          <a:p>
            <a:pPr algn="l">
              <a:lnSpc>
                <a:spcPct val="135000"/>
              </a:lnSpc>
            </a:pPr>
            <a:r>
              <a:rPr sz="1200" b="0">
                <a:solidFill>
                  <a:srgbClr val="3F3350"/>
                </a:solidFill>
                <a:latin typeface="Arial"/>
              </a:rPr>
              <a:t>case studies finished inside the target from a standing start</a:t>
            </a:r>
          </a:p>
        </p:txBody>
      </p:sp>
      <p:pic>
        <p:nvPicPr>
          <p:cNvPr id="15" name="Picture 14" descr="fig4_2_segment_schematic.png">
            <a:extLst>
              <a:ext uri="{FF2B5EF4-FFF2-40B4-BE49-F238E27FC236}">
                <a16:creationId xmlns:a16="http://schemas.microsoft.com/office/drawing/2014/main" id="{5EE312A4-6CA5-9085-5DF1-8B3EAFA714EC}"/>
              </a:ext>
            </a:extLst>
          </p:cNvPr>
          <p:cNvPicPr>
            <a:picLocks noChangeAspect="1"/>
          </p:cNvPicPr>
          <p:nvPr/>
        </p:nvPicPr>
        <p:blipFill>
          <a:blip r:embed="rId3"/>
          <a:stretch>
            <a:fillRect/>
          </a:stretch>
        </p:blipFill>
        <p:spPr>
          <a:xfrm>
            <a:off x="609600" y="3556000"/>
            <a:ext cx="4953000" cy="2197994"/>
          </a:xfrm>
          <a:prstGeom prst="rect">
            <a:avLst/>
          </a:prstGeom>
        </p:spPr>
      </p:pic>
      <p:sp>
        <p:nvSpPr>
          <p:cNvPr id="16" name="TextBox 15">
            <a:extLst>
              <a:ext uri="{FF2B5EF4-FFF2-40B4-BE49-F238E27FC236}">
                <a16:creationId xmlns:a16="http://schemas.microsoft.com/office/drawing/2014/main" id="{A7931B59-9997-7827-1E16-887D68A6A514}"/>
              </a:ext>
            </a:extLst>
          </p:cNvPr>
          <p:cNvSpPr txBox="1"/>
          <p:nvPr/>
        </p:nvSpPr>
        <p:spPr>
          <a:xfrm>
            <a:off x="609600" y="6007100"/>
            <a:ext cx="4953000" cy="190500"/>
          </a:xfrm>
          <a:prstGeom prst="rect">
            <a:avLst/>
          </a:prstGeom>
          <a:noFill/>
        </p:spPr>
        <p:txBody>
          <a:bodyPr wrap="square" lIns="0" tIns="0" rIns="0" bIns="0" anchor="t">
            <a:spAutoFit/>
          </a:bodyPr>
          <a:lstStyle/>
          <a:p>
            <a:pPr algn="l">
              <a:lnSpc>
                <a:spcPct val="135000"/>
              </a:lnSpc>
            </a:pPr>
            <a:r>
              <a:rPr sz="1100" b="0">
                <a:solidFill>
                  <a:srgbClr val="9D8FB0"/>
                </a:solidFill>
                <a:latin typeface="Arial"/>
              </a:rPr>
              <a:t>Figure 4.2 — where the 60 days are spent</a:t>
            </a:r>
          </a:p>
        </p:txBody>
      </p:sp>
      <p:sp>
        <p:nvSpPr>
          <p:cNvPr id="17" name="TextBox 16">
            <a:extLst>
              <a:ext uri="{FF2B5EF4-FFF2-40B4-BE49-F238E27FC236}">
                <a16:creationId xmlns:a16="http://schemas.microsoft.com/office/drawing/2014/main" id="{5FDF5203-8E25-5952-5F9D-B7653E85B796}"/>
              </a:ext>
            </a:extLst>
          </p:cNvPr>
          <p:cNvSpPr txBox="1"/>
          <p:nvPr/>
        </p:nvSpPr>
        <p:spPr>
          <a:xfrm>
            <a:off x="5918200" y="3746500"/>
            <a:ext cx="5664200" cy="762000"/>
          </a:xfrm>
          <a:prstGeom prst="rect">
            <a:avLst/>
          </a:prstGeom>
          <a:noFill/>
        </p:spPr>
        <p:txBody>
          <a:bodyPr wrap="square" lIns="0" tIns="0" rIns="0" bIns="0" anchor="t">
            <a:spAutoFit/>
          </a:bodyPr>
          <a:lstStyle/>
          <a:p>
            <a:pPr algn="l">
              <a:lnSpc>
                <a:spcPct val="140000"/>
              </a:lnSpc>
            </a:pPr>
            <a:r>
              <a:rPr sz="1350" b="0">
                <a:solidFill>
                  <a:srgbClr val="1F0E33"/>
                </a:solidFill>
                <a:latin typeface="Arial"/>
              </a:rPr>
              <a:t>The four trials that met the target had all entered the pharmacy queue </a:t>
            </a:r>
            <a:r>
              <a:rPr sz="1350" b="1">
                <a:solidFill>
                  <a:srgbClr val="50017D"/>
                </a:solidFill>
                <a:latin typeface="Arial"/>
              </a:rPr>
              <a:t>before the clock opened</a:t>
            </a:r>
            <a:r>
              <a:rPr sz="1350" b="0">
                <a:solidFill>
                  <a:srgbClr val="1F0E33"/>
                </a:solidFill>
                <a:latin typeface="Arial"/>
              </a:rPr>
              <a:t>. The window did not stretch; the work began earlier.</a:t>
            </a:r>
          </a:p>
        </p:txBody>
      </p:sp>
      <p:sp>
        <p:nvSpPr>
          <p:cNvPr id="18" name="Rectangle 17">
            <a:extLst>
              <a:ext uri="{FF2B5EF4-FFF2-40B4-BE49-F238E27FC236}">
                <a16:creationId xmlns:a16="http://schemas.microsoft.com/office/drawing/2014/main" id="{61C4F128-E8D7-0B7F-56AC-ED3D2DF69D12}"/>
              </a:ext>
            </a:extLst>
          </p:cNvPr>
          <p:cNvSpPr/>
          <p:nvPr/>
        </p:nvSpPr>
        <p:spPr>
          <a:xfrm>
            <a:off x="5918200" y="4787900"/>
            <a:ext cx="5664200" cy="889000"/>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a:extLst>
              <a:ext uri="{FF2B5EF4-FFF2-40B4-BE49-F238E27FC236}">
                <a16:creationId xmlns:a16="http://schemas.microsoft.com/office/drawing/2014/main" id="{45567704-6678-4385-D7DF-A657BB0A352E}"/>
              </a:ext>
            </a:extLst>
          </p:cNvPr>
          <p:cNvSpPr txBox="1"/>
          <p:nvPr/>
        </p:nvSpPr>
        <p:spPr>
          <a:xfrm>
            <a:off x="6096000" y="4863026"/>
            <a:ext cx="5308600" cy="635000"/>
          </a:xfrm>
          <a:prstGeom prst="rect">
            <a:avLst/>
          </a:prstGeom>
          <a:noFill/>
        </p:spPr>
        <p:txBody>
          <a:bodyPr wrap="square" lIns="0" tIns="0" rIns="0" bIns="0" anchor="t">
            <a:spAutoFit/>
          </a:bodyPr>
          <a:lstStyle/>
          <a:p>
            <a:pPr algn="l">
              <a:lnSpc>
                <a:spcPct val="140000"/>
              </a:lnSpc>
            </a:pPr>
            <a:r>
              <a:rPr sz="1250" b="0" dirty="0">
                <a:solidFill>
                  <a:srgbClr val="3F3350"/>
                </a:solidFill>
                <a:latin typeface="Arial"/>
              </a:rPr>
              <a:t>The binding constraint is the usable time remaining when the study reaches pharmacy — and that is decided before any capacity decision is made.</a:t>
            </a:r>
          </a:p>
        </p:txBody>
      </p:sp>
    </p:spTree>
    <p:extLst>
      <p:ext uri="{BB962C8B-B14F-4D97-AF65-F5344CB8AC3E}">
        <p14:creationId xmlns:p14="http://schemas.microsoft.com/office/powerpoint/2010/main" val="2608166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4_2_segment_schematic.png">
            <a:extLst>
              <a:ext uri="{FF2B5EF4-FFF2-40B4-BE49-F238E27FC236}">
                <a16:creationId xmlns:a16="http://schemas.microsoft.com/office/drawing/2014/main" id="{B947960D-E6C0-D7FD-EE81-C22BE97E1F2A}"/>
              </a:ext>
            </a:extLst>
          </p:cNvPr>
          <p:cNvPicPr>
            <a:picLocks noChangeAspect="1"/>
          </p:cNvPicPr>
          <p:nvPr/>
        </p:nvPicPr>
        <p:blipFill>
          <a:blip r:embed="rId2"/>
          <a:stretch>
            <a:fillRect/>
          </a:stretch>
        </p:blipFill>
        <p:spPr>
          <a:xfrm>
            <a:off x="427496" y="913487"/>
            <a:ext cx="11337008" cy="5031026"/>
          </a:xfrm>
          <a:prstGeom prst="rect">
            <a:avLst/>
          </a:prstGeom>
        </p:spPr>
      </p:pic>
    </p:spTree>
    <p:extLst>
      <p:ext uri="{BB962C8B-B14F-4D97-AF65-F5344CB8AC3E}">
        <p14:creationId xmlns:p14="http://schemas.microsoft.com/office/powerpoint/2010/main" val="3985624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B0CA4-61CC-8C8E-1E62-1FAD9E3E18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87634D-E283-4510-2DB4-3C72F0B59814}"/>
              </a:ext>
            </a:extLst>
          </p:cNvPr>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ACT 1 · THE PROBLEM</a:t>
            </a:r>
          </a:p>
        </p:txBody>
      </p:sp>
      <p:sp>
        <p:nvSpPr>
          <p:cNvPr id="3" name="TextBox 2">
            <a:extLst>
              <a:ext uri="{FF2B5EF4-FFF2-40B4-BE49-F238E27FC236}">
                <a16:creationId xmlns:a16="http://schemas.microsoft.com/office/drawing/2014/main" id="{E00ABB6C-A8F2-E83A-F980-7143E752AC20}"/>
              </a:ext>
            </a:extLst>
          </p:cNvPr>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02</a:t>
            </a:r>
          </a:p>
        </p:txBody>
      </p:sp>
      <p:sp>
        <p:nvSpPr>
          <p:cNvPr id="4" name="Rectangle 3">
            <a:extLst>
              <a:ext uri="{FF2B5EF4-FFF2-40B4-BE49-F238E27FC236}">
                <a16:creationId xmlns:a16="http://schemas.microsoft.com/office/drawing/2014/main" id="{95B213DC-196E-3E8F-D3E5-290FCE139E6D}"/>
              </a:ext>
            </a:extLst>
          </p:cNvPr>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a:extLst>
              <a:ext uri="{FF2B5EF4-FFF2-40B4-BE49-F238E27FC236}">
                <a16:creationId xmlns:a16="http://schemas.microsoft.com/office/drawing/2014/main" id="{FF2E9BAE-5F97-EC71-5092-4D6F81F94228}"/>
              </a:ext>
            </a:extLst>
          </p:cNvPr>
          <p:cNvSpPr txBox="1"/>
          <p:nvPr/>
        </p:nvSpPr>
        <p:spPr>
          <a:xfrm>
            <a:off x="609600" y="825500"/>
            <a:ext cx="11049000" cy="1270000"/>
          </a:xfrm>
          <a:prstGeom prst="rect">
            <a:avLst/>
          </a:prstGeom>
          <a:noFill/>
        </p:spPr>
        <p:txBody>
          <a:bodyPr wrap="square" lIns="0" tIns="0" rIns="0" bIns="0" anchor="t">
            <a:spAutoFit/>
          </a:bodyPr>
          <a:lstStyle/>
          <a:p>
            <a:pPr algn="l">
              <a:lnSpc>
                <a:spcPct val="116000"/>
              </a:lnSpc>
            </a:pPr>
            <a:r>
              <a:rPr sz="2400" b="1">
                <a:solidFill>
                  <a:srgbClr val="1F0E33"/>
                </a:solidFill>
                <a:latin typeface="Arial"/>
              </a:rPr>
              <a:t>The clock opens before pharmacy is notified, and that gap consumes the target</a:t>
            </a:r>
          </a:p>
        </p:txBody>
      </p:sp>
      <p:sp>
        <p:nvSpPr>
          <p:cNvPr id="6" name="Rectangle 5">
            <a:extLst>
              <a:ext uri="{FF2B5EF4-FFF2-40B4-BE49-F238E27FC236}">
                <a16:creationId xmlns:a16="http://schemas.microsoft.com/office/drawing/2014/main" id="{F78EB5A9-3098-E416-FD34-BE8418854942}"/>
              </a:ext>
            </a:extLst>
          </p:cNvPr>
          <p:cNvSpPr/>
          <p:nvPr/>
        </p:nvSpPr>
        <p:spPr>
          <a:xfrm>
            <a:off x="609600" y="1701800"/>
            <a:ext cx="347980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a:extLst>
              <a:ext uri="{FF2B5EF4-FFF2-40B4-BE49-F238E27FC236}">
                <a16:creationId xmlns:a16="http://schemas.microsoft.com/office/drawing/2014/main" id="{275C748A-E056-A658-844C-FC5615B9C74B}"/>
              </a:ext>
            </a:extLst>
          </p:cNvPr>
          <p:cNvSpPr txBox="1"/>
          <p:nvPr/>
        </p:nvSpPr>
        <p:spPr>
          <a:xfrm>
            <a:off x="609600" y="1816100"/>
            <a:ext cx="3479800" cy="571500"/>
          </a:xfrm>
          <a:prstGeom prst="rect">
            <a:avLst/>
          </a:prstGeom>
          <a:noFill/>
        </p:spPr>
        <p:txBody>
          <a:bodyPr wrap="square" lIns="0" tIns="0" rIns="0" bIns="0" anchor="t">
            <a:spAutoFit/>
          </a:bodyPr>
          <a:lstStyle/>
          <a:p>
            <a:pPr algn="l">
              <a:lnSpc>
                <a:spcPct val="100000"/>
              </a:lnSpc>
            </a:pPr>
            <a:r>
              <a:rPr sz="3600" b="1">
                <a:solidFill>
                  <a:srgbClr val="50017D"/>
                </a:solidFill>
                <a:latin typeface="Arial"/>
              </a:rPr>
              <a:t>60</a:t>
            </a:r>
          </a:p>
        </p:txBody>
      </p:sp>
      <p:sp>
        <p:nvSpPr>
          <p:cNvPr id="8" name="TextBox 7">
            <a:extLst>
              <a:ext uri="{FF2B5EF4-FFF2-40B4-BE49-F238E27FC236}">
                <a16:creationId xmlns:a16="http://schemas.microsoft.com/office/drawing/2014/main" id="{E55EB808-0E10-561B-102A-D7D20B6BE246}"/>
              </a:ext>
            </a:extLst>
          </p:cNvPr>
          <p:cNvSpPr txBox="1"/>
          <p:nvPr/>
        </p:nvSpPr>
        <p:spPr>
          <a:xfrm>
            <a:off x="609600" y="2413000"/>
            <a:ext cx="3479800" cy="952500"/>
          </a:xfrm>
          <a:prstGeom prst="rect">
            <a:avLst/>
          </a:prstGeom>
          <a:noFill/>
        </p:spPr>
        <p:txBody>
          <a:bodyPr wrap="square" lIns="0" tIns="0" rIns="0" bIns="0" anchor="t">
            <a:spAutoFit/>
          </a:bodyPr>
          <a:lstStyle/>
          <a:p>
            <a:pPr algn="l">
              <a:lnSpc>
                <a:spcPct val="135000"/>
              </a:lnSpc>
            </a:pPr>
            <a:r>
              <a:rPr sz="1200" b="0">
                <a:solidFill>
                  <a:srgbClr val="3F3350"/>
                </a:solidFill>
                <a:latin typeface="Arial"/>
              </a:rPr>
              <a:t>days in the target window, from the later of HRA approval and site selection</a:t>
            </a:r>
          </a:p>
        </p:txBody>
      </p:sp>
      <p:sp>
        <p:nvSpPr>
          <p:cNvPr id="9" name="Rectangle 8">
            <a:extLst>
              <a:ext uri="{FF2B5EF4-FFF2-40B4-BE49-F238E27FC236}">
                <a16:creationId xmlns:a16="http://schemas.microsoft.com/office/drawing/2014/main" id="{47E8E375-87BD-5112-8FEE-0AB8750B002F}"/>
              </a:ext>
            </a:extLst>
          </p:cNvPr>
          <p:cNvSpPr/>
          <p:nvPr/>
        </p:nvSpPr>
        <p:spPr>
          <a:xfrm>
            <a:off x="4368800" y="1701800"/>
            <a:ext cx="347980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a:extLst>
              <a:ext uri="{FF2B5EF4-FFF2-40B4-BE49-F238E27FC236}">
                <a16:creationId xmlns:a16="http://schemas.microsoft.com/office/drawing/2014/main" id="{823642FB-CBB9-390D-987E-D55A5C2E0CC0}"/>
              </a:ext>
            </a:extLst>
          </p:cNvPr>
          <p:cNvSpPr txBox="1"/>
          <p:nvPr/>
        </p:nvSpPr>
        <p:spPr>
          <a:xfrm>
            <a:off x="4368800" y="1816100"/>
            <a:ext cx="3479800" cy="571500"/>
          </a:xfrm>
          <a:prstGeom prst="rect">
            <a:avLst/>
          </a:prstGeom>
          <a:noFill/>
        </p:spPr>
        <p:txBody>
          <a:bodyPr wrap="square" lIns="0" tIns="0" rIns="0" bIns="0" anchor="t">
            <a:spAutoFit/>
          </a:bodyPr>
          <a:lstStyle/>
          <a:p>
            <a:pPr algn="l">
              <a:lnSpc>
                <a:spcPct val="100000"/>
              </a:lnSpc>
            </a:pPr>
            <a:r>
              <a:rPr sz="3600" b="1">
                <a:solidFill>
                  <a:srgbClr val="50017D"/>
                </a:solidFill>
                <a:latin typeface="Arial"/>
              </a:rPr>
              <a:t>79</a:t>
            </a:r>
          </a:p>
        </p:txBody>
      </p:sp>
      <p:sp>
        <p:nvSpPr>
          <p:cNvPr id="11" name="TextBox 10">
            <a:extLst>
              <a:ext uri="{FF2B5EF4-FFF2-40B4-BE49-F238E27FC236}">
                <a16:creationId xmlns:a16="http://schemas.microsoft.com/office/drawing/2014/main" id="{B32A21D6-7390-D2F3-CA05-24B855C182CE}"/>
              </a:ext>
            </a:extLst>
          </p:cNvPr>
          <p:cNvSpPr txBox="1"/>
          <p:nvPr/>
        </p:nvSpPr>
        <p:spPr>
          <a:xfrm>
            <a:off x="4368800" y="2413000"/>
            <a:ext cx="3479800" cy="952500"/>
          </a:xfrm>
          <a:prstGeom prst="rect">
            <a:avLst/>
          </a:prstGeom>
          <a:noFill/>
        </p:spPr>
        <p:txBody>
          <a:bodyPr wrap="square" lIns="0" tIns="0" rIns="0" bIns="0" anchor="t">
            <a:spAutoFit/>
          </a:bodyPr>
          <a:lstStyle/>
          <a:p>
            <a:pPr algn="l">
              <a:lnSpc>
                <a:spcPct val="135000"/>
              </a:lnSpc>
            </a:pPr>
            <a:r>
              <a:rPr sz="1200" b="0">
                <a:solidFill>
                  <a:srgbClr val="3F3350"/>
                </a:solidFill>
                <a:latin typeface="Arial"/>
              </a:rPr>
              <a:t>days is the median pharmacy work interval — longer than the whole target before any hand-over is counted</a:t>
            </a:r>
          </a:p>
        </p:txBody>
      </p:sp>
      <p:sp>
        <p:nvSpPr>
          <p:cNvPr id="12" name="Rectangle 11">
            <a:extLst>
              <a:ext uri="{FF2B5EF4-FFF2-40B4-BE49-F238E27FC236}">
                <a16:creationId xmlns:a16="http://schemas.microsoft.com/office/drawing/2014/main" id="{49371FE4-9D0E-EE6C-4360-8C74A8280681}"/>
              </a:ext>
            </a:extLst>
          </p:cNvPr>
          <p:cNvSpPr/>
          <p:nvPr/>
        </p:nvSpPr>
        <p:spPr>
          <a:xfrm>
            <a:off x="8128000" y="1701800"/>
            <a:ext cx="347980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a:extLst>
              <a:ext uri="{FF2B5EF4-FFF2-40B4-BE49-F238E27FC236}">
                <a16:creationId xmlns:a16="http://schemas.microsoft.com/office/drawing/2014/main" id="{B1C8DCC6-2133-0AA6-477C-30D92A818CFC}"/>
              </a:ext>
            </a:extLst>
          </p:cNvPr>
          <p:cNvSpPr txBox="1"/>
          <p:nvPr/>
        </p:nvSpPr>
        <p:spPr>
          <a:xfrm>
            <a:off x="8128000" y="1816100"/>
            <a:ext cx="3479800" cy="571500"/>
          </a:xfrm>
          <a:prstGeom prst="rect">
            <a:avLst/>
          </a:prstGeom>
          <a:noFill/>
        </p:spPr>
        <p:txBody>
          <a:bodyPr wrap="square" lIns="0" tIns="0" rIns="0" bIns="0" anchor="t">
            <a:spAutoFit/>
          </a:bodyPr>
          <a:lstStyle/>
          <a:p>
            <a:pPr algn="l">
              <a:lnSpc>
                <a:spcPct val="100000"/>
              </a:lnSpc>
            </a:pPr>
            <a:r>
              <a:rPr sz="3600" b="1">
                <a:solidFill>
                  <a:srgbClr val="50017D"/>
                </a:solidFill>
                <a:latin typeface="Arial"/>
              </a:rPr>
              <a:t>0</a:t>
            </a:r>
          </a:p>
        </p:txBody>
      </p:sp>
      <p:sp>
        <p:nvSpPr>
          <p:cNvPr id="14" name="TextBox 13">
            <a:extLst>
              <a:ext uri="{FF2B5EF4-FFF2-40B4-BE49-F238E27FC236}">
                <a16:creationId xmlns:a16="http://schemas.microsoft.com/office/drawing/2014/main" id="{F7BA022A-97DA-D52A-DADF-0B1220820263}"/>
              </a:ext>
            </a:extLst>
          </p:cNvPr>
          <p:cNvSpPr txBox="1"/>
          <p:nvPr/>
        </p:nvSpPr>
        <p:spPr>
          <a:xfrm>
            <a:off x="8128000" y="2413000"/>
            <a:ext cx="3479800" cy="952500"/>
          </a:xfrm>
          <a:prstGeom prst="rect">
            <a:avLst/>
          </a:prstGeom>
          <a:noFill/>
        </p:spPr>
        <p:txBody>
          <a:bodyPr wrap="square" lIns="0" tIns="0" rIns="0" bIns="0" anchor="t">
            <a:spAutoFit/>
          </a:bodyPr>
          <a:lstStyle/>
          <a:p>
            <a:pPr algn="l">
              <a:lnSpc>
                <a:spcPct val="135000"/>
              </a:lnSpc>
            </a:pPr>
            <a:r>
              <a:rPr sz="1200" b="0">
                <a:solidFill>
                  <a:srgbClr val="3F3350"/>
                </a:solidFill>
                <a:latin typeface="Arial"/>
              </a:rPr>
              <a:t>case studies finished inside the target from a standing start</a:t>
            </a:r>
          </a:p>
        </p:txBody>
      </p:sp>
      <p:pic>
        <p:nvPicPr>
          <p:cNvPr id="15" name="Picture 14" descr="fig4_2_segment_schematic.png">
            <a:extLst>
              <a:ext uri="{FF2B5EF4-FFF2-40B4-BE49-F238E27FC236}">
                <a16:creationId xmlns:a16="http://schemas.microsoft.com/office/drawing/2014/main" id="{B6A9715B-F8AB-7EDD-B5D4-03064D8BAE3C}"/>
              </a:ext>
            </a:extLst>
          </p:cNvPr>
          <p:cNvPicPr>
            <a:picLocks noChangeAspect="1"/>
          </p:cNvPicPr>
          <p:nvPr/>
        </p:nvPicPr>
        <p:blipFill>
          <a:blip r:embed="rId3"/>
          <a:stretch>
            <a:fillRect/>
          </a:stretch>
        </p:blipFill>
        <p:spPr>
          <a:xfrm>
            <a:off x="609600" y="3556000"/>
            <a:ext cx="4953000" cy="2197994"/>
          </a:xfrm>
          <a:prstGeom prst="rect">
            <a:avLst/>
          </a:prstGeom>
        </p:spPr>
      </p:pic>
      <p:sp>
        <p:nvSpPr>
          <p:cNvPr id="16" name="TextBox 15">
            <a:extLst>
              <a:ext uri="{FF2B5EF4-FFF2-40B4-BE49-F238E27FC236}">
                <a16:creationId xmlns:a16="http://schemas.microsoft.com/office/drawing/2014/main" id="{6175397F-F244-4E70-DF46-D0EB985EFB06}"/>
              </a:ext>
            </a:extLst>
          </p:cNvPr>
          <p:cNvSpPr txBox="1"/>
          <p:nvPr/>
        </p:nvSpPr>
        <p:spPr>
          <a:xfrm>
            <a:off x="609600" y="6007100"/>
            <a:ext cx="4953000" cy="190500"/>
          </a:xfrm>
          <a:prstGeom prst="rect">
            <a:avLst/>
          </a:prstGeom>
          <a:noFill/>
        </p:spPr>
        <p:txBody>
          <a:bodyPr wrap="square" lIns="0" tIns="0" rIns="0" bIns="0" anchor="t">
            <a:spAutoFit/>
          </a:bodyPr>
          <a:lstStyle/>
          <a:p>
            <a:pPr algn="l">
              <a:lnSpc>
                <a:spcPct val="135000"/>
              </a:lnSpc>
            </a:pPr>
            <a:r>
              <a:rPr sz="1100" b="0">
                <a:solidFill>
                  <a:srgbClr val="9D8FB0"/>
                </a:solidFill>
                <a:latin typeface="Arial"/>
              </a:rPr>
              <a:t>Figure 4.2 — where the 60 days are spent</a:t>
            </a:r>
          </a:p>
        </p:txBody>
      </p:sp>
      <p:sp>
        <p:nvSpPr>
          <p:cNvPr id="17" name="TextBox 16">
            <a:extLst>
              <a:ext uri="{FF2B5EF4-FFF2-40B4-BE49-F238E27FC236}">
                <a16:creationId xmlns:a16="http://schemas.microsoft.com/office/drawing/2014/main" id="{46BA233E-2EEF-A069-1187-292B9A3F4C7C}"/>
              </a:ext>
            </a:extLst>
          </p:cNvPr>
          <p:cNvSpPr txBox="1"/>
          <p:nvPr/>
        </p:nvSpPr>
        <p:spPr>
          <a:xfrm>
            <a:off x="5918200" y="3746500"/>
            <a:ext cx="5664200" cy="762000"/>
          </a:xfrm>
          <a:prstGeom prst="rect">
            <a:avLst/>
          </a:prstGeom>
          <a:noFill/>
        </p:spPr>
        <p:txBody>
          <a:bodyPr wrap="square" lIns="0" tIns="0" rIns="0" bIns="0" anchor="t">
            <a:spAutoFit/>
          </a:bodyPr>
          <a:lstStyle/>
          <a:p>
            <a:pPr algn="l">
              <a:lnSpc>
                <a:spcPct val="140000"/>
              </a:lnSpc>
            </a:pPr>
            <a:r>
              <a:rPr sz="1350" b="0">
                <a:solidFill>
                  <a:srgbClr val="1F0E33"/>
                </a:solidFill>
                <a:latin typeface="Arial"/>
              </a:rPr>
              <a:t>The four trials that met the target had all entered the pharmacy queue </a:t>
            </a:r>
            <a:r>
              <a:rPr sz="1350" b="1">
                <a:solidFill>
                  <a:srgbClr val="50017D"/>
                </a:solidFill>
                <a:latin typeface="Arial"/>
              </a:rPr>
              <a:t>before the clock opened</a:t>
            </a:r>
            <a:r>
              <a:rPr sz="1350" b="0">
                <a:solidFill>
                  <a:srgbClr val="1F0E33"/>
                </a:solidFill>
                <a:latin typeface="Arial"/>
              </a:rPr>
              <a:t>. The window did not stretch; the work began earlier.</a:t>
            </a:r>
          </a:p>
        </p:txBody>
      </p:sp>
      <p:sp>
        <p:nvSpPr>
          <p:cNvPr id="18" name="Rectangle 17">
            <a:extLst>
              <a:ext uri="{FF2B5EF4-FFF2-40B4-BE49-F238E27FC236}">
                <a16:creationId xmlns:a16="http://schemas.microsoft.com/office/drawing/2014/main" id="{ABBF9937-E596-3361-4B43-82D694C6052C}"/>
              </a:ext>
            </a:extLst>
          </p:cNvPr>
          <p:cNvSpPr/>
          <p:nvPr/>
        </p:nvSpPr>
        <p:spPr>
          <a:xfrm>
            <a:off x="5918200" y="4787900"/>
            <a:ext cx="5664200" cy="889000"/>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a:extLst>
              <a:ext uri="{FF2B5EF4-FFF2-40B4-BE49-F238E27FC236}">
                <a16:creationId xmlns:a16="http://schemas.microsoft.com/office/drawing/2014/main" id="{769C0CD1-F9E8-9301-17ED-7F8E2EF146B6}"/>
              </a:ext>
            </a:extLst>
          </p:cNvPr>
          <p:cNvSpPr txBox="1"/>
          <p:nvPr/>
        </p:nvSpPr>
        <p:spPr>
          <a:xfrm>
            <a:off x="6096000" y="4863026"/>
            <a:ext cx="5308600" cy="635000"/>
          </a:xfrm>
          <a:prstGeom prst="rect">
            <a:avLst/>
          </a:prstGeom>
          <a:noFill/>
        </p:spPr>
        <p:txBody>
          <a:bodyPr wrap="square" lIns="0" tIns="0" rIns="0" bIns="0" anchor="t">
            <a:spAutoFit/>
          </a:bodyPr>
          <a:lstStyle/>
          <a:p>
            <a:pPr algn="l">
              <a:lnSpc>
                <a:spcPct val="140000"/>
              </a:lnSpc>
            </a:pPr>
            <a:r>
              <a:rPr sz="1250" b="0" dirty="0">
                <a:solidFill>
                  <a:srgbClr val="3F3350"/>
                </a:solidFill>
                <a:latin typeface="Arial"/>
              </a:rPr>
              <a:t>The binding constraint is the usable time remaining when the study reaches pharmacy — and that is decided before any capacity decision is made.</a:t>
            </a:r>
          </a:p>
        </p:txBody>
      </p:sp>
    </p:spTree>
    <p:extLst>
      <p:ext uri="{BB962C8B-B14F-4D97-AF65-F5344CB8AC3E}">
        <p14:creationId xmlns:p14="http://schemas.microsoft.com/office/powerpoint/2010/main" val="4094830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ACT 2 · HOW IT WAS TESTED</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03</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825500"/>
            <a:ext cx="11049000" cy="1270000"/>
          </a:xfrm>
          <a:prstGeom prst="rect">
            <a:avLst/>
          </a:prstGeom>
          <a:noFill/>
        </p:spPr>
        <p:txBody>
          <a:bodyPr wrap="square" lIns="0" tIns="0" rIns="0" bIns="0" anchor="t">
            <a:spAutoFit/>
          </a:bodyPr>
          <a:lstStyle/>
          <a:p>
            <a:pPr algn="l">
              <a:lnSpc>
                <a:spcPct val="116000"/>
              </a:lnSpc>
            </a:pPr>
            <a:r>
              <a:rPr sz="2400" b="1">
                <a:solidFill>
                  <a:srgbClr val="1F0E33"/>
                </a:solidFill>
                <a:latin typeface="Arial"/>
              </a:rPr>
              <a:t>Three sources from the trust, and what each can and cannot supply</a:t>
            </a:r>
          </a:p>
        </p:txBody>
      </p:sp>
      <p:graphicFrame>
        <p:nvGraphicFramePr>
          <p:cNvPr id="6" name="Table 5"/>
          <p:cNvGraphicFramePr>
            <a:graphicFrameLocks noGrp="1"/>
          </p:cNvGraphicFramePr>
          <p:nvPr/>
        </p:nvGraphicFramePr>
        <p:xfrm>
          <a:off x="609600" y="1714500"/>
          <a:ext cx="10972800" cy="2659254"/>
        </p:xfrm>
        <a:graphic>
          <a:graphicData uri="http://schemas.openxmlformats.org/drawingml/2006/table">
            <a:tbl>
              <a:tblPr>
                <a:tableStyleId>{5C22544A-7EE6-4342-B048-85BDC9FD1C3A}</a:tableStyleId>
              </a:tblPr>
              <a:tblGrid>
                <a:gridCol w="2635250">
                  <a:extLst>
                    <a:ext uri="{9D8B030D-6E8A-4147-A177-3AD203B41FA5}">
                      <a16:colId xmlns:a16="http://schemas.microsoft.com/office/drawing/2014/main" val="20000"/>
                    </a:ext>
                  </a:extLst>
                </a:gridCol>
                <a:gridCol w="3949700">
                  <a:extLst>
                    <a:ext uri="{9D8B030D-6E8A-4147-A177-3AD203B41FA5}">
                      <a16:colId xmlns:a16="http://schemas.microsoft.com/office/drawing/2014/main" val="20001"/>
                    </a:ext>
                  </a:extLst>
                </a:gridCol>
                <a:gridCol w="4387850">
                  <a:extLst>
                    <a:ext uri="{9D8B030D-6E8A-4147-A177-3AD203B41FA5}">
                      <a16:colId xmlns:a16="http://schemas.microsoft.com/office/drawing/2014/main" val="20002"/>
                    </a:ext>
                  </a:extLst>
                </a:gridCol>
              </a:tblGrid>
              <a:tr h="0">
                <a:tc>
                  <a:txBody>
                    <a:bodyPr/>
                    <a:lstStyle/>
                    <a:p>
                      <a:pPr>
                        <a:lnSpc>
                          <a:spcPct val="128000"/>
                        </a:lnSpc>
                      </a:pPr>
                      <a:r>
                        <a:rPr sz="1150" b="1" spc="60">
                          <a:solidFill>
                            <a:srgbClr val="50017D"/>
                          </a:solidFill>
                          <a:latin typeface="Arial"/>
                        </a:rPr>
                        <a:t>SOURCE</a:t>
                      </a:r>
                    </a:p>
                  </a:txBody>
                  <a:tcPr marL="0" marR="88900" marT="69850" marB="69850" anchor="b">
                    <a:lnB w="12700" cap="flat" cmpd="sng" algn="ctr">
                      <a:solidFill>
                        <a:srgbClr val="50017D"/>
                      </a:solidFill>
                    </a:lnB>
                    <a:noFill/>
                  </a:tcPr>
                </a:tc>
                <a:tc>
                  <a:txBody>
                    <a:bodyPr/>
                    <a:lstStyle/>
                    <a:p>
                      <a:pPr>
                        <a:lnSpc>
                          <a:spcPct val="128000"/>
                        </a:lnSpc>
                      </a:pPr>
                      <a:r>
                        <a:rPr sz="1150" b="1" spc="60">
                          <a:solidFill>
                            <a:srgbClr val="50017D"/>
                          </a:solidFill>
                          <a:latin typeface="Arial"/>
                        </a:rPr>
                        <a:t>WHAT IT SUPPLIES</a:t>
                      </a:r>
                    </a:p>
                  </a:txBody>
                  <a:tcPr marL="44450" marR="88900" marT="69850" marB="69850" anchor="b">
                    <a:lnB w="12700" cap="flat" cmpd="sng" algn="ctr">
                      <a:solidFill>
                        <a:srgbClr val="50017D"/>
                      </a:solidFill>
                    </a:lnB>
                    <a:noFill/>
                  </a:tcPr>
                </a:tc>
                <a:tc>
                  <a:txBody>
                    <a:bodyPr/>
                    <a:lstStyle/>
                    <a:p>
                      <a:pPr>
                        <a:lnSpc>
                          <a:spcPct val="128000"/>
                        </a:lnSpc>
                      </a:pPr>
                      <a:r>
                        <a:rPr sz="1150" b="1" spc="60">
                          <a:solidFill>
                            <a:srgbClr val="50017D"/>
                          </a:solidFill>
                          <a:latin typeface="Arial"/>
                        </a:rPr>
                        <a:t>ROLE AND LIMITATION</a:t>
                      </a:r>
                    </a:p>
                  </a:txBody>
                  <a:tcPr marL="44450" marR="88900" marT="69850" marB="69850" anchor="b">
                    <a:lnB w="12700" cap="flat" cmpd="sng" algn="ctr">
                      <a:solidFill>
                        <a:srgbClr val="50017D"/>
                      </a:solidFill>
                    </a:lnB>
                    <a:noFill/>
                  </a:tcPr>
                </a:tc>
                <a:extLst>
                  <a:ext uri="{0D108BD9-81ED-4DB2-BD59-A6C34878D82A}">
                    <a16:rowId xmlns:a16="http://schemas.microsoft.com/office/drawing/2014/main" val="10000"/>
                  </a:ext>
                </a:extLst>
              </a:tr>
              <a:tr h="0">
                <a:tc>
                  <a:txBody>
                    <a:bodyPr/>
                    <a:lstStyle/>
                    <a:p>
                      <a:pPr>
                        <a:lnSpc>
                          <a:spcPct val="128000"/>
                        </a:lnSpc>
                      </a:pPr>
                      <a:r>
                        <a:rPr sz="1250" b="1">
                          <a:solidFill>
                            <a:srgbClr val="1F0E33"/>
                          </a:solidFill>
                          <a:latin typeface="Arial"/>
                        </a:rPr>
                        <a:t>CTIMP 150-day tracker</a:t>
                      </a:r>
                    </a:p>
                  </a:txBody>
                  <a:tcPr marL="0" marR="88900" marT="114300" marB="114300">
                    <a:lnT w="12700" cap="flat" cmpd="sng" algn="ctr">
                      <a:solidFill>
                        <a:srgbClr val="50017D"/>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250" b="0">
                          <a:solidFill>
                            <a:srgbClr val="1F0E33"/>
                          </a:solidFill>
                          <a:latin typeface="Arial"/>
                        </a:rPr>
                        <a:t>Problem scale and arrival pattern</a:t>
                      </a:r>
                    </a:p>
                  </a:txBody>
                  <a:tcPr marL="44450" marR="88900" marT="114300" marB="114300">
                    <a:lnT w="12700" cap="flat" cmpd="sng" algn="ctr">
                      <a:solidFill>
                        <a:srgbClr val="50017D"/>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250" b="0">
                          <a:solidFill>
                            <a:srgbClr val="1F0E33"/>
                          </a:solidFill>
                          <a:latin typeface="Arial"/>
                        </a:rPr>
                        <a:t>104 trials, of which 23 carry a measurable pharmacy duration</a:t>
                      </a:r>
                    </a:p>
                  </a:txBody>
                  <a:tcPr marL="44450" marR="88900" marT="114300" marB="114300">
                    <a:lnT w="12700" cap="flat" cmpd="sng" algn="ctr">
                      <a:solidFill>
                        <a:srgbClr val="50017D"/>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1"/>
                  </a:ext>
                </a:extLst>
              </a:tr>
              <a:tr h="0">
                <a:tc>
                  <a:txBody>
                    <a:bodyPr/>
                    <a:lstStyle/>
                    <a:p>
                      <a:pPr>
                        <a:lnSpc>
                          <a:spcPct val="128000"/>
                        </a:lnSpc>
                      </a:pPr>
                      <a:r>
                        <a:rPr sz="1250" b="1">
                          <a:solidFill>
                            <a:srgbClr val="1F0E33"/>
                          </a:solidFill>
                          <a:latin typeface="Arial"/>
                        </a:rPr>
                        <a:t>Prioritisation Tool, version 1.6</a:t>
                      </a:r>
                    </a:p>
                  </a:txBody>
                  <a:tcPr marL="0" marR="88900" marT="114300" marB="1143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250" b="0">
                          <a:solidFill>
                            <a:srgbClr val="1F0E33"/>
                          </a:solidFill>
                          <a:latin typeface="Arial"/>
                        </a:rPr>
                        <a:t>Measure 4b, operational burden for pharmacy and aseptics, re-scored jointly by both teams. It is the pharmacy burden rank used throughout</a:t>
                      </a:r>
                    </a:p>
                  </a:txBody>
                  <a:tcPr marL="44450" marR="88900" marT="114300" marB="1143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250" b="0">
                          <a:solidFill>
                            <a:srgbClr val="1F0E33"/>
                          </a:solidFill>
                          <a:latin typeface="Arial"/>
                        </a:rPr>
                        <a:t>Its value score is not used, so no trial is selected or excluded on perceived value</a:t>
                      </a:r>
                    </a:p>
                  </a:txBody>
                  <a:tcPr marL="44450" marR="88900" marT="114300" marB="11430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2"/>
                  </a:ext>
                </a:extLst>
              </a:tr>
              <a:tr h="0">
                <a:tc>
                  <a:txBody>
                    <a:bodyPr/>
                    <a:lstStyle/>
                    <a:p>
                      <a:pPr>
                        <a:lnSpc>
                          <a:spcPct val="128000"/>
                        </a:lnSpc>
                      </a:pPr>
                      <a:r>
                        <a:rPr sz="1250" b="1">
                          <a:solidFill>
                            <a:srgbClr val="1F0E33"/>
                          </a:solidFill>
                          <a:latin typeface="Arial"/>
                        </a:rPr>
                        <a:t>The August 2026 case-study return</a:t>
                      </a:r>
                    </a:p>
                  </a:txBody>
                  <a:tcPr marL="0" marR="88900" marT="114300" marB="1143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250" b="0">
                          <a:solidFill>
                            <a:srgbClr val="1F0E33"/>
                          </a:solidFill>
                          <a:latin typeface="Arial"/>
                        </a:rPr>
                        <a:t>Every per-study planning parameter: the dates, the pathway, the burden rank</a:t>
                      </a:r>
                    </a:p>
                  </a:txBody>
                  <a:tcPr marL="44450" marR="88900" marT="114300" marB="1143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250" b="0">
                          <a:solidFill>
                            <a:srgbClr val="1F0E33"/>
                          </a:solidFill>
                          <a:latin typeface="Arial"/>
                        </a:rPr>
                        <a:t>20 completed CTIMPs, 19 usable for the planning replay</a:t>
                      </a:r>
                    </a:p>
                  </a:txBody>
                  <a:tcPr marL="44450" marR="88900" marT="114300" marB="11430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3"/>
                  </a:ext>
                </a:extLst>
              </a:tr>
            </a:tbl>
          </a:graphicData>
        </a:graphic>
      </p:graphicFrame>
      <p:sp>
        <p:nvSpPr>
          <p:cNvPr id="7" name="Rectangle 6"/>
          <p:cNvSpPr/>
          <p:nvPr/>
        </p:nvSpPr>
        <p:spPr>
          <a:xfrm>
            <a:off x="609600" y="4635499"/>
            <a:ext cx="10972800" cy="2009999"/>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800100" y="4800600"/>
            <a:ext cx="10591800" cy="254000"/>
          </a:xfrm>
          <a:prstGeom prst="rect">
            <a:avLst/>
          </a:prstGeom>
          <a:noFill/>
        </p:spPr>
        <p:txBody>
          <a:bodyPr wrap="square" lIns="0" tIns="0" rIns="0" bIns="0" anchor="t">
            <a:spAutoFit/>
          </a:bodyPr>
          <a:lstStyle/>
          <a:p>
            <a:pPr algn="l">
              <a:lnSpc>
                <a:spcPct val="135000"/>
              </a:lnSpc>
            </a:pPr>
            <a:r>
              <a:rPr sz="1150" b="1" spc="229">
                <a:solidFill>
                  <a:srgbClr val="50017D"/>
                </a:solidFill>
                <a:latin typeface="Arial"/>
              </a:rPr>
              <a:t>WHAT THE EVIDENCE RESTS ON, SAID ONCE</a:t>
            </a:r>
          </a:p>
        </p:txBody>
      </p:sp>
      <p:sp>
        <p:nvSpPr>
          <p:cNvPr id="9" name="TextBox 8"/>
          <p:cNvSpPr txBox="1"/>
          <p:nvPr/>
        </p:nvSpPr>
        <p:spPr>
          <a:xfrm>
            <a:off x="800100" y="5080000"/>
            <a:ext cx="10591800" cy="1079500"/>
          </a:xfrm>
          <a:prstGeom prst="rect">
            <a:avLst/>
          </a:prstGeom>
          <a:noFill/>
        </p:spPr>
        <p:txBody>
          <a:bodyPr wrap="square" lIns="0" tIns="0" rIns="0" bIns="0" anchor="t">
            <a:spAutoFit/>
          </a:bodyPr>
          <a:lstStyle/>
          <a:p>
            <a:pPr algn="l">
              <a:lnSpc>
                <a:spcPct val="142000"/>
              </a:lnSpc>
              <a:spcAft>
                <a:spcPts val="500"/>
              </a:spcAft>
            </a:pPr>
            <a:r>
              <a:rPr sz="1200" b="0">
                <a:solidFill>
                  <a:srgbClr val="3F3350"/>
                </a:solidFill>
                <a:latin typeface="Arial"/>
              </a:rPr>
              <a:t>No system captures the pharmacy set-up start automatically. Both teams reconstructed each date from their own records for the return, which is why the dissertation treats them as retrospective estimates. Hands-on approval time is recorded nowhere at all, so it is carried as a sensitivity parameter rather than a measured value.</a:t>
            </a:r>
          </a:p>
          <a:p>
            <a:pPr algn="l">
              <a:lnSpc>
                <a:spcPct val="142000"/>
              </a:lnSpc>
              <a:spcAft>
                <a:spcPts val="500"/>
              </a:spcAft>
            </a:pPr>
            <a:r>
              <a:rPr sz="1200" b="0">
                <a:solidFill>
                  <a:srgbClr val="3F3350"/>
                </a:solidFill>
                <a:latin typeface="Arial"/>
              </a:rPr>
              <a:t>The set-up duration floors are demonstrated-achievable standards rather than averages or forecasts. Results computed on them describe an </a:t>
            </a:r>
            <a:r>
              <a:rPr sz="1200" b="1">
                <a:solidFill>
                  <a:srgbClr val="50017D"/>
                </a:solidFill>
                <a:latin typeface="Arial"/>
              </a:rPr>
              <a:t>optimistic operating condition, not an expected one</a:t>
            </a:r>
            <a:r>
              <a:rPr sz="1200" b="0">
                <a:solidFill>
                  <a:srgbClr val="3F3350"/>
                </a:solidFill>
                <a:latin typeface="Arial"/>
              </a:rPr>
              <a:t>. The measurement stage of the roadmap is how the trust closes both limitations.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ACT 2 · HOW IT WAS TESTED</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04</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825500"/>
            <a:ext cx="11049000" cy="1270000"/>
          </a:xfrm>
          <a:prstGeom prst="rect">
            <a:avLst/>
          </a:prstGeom>
          <a:noFill/>
        </p:spPr>
        <p:txBody>
          <a:bodyPr wrap="square" lIns="0" tIns="0" rIns="0" bIns="0" anchor="t">
            <a:spAutoFit/>
          </a:bodyPr>
          <a:lstStyle/>
          <a:p>
            <a:pPr algn="l">
              <a:lnSpc>
                <a:spcPct val="116000"/>
              </a:lnSpc>
            </a:pPr>
            <a:r>
              <a:rPr sz="2400" b="1">
                <a:solidFill>
                  <a:srgbClr val="1F0E33"/>
                </a:solidFill>
                <a:latin typeface="Arial"/>
              </a:rPr>
              <a:t>Optimisation finds the best plan, simulation tests whether it holds, sensitivity analysis finds what matters</a:t>
            </a:r>
          </a:p>
        </p:txBody>
      </p:sp>
      <p:sp>
        <p:nvSpPr>
          <p:cNvPr id="6" name="Rectangle 5"/>
          <p:cNvSpPr/>
          <p:nvPr/>
        </p:nvSpPr>
        <p:spPr>
          <a:xfrm>
            <a:off x="609600" y="1905000"/>
            <a:ext cx="1905000" cy="660400"/>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98500" y="1905000"/>
            <a:ext cx="1727200" cy="660400"/>
          </a:xfrm>
          <a:prstGeom prst="rect">
            <a:avLst/>
          </a:prstGeom>
          <a:noFill/>
        </p:spPr>
        <p:txBody>
          <a:bodyPr wrap="square" lIns="0" tIns="0" rIns="0" bIns="0" anchor="ctr">
            <a:spAutoFit/>
          </a:bodyPr>
          <a:lstStyle/>
          <a:p>
            <a:pPr algn="ctr">
              <a:lnSpc>
                <a:spcPct val="130000"/>
              </a:lnSpc>
            </a:pPr>
            <a:r>
              <a:rPr sz="1200" b="0">
                <a:solidFill>
                  <a:srgbClr val="1F0E33"/>
                </a:solidFill>
                <a:latin typeface="Arial"/>
              </a:rPr>
              <a:t>Monthly trust queue</a:t>
            </a:r>
          </a:p>
        </p:txBody>
      </p:sp>
      <p:sp>
        <p:nvSpPr>
          <p:cNvPr id="8" name="TextBox 7"/>
          <p:cNvSpPr txBox="1"/>
          <p:nvPr/>
        </p:nvSpPr>
        <p:spPr>
          <a:xfrm>
            <a:off x="2514600" y="1905000"/>
            <a:ext cx="330200" cy="660400"/>
          </a:xfrm>
          <a:prstGeom prst="rect">
            <a:avLst/>
          </a:prstGeom>
          <a:noFill/>
        </p:spPr>
        <p:txBody>
          <a:bodyPr wrap="square" lIns="0" tIns="0" rIns="0" bIns="0" anchor="ctr">
            <a:spAutoFit/>
          </a:bodyPr>
          <a:lstStyle/>
          <a:p>
            <a:pPr algn="ctr">
              <a:lnSpc>
                <a:spcPct val="135000"/>
              </a:lnSpc>
            </a:pPr>
            <a:r>
              <a:rPr sz="1600" b="0">
                <a:solidFill>
                  <a:srgbClr val="C9A3E8"/>
                </a:solidFill>
                <a:latin typeface="Arial"/>
              </a:rPr>
              <a:t>→</a:t>
            </a:r>
          </a:p>
        </p:txBody>
      </p:sp>
      <p:sp>
        <p:nvSpPr>
          <p:cNvPr id="9" name="Rectangle 8"/>
          <p:cNvSpPr/>
          <p:nvPr/>
        </p:nvSpPr>
        <p:spPr>
          <a:xfrm>
            <a:off x="2844800" y="1905000"/>
            <a:ext cx="1905000" cy="66040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2933700" y="1905000"/>
            <a:ext cx="1727200" cy="660400"/>
          </a:xfrm>
          <a:prstGeom prst="rect">
            <a:avLst/>
          </a:prstGeom>
          <a:noFill/>
        </p:spPr>
        <p:txBody>
          <a:bodyPr wrap="square" lIns="0" tIns="0" rIns="0" bIns="0" anchor="ctr">
            <a:spAutoFit/>
          </a:bodyPr>
          <a:lstStyle/>
          <a:p>
            <a:pPr algn="ctr">
              <a:lnSpc>
                <a:spcPct val="130000"/>
              </a:lnSpc>
            </a:pPr>
            <a:r>
              <a:rPr sz="1200" b="1">
                <a:solidFill>
                  <a:srgbClr val="FFFFFF"/>
                </a:solidFill>
                <a:latin typeface="Arial"/>
              </a:rPr>
              <a:t>Optimisation</a:t>
            </a:r>
          </a:p>
        </p:txBody>
      </p:sp>
      <p:sp>
        <p:nvSpPr>
          <p:cNvPr id="11" name="TextBox 10"/>
          <p:cNvSpPr txBox="1"/>
          <p:nvPr/>
        </p:nvSpPr>
        <p:spPr>
          <a:xfrm>
            <a:off x="4749800" y="1905000"/>
            <a:ext cx="330200" cy="660400"/>
          </a:xfrm>
          <a:prstGeom prst="rect">
            <a:avLst/>
          </a:prstGeom>
          <a:noFill/>
        </p:spPr>
        <p:txBody>
          <a:bodyPr wrap="square" lIns="0" tIns="0" rIns="0" bIns="0" anchor="ctr">
            <a:spAutoFit/>
          </a:bodyPr>
          <a:lstStyle/>
          <a:p>
            <a:pPr algn="ctr">
              <a:lnSpc>
                <a:spcPct val="135000"/>
              </a:lnSpc>
            </a:pPr>
            <a:r>
              <a:rPr sz="1600" b="0">
                <a:solidFill>
                  <a:srgbClr val="C9A3E8"/>
                </a:solidFill>
                <a:latin typeface="Arial"/>
              </a:rPr>
              <a:t>→</a:t>
            </a:r>
          </a:p>
        </p:txBody>
      </p:sp>
      <p:sp>
        <p:nvSpPr>
          <p:cNvPr id="12" name="Rectangle 11"/>
          <p:cNvSpPr/>
          <p:nvPr/>
        </p:nvSpPr>
        <p:spPr>
          <a:xfrm>
            <a:off x="5080000" y="1905000"/>
            <a:ext cx="1905000" cy="660400"/>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5168900" y="1905000"/>
            <a:ext cx="1727200" cy="660400"/>
          </a:xfrm>
          <a:prstGeom prst="rect">
            <a:avLst/>
          </a:prstGeom>
          <a:noFill/>
        </p:spPr>
        <p:txBody>
          <a:bodyPr wrap="square" lIns="0" tIns="0" rIns="0" bIns="0" anchor="ctr">
            <a:spAutoFit/>
          </a:bodyPr>
          <a:lstStyle/>
          <a:p>
            <a:pPr algn="ctr">
              <a:lnSpc>
                <a:spcPct val="130000"/>
              </a:lnSpc>
            </a:pPr>
            <a:r>
              <a:rPr sz="1200" b="0">
                <a:solidFill>
                  <a:srgbClr val="1F0E33"/>
                </a:solidFill>
                <a:latin typeface="Arial"/>
              </a:rPr>
              <a:t>Best on-time portfolio</a:t>
            </a:r>
          </a:p>
        </p:txBody>
      </p:sp>
      <p:sp>
        <p:nvSpPr>
          <p:cNvPr id="14" name="TextBox 13"/>
          <p:cNvSpPr txBox="1"/>
          <p:nvPr/>
        </p:nvSpPr>
        <p:spPr>
          <a:xfrm>
            <a:off x="6985000" y="1905000"/>
            <a:ext cx="330200" cy="660400"/>
          </a:xfrm>
          <a:prstGeom prst="rect">
            <a:avLst/>
          </a:prstGeom>
          <a:noFill/>
        </p:spPr>
        <p:txBody>
          <a:bodyPr wrap="square" lIns="0" tIns="0" rIns="0" bIns="0" anchor="ctr">
            <a:spAutoFit/>
          </a:bodyPr>
          <a:lstStyle/>
          <a:p>
            <a:pPr algn="ctr">
              <a:lnSpc>
                <a:spcPct val="135000"/>
              </a:lnSpc>
            </a:pPr>
            <a:r>
              <a:rPr sz="1600" b="0">
                <a:solidFill>
                  <a:srgbClr val="C9A3E8"/>
                </a:solidFill>
                <a:latin typeface="Arial"/>
              </a:rPr>
              <a:t>→</a:t>
            </a:r>
          </a:p>
        </p:txBody>
      </p:sp>
      <p:sp>
        <p:nvSpPr>
          <p:cNvPr id="15" name="Rectangle 14"/>
          <p:cNvSpPr/>
          <p:nvPr/>
        </p:nvSpPr>
        <p:spPr>
          <a:xfrm>
            <a:off x="7315200" y="1905000"/>
            <a:ext cx="1905000" cy="66040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7404100" y="1905000"/>
            <a:ext cx="1727200" cy="660400"/>
          </a:xfrm>
          <a:prstGeom prst="rect">
            <a:avLst/>
          </a:prstGeom>
          <a:noFill/>
        </p:spPr>
        <p:txBody>
          <a:bodyPr wrap="square" lIns="0" tIns="0" rIns="0" bIns="0" anchor="ctr">
            <a:spAutoFit/>
          </a:bodyPr>
          <a:lstStyle/>
          <a:p>
            <a:pPr algn="ctr">
              <a:lnSpc>
                <a:spcPct val="130000"/>
              </a:lnSpc>
            </a:pPr>
            <a:r>
              <a:rPr sz="1200" b="1">
                <a:solidFill>
                  <a:srgbClr val="FFFFFF"/>
                </a:solidFill>
                <a:latin typeface="Arial"/>
              </a:rPr>
              <a:t>Simulation</a:t>
            </a:r>
          </a:p>
        </p:txBody>
      </p:sp>
      <p:sp>
        <p:nvSpPr>
          <p:cNvPr id="17" name="TextBox 16"/>
          <p:cNvSpPr txBox="1"/>
          <p:nvPr/>
        </p:nvSpPr>
        <p:spPr>
          <a:xfrm>
            <a:off x="9220200" y="1905000"/>
            <a:ext cx="330200" cy="660400"/>
          </a:xfrm>
          <a:prstGeom prst="rect">
            <a:avLst/>
          </a:prstGeom>
          <a:noFill/>
        </p:spPr>
        <p:txBody>
          <a:bodyPr wrap="square" lIns="0" tIns="0" rIns="0" bIns="0" anchor="ctr">
            <a:spAutoFit/>
          </a:bodyPr>
          <a:lstStyle/>
          <a:p>
            <a:pPr algn="ctr">
              <a:lnSpc>
                <a:spcPct val="135000"/>
              </a:lnSpc>
            </a:pPr>
            <a:r>
              <a:rPr sz="1600" b="0">
                <a:solidFill>
                  <a:srgbClr val="C9A3E8"/>
                </a:solidFill>
                <a:latin typeface="Arial"/>
              </a:rPr>
              <a:t>→</a:t>
            </a:r>
          </a:p>
        </p:txBody>
      </p:sp>
      <p:sp>
        <p:nvSpPr>
          <p:cNvPr id="18" name="Rectangle 17"/>
          <p:cNvSpPr/>
          <p:nvPr/>
        </p:nvSpPr>
        <p:spPr>
          <a:xfrm>
            <a:off x="9550400" y="1905000"/>
            <a:ext cx="1905000" cy="660400"/>
          </a:xfrm>
          <a:prstGeom prst="rect">
            <a:avLst/>
          </a:prstGeom>
          <a:solidFill>
            <a:srgbClr val="F3ED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9639300" y="1905000"/>
            <a:ext cx="1727200" cy="660400"/>
          </a:xfrm>
          <a:prstGeom prst="rect">
            <a:avLst/>
          </a:prstGeom>
          <a:noFill/>
        </p:spPr>
        <p:txBody>
          <a:bodyPr wrap="square" lIns="0" tIns="0" rIns="0" bIns="0" anchor="ctr">
            <a:spAutoFit/>
          </a:bodyPr>
          <a:lstStyle/>
          <a:p>
            <a:pPr algn="ctr">
              <a:lnSpc>
                <a:spcPct val="130000"/>
              </a:lnSpc>
            </a:pPr>
            <a:r>
              <a:rPr sz="1200" b="1">
                <a:solidFill>
                  <a:srgbClr val="50017D"/>
                </a:solidFill>
                <a:latin typeface="Arial"/>
              </a:rPr>
              <a:t>Reliable commitment</a:t>
            </a:r>
          </a:p>
        </p:txBody>
      </p:sp>
      <p:sp>
        <p:nvSpPr>
          <p:cNvPr id="20" name="Rectangle 19"/>
          <p:cNvSpPr/>
          <p:nvPr/>
        </p:nvSpPr>
        <p:spPr>
          <a:xfrm>
            <a:off x="609600" y="2984500"/>
            <a:ext cx="348615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09600" y="3098800"/>
            <a:ext cx="3486150" cy="279400"/>
          </a:xfrm>
          <a:prstGeom prst="rect">
            <a:avLst/>
          </a:prstGeom>
          <a:noFill/>
        </p:spPr>
        <p:txBody>
          <a:bodyPr wrap="square" lIns="0" tIns="0" rIns="0" bIns="0" anchor="t">
            <a:spAutoFit/>
          </a:bodyPr>
          <a:lstStyle/>
          <a:p>
            <a:pPr algn="l">
              <a:lnSpc>
                <a:spcPct val="135000"/>
              </a:lnSpc>
            </a:pPr>
            <a:r>
              <a:rPr sz="1300" b="1">
                <a:solidFill>
                  <a:srgbClr val="1F0E33"/>
                </a:solidFill>
                <a:latin typeface="Arial"/>
              </a:rPr>
              <a:t>Optimisation</a:t>
            </a:r>
          </a:p>
        </p:txBody>
      </p:sp>
      <p:sp>
        <p:nvSpPr>
          <p:cNvPr id="22" name="TextBox 21"/>
          <p:cNvSpPr txBox="1"/>
          <p:nvPr/>
        </p:nvSpPr>
        <p:spPr>
          <a:xfrm>
            <a:off x="609600" y="3390900"/>
            <a:ext cx="3486150" cy="1524000"/>
          </a:xfrm>
          <a:prstGeom prst="rect">
            <a:avLst/>
          </a:prstGeom>
          <a:noFill/>
        </p:spPr>
        <p:txBody>
          <a:bodyPr wrap="square" lIns="0" tIns="0" rIns="0" bIns="0" anchor="t">
            <a:spAutoFit/>
          </a:bodyPr>
          <a:lstStyle/>
          <a:p>
            <a:pPr algn="l">
              <a:lnSpc>
                <a:spcPct val="140000"/>
              </a:lnSpc>
            </a:pPr>
            <a:r>
              <a:rPr sz="1200" b="0">
                <a:solidFill>
                  <a:srgbClr val="3F3350"/>
                </a:solidFill>
                <a:latin typeface="Arial"/>
              </a:rPr>
              <a:t>“If we must decide now, which waiting trials should we commit to, so as to complete the most inside 60 days?” Where plans tie, it prefers the one leaving the least weighted lateness across the queue, so deferring a trial carries an explicit cost.</a:t>
            </a:r>
          </a:p>
        </p:txBody>
      </p:sp>
      <p:sp>
        <p:nvSpPr>
          <p:cNvPr id="23" name="Rectangle 22"/>
          <p:cNvSpPr/>
          <p:nvPr/>
        </p:nvSpPr>
        <p:spPr>
          <a:xfrm>
            <a:off x="4349750" y="2984500"/>
            <a:ext cx="348615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4349750" y="3098800"/>
            <a:ext cx="3486150" cy="279400"/>
          </a:xfrm>
          <a:prstGeom prst="rect">
            <a:avLst/>
          </a:prstGeom>
          <a:noFill/>
        </p:spPr>
        <p:txBody>
          <a:bodyPr wrap="square" lIns="0" tIns="0" rIns="0" bIns="0" anchor="t">
            <a:spAutoFit/>
          </a:bodyPr>
          <a:lstStyle/>
          <a:p>
            <a:pPr algn="l">
              <a:lnSpc>
                <a:spcPct val="135000"/>
              </a:lnSpc>
            </a:pPr>
            <a:r>
              <a:rPr sz="1300" b="1">
                <a:solidFill>
                  <a:srgbClr val="1F0E33"/>
                </a:solidFill>
                <a:latin typeface="Arial"/>
              </a:rPr>
              <a:t>Simulation</a:t>
            </a:r>
          </a:p>
        </p:txBody>
      </p:sp>
      <p:sp>
        <p:nvSpPr>
          <p:cNvPr id="25" name="TextBox 24"/>
          <p:cNvSpPr txBox="1"/>
          <p:nvPr/>
        </p:nvSpPr>
        <p:spPr>
          <a:xfrm>
            <a:off x="4349750" y="3390900"/>
            <a:ext cx="3486150" cy="1524000"/>
          </a:xfrm>
          <a:prstGeom prst="rect">
            <a:avLst/>
          </a:prstGeom>
          <a:noFill/>
        </p:spPr>
        <p:txBody>
          <a:bodyPr wrap="square" lIns="0" tIns="0" rIns="0" bIns="0" anchor="t">
            <a:spAutoFit/>
          </a:bodyPr>
          <a:lstStyle/>
          <a:p>
            <a:pPr algn="l">
              <a:lnSpc>
                <a:spcPct val="140000"/>
              </a:lnSpc>
            </a:pPr>
            <a:r>
              <a:rPr sz="1200" b="0">
                <a:solidFill>
                  <a:srgbClr val="3F3350"/>
                </a:solidFill>
                <a:latin typeface="Arial"/>
              </a:rPr>
              <a:t>“If set-up duration varies as it has historically, how often will the selected plan actually deliver what it promised?” Each committed plan was replayed 10,000 times.</a:t>
            </a:r>
          </a:p>
        </p:txBody>
      </p:sp>
      <p:sp>
        <p:nvSpPr>
          <p:cNvPr id="26" name="Rectangle 25"/>
          <p:cNvSpPr/>
          <p:nvPr/>
        </p:nvSpPr>
        <p:spPr>
          <a:xfrm>
            <a:off x="8089900" y="2984500"/>
            <a:ext cx="348615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8089900" y="3098800"/>
            <a:ext cx="3486150" cy="279400"/>
          </a:xfrm>
          <a:prstGeom prst="rect">
            <a:avLst/>
          </a:prstGeom>
          <a:noFill/>
        </p:spPr>
        <p:txBody>
          <a:bodyPr wrap="square" lIns="0" tIns="0" rIns="0" bIns="0" anchor="t">
            <a:spAutoFit/>
          </a:bodyPr>
          <a:lstStyle/>
          <a:p>
            <a:pPr algn="l">
              <a:lnSpc>
                <a:spcPct val="135000"/>
              </a:lnSpc>
            </a:pPr>
            <a:r>
              <a:rPr sz="1300" b="1">
                <a:solidFill>
                  <a:srgbClr val="1F0E33"/>
                </a:solidFill>
                <a:latin typeface="Arial"/>
              </a:rPr>
              <a:t>Sensitivity analysis</a:t>
            </a:r>
          </a:p>
        </p:txBody>
      </p:sp>
      <p:sp>
        <p:nvSpPr>
          <p:cNvPr id="28" name="TextBox 27"/>
          <p:cNvSpPr txBox="1"/>
          <p:nvPr/>
        </p:nvSpPr>
        <p:spPr>
          <a:xfrm>
            <a:off x="8089900" y="3390900"/>
            <a:ext cx="3486150" cy="1524000"/>
          </a:xfrm>
          <a:prstGeom prst="rect">
            <a:avLst/>
          </a:prstGeom>
          <a:noFill/>
        </p:spPr>
        <p:txBody>
          <a:bodyPr wrap="square" lIns="0" tIns="0" rIns="0" bIns="0" anchor="t">
            <a:spAutoFit/>
          </a:bodyPr>
          <a:lstStyle/>
          <a:p>
            <a:pPr algn="l">
              <a:lnSpc>
                <a:spcPct val="140000"/>
              </a:lnSpc>
            </a:pPr>
            <a:r>
              <a:rPr sz="1200" b="0">
                <a:solidFill>
                  <a:srgbClr val="3F3350"/>
                </a:solidFill>
                <a:latin typeface="Arial"/>
              </a:rPr>
              <a:t>“Which operational changes genuinely change the outcome?” Six settings were swept across their tested ranges at all 25 decision points.</a:t>
            </a:r>
          </a:p>
        </p:txBody>
      </p:sp>
      <p:sp>
        <p:nvSpPr>
          <p:cNvPr id="29" name="TextBox 28"/>
          <p:cNvSpPr txBox="1"/>
          <p:nvPr/>
        </p:nvSpPr>
        <p:spPr>
          <a:xfrm>
            <a:off x="609600" y="5905500"/>
            <a:ext cx="10541000" cy="571500"/>
          </a:xfrm>
          <a:prstGeom prst="rect">
            <a:avLst/>
          </a:prstGeom>
          <a:noFill/>
        </p:spPr>
        <p:txBody>
          <a:bodyPr wrap="square" lIns="0" tIns="0" rIns="0" bIns="0" anchor="t">
            <a:spAutoFit/>
          </a:bodyPr>
          <a:lstStyle/>
          <a:p>
            <a:pPr algn="l">
              <a:lnSpc>
                <a:spcPct val="140000"/>
              </a:lnSpc>
            </a:pPr>
            <a:r>
              <a:rPr sz="1250" b="0">
                <a:solidFill>
                  <a:srgbClr val="3F3350"/>
                </a:solidFill>
                <a:latin typeface="Arial"/>
              </a:rPr>
              <a:t>The model decides which trials to commit. It does not decide the order in which the work is done, and it does not rank a study's worth. All eligible trials are treated as equally worthwhile.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ACT 2 · HOW IT WAS TESTED</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05</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800100"/>
            <a:ext cx="11049000" cy="1270000"/>
          </a:xfrm>
          <a:prstGeom prst="rect">
            <a:avLst/>
          </a:prstGeom>
          <a:noFill/>
        </p:spPr>
        <p:txBody>
          <a:bodyPr wrap="square" lIns="0" tIns="0" rIns="0" bIns="0" anchor="t">
            <a:spAutoFit/>
          </a:bodyPr>
          <a:lstStyle/>
          <a:p>
            <a:pPr algn="l">
              <a:lnSpc>
                <a:spcPct val="116000"/>
              </a:lnSpc>
            </a:pPr>
            <a:r>
              <a:rPr sz="2200" b="1">
                <a:solidFill>
                  <a:srgbClr val="1F0E33"/>
                </a:solidFill>
                <a:latin typeface="Arial"/>
              </a:rPr>
              <a:t>If nothing changes: four trials were ever feasible, and all four entered the queue before the clock opened</a:t>
            </a:r>
          </a:p>
        </p:txBody>
      </p:sp>
      <p:sp>
        <p:nvSpPr>
          <p:cNvPr id="6" name="Rectangle 5"/>
          <p:cNvSpPr/>
          <p:nvPr/>
        </p:nvSpPr>
        <p:spPr>
          <a:xfrm>
            <a:off x="584200" y="1727200"/>
            <a:ext cx="158750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84200" y="1841500"/>
            <a:ext cx="1587500" cy="444500"/>
          </a:xfrm>
          <a:prstGeom prst="rect">
            <a:avLst/>
          </a:prstGeom>
          <a:noFill/>
        </p:spPr>
        <p:txBody>
          <a:bodyPr wrap="square" lIns="0" tIns="0" rIns="0" bIns="0" anchor="t">
            <a:spAutoFit/>
          </a:bodyPr>
          <a:lstStyle/>
          <a:p>
            <a:pPr algn="l">
              <a:lnSpc>
                <a:spcPct val="100000"/>
              </a:lnSpc>
            </a:pPr>
            <a:r>
              <a:rPr sz="2600" b="1">
                <a:solidFill>
                  <a:srgbClr val="50017D"/>
                </a:solidFill>
                <a:latin typeface="Arial"/>
              </a:rPr>
              <a:t>9 </a:t>
            </a:r>
            <a:r>
              <a:rPr sz="1300" b="1">
                <a:solidFill>
                  <a:srgbClr val="6B5B7E"/>
                </a:solidFill>
                <a:latin typeface="Arial"/>
              </a:rPr>
              <a:t>of 25</a:t>
            </a:r>
          </a:p>
        </p:txBody>
      </p:sp>
      <p:sp>
        <p:nvSpPr>
          <p:cNvPr id="8" name="TextBox 7"/>
          <p:cNvSpPr txBox="1"/>
          <p:nvPr/>
        </p:nvSpPr>
        <p:spPr>
          <a:xfrm>
            <a:off x="584200" y="2273300"/>
            <a:ext cx="1587500" cy="825500"/>
          </a:xfrm>
          <a:prstGeom prst="rect">
            <a:avLst/>
          </a:prstGeom>
          <a:noFill/>
        </p:spPr>
        <p:txBody>
          <a:bodyPr wrap="square" lIns="0" tIns="0" rIns="0" bIns="0" anchor="t">
            <a:spAutoFit/>
          </a:bodyPr>
          <a:lstStyle/>
          <a:p>
            <a:pPr algn="l">
              <a:lnSpc>
                <a:spcPct val="130000"/>
              </a:lnSpc>
            </a:pPr>
            <a:r>
              <a:rPr sz="1100" b="0">
                <a:solidFill>
                  <a:srgbClr val="3F3350"/>
                </a:solidFill>
                <a:latin typeface="Arial"/>
              </a:rPr>
              <a:t>monthly decision points already admit one on-time trial, with no change at all</a:t>
            </a:r>
          </a:p>
        </p:txBody>
      </p:sp>
      <p:sp>
        <p:nvSpPr>
          <p:cNvPr id="9" name="Rectangle 8"/>
          <p:cNvSpPr/>
          <p:nvPr/>
        </p:nvSpPr>
        <p:spPr>
          <a:xfrm>
            <a:off x="2374900" y="1727200"/>
            <a:ext cx="158750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2374900" y="1841500"/>
            <a:ext cx="1587500" cy="444500"/>
          </a:xfrm>
          <a:prstGeom prst="rect">
            <a:avLst/>
          </a:prstGeom>
          <a:noFill/>
        </p:spPr>
        <p:txBody>
          <a:bodyPr wrap="square" lIns="0" tIns="0" rIns="0" bIns="0" anchor="t">
            <a:spAutoFit/>
          </a:bodyPr>
          <a:lstStyle/>
          <a:p>
            <a:pPr algn="l">
              <a:lnSpc>
                <a:spcPct val="100000"/>
              </a:lnSpc>
            </a:pPr>
            <a:r>
              <a:rPr sz="2600" b="1">
                <a:solidFill>
                  <a:srgbClr val="50017D"/>
                </a:solidFill>
                <a:latin typeface="Arial"/>
              </a:rPr>
              <a:t>4</a:t>
            </a:r>
          </a:p>
        </p:txBody>
      </p:sp>
      <p:sp>
        <p:nvSpPr>
          <p:cNvPr id="11" name="TextBox 10"/>
          <p:cNvSpPr txBox="1"/>
          <p:nvPr/>
        </p:nvSpPr>
        <p:spPr>
          <a:xfrm>
            <a:off x="2374900" y="2273300"/>
            <a:ext cx="1587500" cy="825500"/>
          </a:xfrm>
          <a:prstGeom prst="rect">
            <a:avLst/>
          </a:prstGeom>
          <a:noFill/>
        </p:spPr>
        <p:txBody>
          <a:bodyPr wrap="square" lIns="0" tIns="0" rIns="0" bIns="0" anchor="t">
            <a:spAutoFit/>
          </a:bodyPr>
          <a:lstStyle/>
          <a:p>
            <a:pPr algn="l">
              <a:lnSpc>
                <a:spcPct val="130000"/>
              </a:lnSpc>
            </a:pPr>
            <a:r>
              <a:rPr sz="1100" b="0">
                <a:solidFill>
                  <a:srgbClr val="3F3350"/>
                </a:solidFill>
                <a:latin typeface="Arial"/>
              </a:rPr>
              <a:t>distinct trials in total — a trial that still fits is re-committed and counted again</a:t>
            </a:r>
          </a:p>
        </p:txBody>
      </p:sp>
      <p:sp>
        <p:nvSpPr>
          <p:cNvPr id="12" name="Rectangle 11"/>
          <p:cNvSpPr/>
          <p:nvPr/>
        </p:nvSpPr>
        <p:spPr>
          <a:xfrm>
            <a:off x="4165600" y="1727200"/>
            <a:ext cx="3238500" cy="19050"/>
          </a:xfrm>
          <a:prstGeom prst="rect">
            <a:avLst/>
          </a:prstGeom>
          <a:solidFill>
            <a:srgbClr val="C9A3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4165600" y="1841500"/>
            <a:ext cx="3238500" cy="1206500"/>
          </a:xfrm>
          <a:prstGeom prst="rect">
            <a:avLst/>
          </a:prstGeom>
          <a:noFill/>
        </p:spPr>
        <p:txBody>
          <a:bodyPr wrap="square" lIns="0" tIns="0" rIns="0" bIns="0" anchor="t">
            <a:spAutoFit/>
          </a:bodyPr>
          <a:lstStyle/>
          <a:p>
            <a:pPr algn="l">
              <a:lnSpc>
                <a:spcPct val="135000"/>
              </a:lnSpc>
            </a:pPr>
            <a:r>
              <a:rPr sz="1150" b="0">
                <a:solidFill>
                  <a:srgbClr val="3F3350"/>
                </a:solidFill>
                <a:latin typeface="Arial"/>
              </a:rPr>
              <a:t>The model identifies those four </a:t>
            </a:r>
            <a:r>
              <a:rPr sz="1150" b="1">
                <a:solidFill>
                  <a:srgbClr val="50017D"/>
                </a:solidFill>
                <a:latin typeface="Arial"/>
              </a:rPr>
              <a:t>in advance rather than in hindsight</a:t>
            </a:r>
            <a:r>
              <a:rPr sz="1150" b="0">
                <a:solidFill>
                  <a:srgbClr val="3F3350"/>
                </a:solidFill>
                <a:latin typeface="Arial"/>
              </a:rPr>
              <a:t>: they are exactly the four that met the target in reality. It does not uncover any additional trial the service could have brought in on time.</a:t>
            </a:r>
          </a:p>
        </p:txBody>
      </p:sp>
      <p:graphicFrame>
        <p:nvGraphicFramePr>
          <p:cNvPr id="14" name="Table 13"/>
          <p:cNvGraphicFramePr>
            <a:graphicFrameLocks noGrp="1"/>
          </p:cNvGraphicFramePr>
          <p:nvPr/>
        </p:nvGraphicFramePr>
        <p:xfrm>
          <a:off x="584200" y="3213100"/>
          <a:ext cx="6819900" cy="1944118"/>
        </p:xfrm>
        <a:graphic>
          <a:graphicData uri="http://schemas.openxmlformats.org/drawingml/2006/table">
            <a:tbl>
              <a:tblPr>
                <a:tableStyleId>{5C22544A-7EE6-4342-B048-85BDC9FD1C3A}</a:tableStyleId>
              </a:tblPr>
              <a:tblGrid>
                <a:gridCol w="14605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17018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tblGrid>
              <a:tr h="0">
                <a:tc>
                  <a:txBody>
                    <a:bodyPr/>
                    <a:lstStyle/>
                    <a:p>
                      <a:pPr>
                        <a:lnSpc>
                          <a:spcPct val="128000"/>
                        </a:lnSpc>
                      </a:pPr>
                      <a:r>
                        <a:rPr sz="1050" b="1" spc="60">
                          <a:solidFill>
                            <a:srgbClr val="50017D"/>
                          </a:solidFill>
                          <a:latin typeface="Arial"/>
                        </a:rPr>
                        <a:t>TRIAL</a:t>
                      </a:r>
                    </a:p>
                  </a:txBody>
                  <a:tcPr marL="0" marR="88900" marT="69850" marB="69850" anchor="b">
                    <a:lnB w="12700" cap="flat" cmpd="sng" algn="ctr">
                      <a:solidFill>
                        <a:srgbClr val="50017D"/>
                      </a:solidFill>
                    </a:lnB>
                    <a:noFill/>
                  </a:tcPr>
                </a:tc>
                <a:tc>
                  <a:txBody>
                    <a:bodyPr/>
                    <a:lstStyle/>
                    <a:p>
                      <a:pPr>
                        <a:lnSpc>
                          <a:spcPct val="128000"/>
                        </a:lnSpc>
                      </a:pPr>
                      <a:r>
                        <a:rPr sz="1050" b="1" spc="60">
                          <a:solidFill>
                            <a:srgbClr val="50017D"/>
                          </a:solidFill>
                          <a:latin typeface="Arial"/>
                        </a:rPr>
                        <a:t>DAYS ENTERED BEFORE CLOCK START</a:t>
                      </a:r>
                    </a:p>
                  </a:txBody>
                  <a:tcPr marL="44450" marR="88900" marT="69850" marB="69850" anchor="b">
                    <a:lnB w="12700" cap="flat" cmpd="sng" algn="ctr">
                      <a:solidFill>
                        <a:srgbClr val="50017D"/>
                      </a:solidFill>
                    </a:lnB>
                    <a:noFill/>
                  </a:tcPr>
                </a:tc>
                <a:tc>
                  <a:txBody>
                    <a:bodyPr/>
                    <a:lstStyle/>
                    <a:p>
                      <a:pPr>
                        <a:lnSpc>
                          <a:spcPct val="128000"/>
                        </a:lnSpc>
                      </a:pPr>
                      <a:r>
                        <a:rPr sz="1050" b="1" spc="60">
                          <a:solidFill>
                            <a:srgbClr val="50017D"/>
                          </a:solidFill>
                          <a:latin typeface="Arial"/>
                        </a:rPr>
                        <a:t>WORK INTERVAL (DAYS)</a:t>
                      </a:r>
                    </a:p>
                  </a:txBody>
                  <a:tcPr marL="44450" marR="88900" marT="69850" marB="69850" anchor="b">
                    <a:lnB w="12700" cap="flat" cmpd="sng" algn="ctr">
                      <a:solidFill>
                        <a:srgbClr val="50017D"/>
                      </a:solidFill>
                    </a:lnB>
                    <a:noFill/>
                  </a:tcPr>
                </a:tc>
                <a:tc>
                  <a:txBody>
                    <a:bodyPr/>
                    <a:lstStyle/>
                    <a:p>
                      <a:pPr>
                        <a:lnSpc>
                          <a:spcPct val="128000"/>
                        </a:lnSpc>
                      </a:pPr>
                      <a:r>
                        <a:rPr sz="1050" b="1" spc="60">
                          <a:solidFill>
                            <a:srgbClr val="50017D"/>
                          </a:solidFill>
                          <a:latin typeface="Arial"/>
                        </a:rPr>
                        <a:t>CLOCK INTERVAL (DAYS)</a:t>
                      </a:r>
                    </a:p>
                  </a:txBody>
                  <a:tcPr marL="44450" marR="88900" marT="69850" marB="69850" anchor="b">
                    <a:lnB w="12700" cap="flat" cmpd="sng" algn="ctr">
                      <a:solidFill>
                        <a:srgbClr val="50017D"/>
                      </a:solidFill>
                    </a:lnB>
                    <a:noFill/>
                  </a:tcPr>
                </a:tc>
                <a:extLst>
                  <a:ext uri="{0D108BD9-81ED-4DB2-BD59-A6C34878D82A}">
                    <a16:rowId xmlns:a16="http://schemas.microsoft.com/office/drawing/2014/main" val="10000"/>
                  </a:ext>
                </a:extLst>
              </a:tr>
              <a:tr h="0">
                <a:tc>
                  <a:txBody>
                    <a:bodyPr/>
                    <a:lstStyle/>
                    <a:p>
                      <a:pPr>
                        <a:lnSpc>
                          <a:spcPct val="128000"/>
                        </a:lnSpc>
                      </a:pPr>
                      <a:r>
                        <a:rPr sz="1150" b="1">
                          <a:solidFill>
                            <a:srgbClr val="1F0E33"/>
                          </a:solidFill>
                          <a:latin typeface="Arial"/>
                        </a:rPr>
                        <a:t>MOLI</a:t>
                      </a:r>
                    </a:p>
                  </a:txBody>
                  <a:tcPr marL="0" marR="88900" marT="76200" marB="76200">
                    <a:lnT w="12700" cap="flat" cmpd="sng" algn="ctr">
                      <a:solidFill>
                        <a:srgbClr val="50017D"/>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4</a:t>
                      </a:r>
                    </a:p>
                  </a:txBody>
                  <a:tcPr marL="44450" marR="88900" marT="76200" marB="76200">
                    <a:lnT w="12700" cap="flat" cmpd="sng" algn="ctr">
                      <a:solidFill>
                        <a:srgbClr val="50017D"/>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50</a:t>
                      </a:r>
                    </a:p>
                  </a:txBody>
                  <a:tcPr marL="44450" marR="88900" marT="76200" marB="76200">
                    <a:lnT w="12700" cap="flat" cmpd="sng" algn="ctr">
                      <a:solidFill>
                        <a:srgbClr val="50017D"/>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46</a:t>
                      </a:r>
                    </a:p>
                  </a:txBody>
                  <a:tcPr marL="44450" marR="88900" marT="76200" marB="76200">
                    <a:lnT w="12700" cap="flat" cmpd="sng" algn="ctr">
                      <a:solidFill>
                        <a:srgbClr val="50017D"/>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1"/>
                  </a:ext>
                </a:extLst>
              </a:tr>
              <a:tr h="0">
                <a:tc>
                  <a:txBody>
                    <a:bodyPr/>
                    <a:lstStyle/>
                    <a:p>
                      <a:pPr>
                        <a:lnSpc>
                          <a:spcPct val="128000"/>
                        </a:lnSpc>
                      </a:pPr>
                      <a:r>
                        <a:rPr sz="1150" b="1">
                          <a:solidFill>
                            <a:srgbClr val="1F0E33"/>
                          </a:solidFill>
                          <a:latin typeface="Arial"/>
                        </a:rPr>
                        <a:t>BNT327-06</a:t>
                      </a:r>
                    </a:p>
                  </a:txBody>
                  <a:tcPr marL="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11</a:t>
                      </a:r>
                    </a:p>
                  </a:txBody>
                  <a:tcPr marL="4445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60</a:t>
                      </a:r>
                    </a:p>
                  </a:txBody>
                  <a:tcPr marL="4445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49</a:t>
                      </a:r>
                    </a:p>
                  </a:txBody>
                  <a:tcPr marL="4445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2"/>
                  </a:ext>
                </a:extLst>
              </a:tr>
              <a:tr h="0">
                <a:tc>
                  <a:txBody>
                    <a:bodyPr/>
                    <a:lstStyle/>
                    <a:p>
                      <a:pPr>
                        <a:lnSpc>
                          <a:spcPct val="128000"/>
                        </a:lnSpc>
                      </a:pPr>
                      <a:r>
                        <a:rPr sz="1150" b="1">
                          <a:solidFill>
                            <a:srgbClr val="1F0E33"/>
                          </a:solidFill>
                          <a:latin typeface="Arial"/>
                        </a:rPr>
                        <a:t>PASenger</a:t>
                      </a:r>
                    </a:p>
                  </a:txBody>
                  <a:tcPr marL="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33</a:t>
                      </a:r>
                    </a:p>
                  </a:txBody>
                  <a:tcPr marL="4445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80</a:t>
                      </a:r>
                    </a:p>
                  </a:txBody>
                  <a:tcPr marL="4445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47</a:t>
                      </a:r>
                    </a:p>
                  </a:txBody>
                  <a:tcPr marL="4445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3"/>
                  </a:ext>
                </a:extLst>
              </a:tr>
              <a:tr h="0">
                <a:tc>
                  <a:txBody>
                    <a:bodyPr/>
                    <a:lstStyle/>
                    <a:p>
                      <a:pPr>
                        <a:lnSpc>
                          <a:spcPct val="128000"/>
                        </a:lnSpc>
                      </a:pPr>
                      <a:r>
                        <a:rPr sz="1150" b="1">
                          <a:solidFill>
                            <a:srgbClr val="1F0E33"/>
                          </a:solidFill>
                          <a:latin typeface="Arial"/>
                        </a:rPr>
                        <a:t>BNT327-01</a:t>
                      </a:r>
                    </a:p>
                  </a:txBody>
                  <a:tcPr marL="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118</a:t>
                      </a:r>
                    </a:p>
                  </a:txBody>
                  <a:tcPr marL="4445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152</a:t>
                      </a:r>
                    </a:p>
                  </a:txBody>
                  <a:tcPr marL="4445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34</a:t>
                      </a:r>
                    </a:p>
                  </a:txBody>
                  <a:tcPr marL="4445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4"/>
                  </a:ext>
                </a:extLst>
              </a:tr>
            </a:tbl>
          </a:graphicData>
        </a:graphic>
      </p:graphicFrame>
      <p:sp>
        <p:nvSpPr>
          <p:cNvPr id="15" name="TextBox 14"/>
          <p:cNvSpPr txBox="1"/>
          <p:nvPr/>
        </p:nvSpPr>
        <p:spPr>
          <a:xfrm>
            <a:off x="584200" y="5562600"/>
            <a:ext cx="6819900" cy="825500"/>
          </a:xfrm>
          <a:prstGeom prst="rect">
            <a:avLst/>
          </a:prstGeom>
          <a:noFill/>
        </p:spPr>
        <p:txBody>
          <a:bodyPr wrap="square" lIns="0" tIns="0" rIns="0" bIns="0" anchor="t">
            <a:spAutoFit/>
          </a:bodyPr>
          <a:lstStyle/>
          <a:p>
            <a:pPr algn="l">
              <a:lnSpc>
                <a:spcPct val="138000"/>
              </a:lnSpc>
            </a:pPr>
            <a:r>
              <a:rPr sz="1150" b="1">
                <a:solidFill>
                  <a:srgbClr val="50017D"/>
                </a:solidFill>
                <a:latin typeface="Arial"/>
              </a:rPr>
              <a:t>Two of the four met the target despite requiring more than 60 days of work</a:t>
            </a:r>
            <a:r>
              <a:rPr sz="1150" b="0">
                <a:solidFill>
                  <a:srgbClr val="3F3350"/>
                </a:solidFill>
                <a:latin typeface="Arial"/>
              </a:rPr>
              <a:t>, because their set-up began before the window opened. Where the plan falls short it does so by relatively little: four trials missed by 20 days or less and, under the plan, fall 10 to 29 days short of their available windows. No selection rule recovers those days.</a:t>
            </a:r>
          </a:p>
        </p:txBody>
      </p:sp>
      <p:pic>
        <p:nvPicPr>
          <p:cNvPr id="16" name="Picture 15" descr="fig5_3_all_cases_timeline.png"/>
          <p:cNvPicPr>
            <a:picLocks noChangeAspect="1"/>
          </p:cNvPicPr>
          <p:nvPr/>
        </p:nvPicPr>
        <p:blipFill>
          <a:blip r:embed="rId3"/>
          <a:stretch>
            <a:fillRect/>
          </a:stretch>
        </p:blipFill>
        <p:spPr>
          <a:xfrm>
            <a:off x="7797800" y="1727200"/>
            <a:ext cx="3810000" cy="3506081"/>
          </a:xfrm>
          <a:prstGeom prst="rect">
            <a:avLst/>
          </a:prstGeom>
        </p:spPr>
      </p:pic>
      <p:sp>
        <p:nvSpPr>
          <p:cNvPr id="18" name="Rectangle 17"/>
          <p:cNvSpPr/>
          <p:nvPr/>
        </p:nvSpPr>
        <p:spPr>
          <a:xfrm>
            <a:off x="7797800" y="5357948"/>
            <a:ext cx="3810000" cy="1206500"/>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7937500" y="5497648"/>
            <a:ext cx="3530600" cy="656013"/>
          </a:xfrm>
          <a:prstGeom prst="rect">
            <a:avLst/>
          </a:prstGeom>
          <a:noFill/>
        </p:spPr>
        <p:txBody>
          <a:bodyPr wrap="square" lIns="0" tIns="0" rIns="0" bIns="0" anchor="t">
            <a:spAutoFit/>
          </a:bodyPr>
          <a:lstStyle/>
          <a:p>
            <a:pPr algn="l">
              <a:lnSpc>
                <a:spcPct val="134000"/>
              </a:lnSpc>
            </a:pPr>
            <a:r>
              <a:rPr sz="1100" b="0" dirty="0">
                <a:solidFill>
                  <a:srgbClr val="3F3350"/>
                </a:solidFill>
                <a:latin typeface="Arial"/>
              </a:rPr>
              <a:t>The four-trial figure is an </a:t>
            </a:r>
            <a:r>
              <a:rPr sz="1100" b="1" dirty="0">
                <a:solidFill>
                  <a:srgbClr val="50017D"/>
                </a:solidFill>
                <a:latin typeface="Arial"/>
              </a:rPr>
              <a:t>upper bound</a:t>
            </a:r>
            <a:r>
              <a:rPr sz="1100" b="0" dirty="0">
                <a:solidFill>
                  <a:srgbClr val="3F3350"/>
                </a:solidFill>
                <a:latin typeface="Arial"/>
              </a:rPr>
              <a:t> across the whole period under the recorded timing conditions</a:t>
            </a:r>
            <a:r>
              <a:rPr sz="1100" b="1" dirty="0">
                <a:solidFill>
                  <a:srgbClr val="3F3350"/>
                </a:solidFill>
                <a:latin typeface="Arial"/>
              </a:rPr>
              <a:t>. It is not a count per cycle, and not a throughput estimate.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ACT 3 · WHAT CHANGES THE OUTCOME</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06</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800100"/>
            <a:ext cx="11049000" cy="1270000"/>
          </a:xfrm>
          <a:prstGeom prst="rect">
            <a:avLst/>
          </a:prstGeom>
          <a:noFill/>
        </p:spPr>
        <p:txBody>
          <a:bodyPr wrap="square" lIns="0" tIns="0" rIns="0" bIns="0" anchor="t">
            <a:spAutoFit/>
          </a:bodyPr>
          <a:lstStyle/>
          <a:p>
            <a:pPr algn="l">
              <a:lnSpc>
                <a:spcPct val="116000"/>
              </a:lnSpc>
            </a:pPr>
            <a:r>
              <a:rPr sz="2200" b="1">
                <a:solidFill>
                  <a:srgbClr val="1F0E33"/>
                </a:solidFill>
                <a:latin typeface="Arial"/>
              </a:rPr>
              <a:t>More slots and better selection reduce lateness, but they do not create time</a:t>
            </a:r>
          </a:p>
        </p:txBody>
      </p:sp>
      <p:graphicFrame>
        <p:nvGraphicFramePr>
          <p:cNvPr id="6" name="Table 5"/>
          <p:cNvGraphicFramePr>
            <a:graphicFrameLocks noGrp="1"/>
          </p:cNvGraphicFramePr>
          <p:nvPr>
            <p:extLst>
              <p:ext uri="{D42A27DB-BD31-4B8C-83A1-F6EECF244321}">
                <p14:modId xmlns:p14="http://schemas.microsoft.com/office/powerpoint/2010/main" val="311239344"/>
              </p:ext>
            </p:extLst>
          </p:nvPr>
        </p:nvGraphicFramePr>
        <p:xfrm>
          <a:off x="558800" y="1351830"/>
          <a:ext cx="7061200" cy="3944687"/>
        </p:xfrm>
        <a:graphic>
          <a:graphicData uri="http://schemas.openxmlformats.org/drawingml/2006/table">
            <a:tbl>
              <a:tblPr>
                <a:tableStyleId>{5C22544A-7EE6-4342-B048-85BDC9FD1C3A}</a:tableStyleId>
              </a:tblPr>
              <a:tblGrid>
                <a:gridCol w="1841500">
                  <a:extLst>
                    <a:ext uri="{9D8B030D-6E8A-4147-A177-3AD203B41FA5}">
                      <a16:colId xmlns:a16="http://schemas.microsoft.com/office/drawing/2014/main" val="20000"/>
                    </a:ext>
                  </a:extLst>
                </a:gridCol>
                <a:gridCol w="11303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2184400">
                  <a:extLst>
                    <a:ext uri="{9D8B030D-6E8A-4147-A177-3AD203B41FA5}">
                      <a16:colId xmlns:a16="http://schemas.microsoft.com/office/drawing/2014/main" val="20003"/>
                    </a:ext>
                  </a:extLst>
                </a:gridCol>
              </a:tblGrid>
              <a:tr h="0">
                <a:tc>
                  <a:txBody>
                    <a:bodyPr/>
                    <a:lstStyle/>
                    <a:p>
                      <a:pPr>
                        <a:lnSpc>
                          <a:spcPct val="128000"/>
                        </a:lnSpc>
                      </a:pPr>
                      <a:r>
                        <a:rPr sz="1000" b="1" spc="60">
                          <a:solidFill>
                            <a:srgbClr val="50017D"/>
                          </a:solidFill>
                          <a:latin typeface="Arial"/>
                        </a:rPr>
                        <a:t>LEVER</a:t>
                      </a:r>
                    </a:p>
                  </a:txBody>
                  <a:tcPr marL="0" marR="88900" marT="69850" marB="69850" anchor="b">
                    <a:lnB w="12700" cap="flat" cmpd="sng" algn="ctr">
                      <a:solidFill>
                        <a:srgbClr val="50017D"/>
                      </a:solidFill>
                    </a:lnB>
                    <a:noFill/>
                  </a:tcPr>
                </a:tc>
                <a:tc>
                  <a:txBody>
                    <a:bodyPr/>
                    <a:lstStyle/>
                    <a:p>
                      <a:pPr>
                        <a:lnSpc>
                          <a:spcPct val="128000"/>
                        </a:lnSpc>
                      </a:pPr>
                      <a:r>
                        <a:rPr sz="1000" b="1" spc="60">
                          <a:solidFill>
                            <a:srgbClr val="50017D"/>
                          </a:solidFill>
                          <a:latin typeface="Arial"/>
                        </a:rPr>
                        <a:t>RAISES THE CEILING?</a:t>
                      </a:r>
                    </a:p>
                  </a:txBody>
                  <a:tcPr marL="44450" marR="88900" marT="69850" marB="69850" anchor="b">
                    <a:lnB w="12700" cap="flat" cmpd="sng" algn="ctr">
                      <a:solidFill>
                        <a:srgbClr val="50017D"/>
                      </a:solidFill>
                    </a:lnB>
                    <a:noFill/>
                  </a:tcPr>
                </a:tc>
                <a:tc>
                  <a:txBody>
                    <a:bodyPr/>
                    <a:lstStyle/>
                    <a:p>
                      <a:pPr>
                        <a:lnSpc>
                          <a:spcPct val="128000"/>
                        </a:lnSpc>
                      </a:pPr>
                      <a:r>
                        <a:rPr sz="1000" b="1" spc="60">
                          <a:solidFill>
                            <a:srgbClr val="50017D"/>
                          </a:solidFill>
                          <a:latin typeface="Arial"/>
                        </a:rPr>
                        <a:t>WHAT IT CHANGES</a:t>
                      </a:r>
                    </a:p>
                  </a:txBody>
                  <a:tcPr marL="44450" marR="88900" marT="69850" marB="69850" anchor="b">
                    <a:lnB w="12700" cap="flat" cmpd="sng" algn="ctr">
                      <a:solidFill>
                        <a:srgbClr val="50017D"/>
                      </a:solidFill>
                    </a:lnB>
                    <a:noFill/>
                  </a:tcPr>
                </a:tc>
                <a:tc>
                  <a:txBody>
                    <a:bodyPr/>
                    <a:lstStyle/>
                    <a:p>
                      <a:pPr>
                        <a:lnSpc>
                          <a:spcPct val="128000"/>
                        </a:lnSpc>
                      </a:pPr>
                      <a:r>
                        <a:rPr sz="1000" b="1" spc="60">
                          <a:solidFill>
                            <a:srgbClr val="50017D"/>
                          </a:solidFill>
                          <a:latin typeface="Arial"/>
                        </a:rPr>
                        <a:t>MANAGEMENT IMPLICATION</a:t>
                      </a:r>
                    </a:p>
                  </a:txBody>
                  <a:tcPr marL="44450" marR="88900" marT="69850" marB="69850" anchor="b">
                    <a:lnB w="12700" cap="flat" cmpd="sng" algn="ctr">
                      <a:solidFill>
                        <a:srgbClr val="50017D"/>
                      </a:solidFill>
                    </a:lnB>
                    <a:noFill/>
                  </a:tcPr>
                </a:tc>
                <a:extLst>
                  <a:ext uri="{0D108BD9-81ED-4DB2-BD59-A6C34878D82A}">
                    <a16:rowId xmlns:a16="http://schemas.microsoft.com/office/drawing/2014/main" val="10000"/>
                  </a:ext>
                </a:extLst>
              </a:tr>
              <a:tr h="0">
                <a:tc>
                  <a:txBody>
                    <a:bodyPr/>
                    <a:lstStyle/>
                    <a:p>
                      <a:pPr>
                        <a:lnSpc>
                          <a:spcPct val="128000"/>
                        </a:lnSpc>
                      </a:pPr>
                      <a:r>
                        <a:rPr sz="1100" b="1">
                          <a:solidFill>
                            <a:srgbClr val="50017D"/>
                          </a:solidFill>
                          <a:latin typeface="Arial"/>
                        </a:rPr>
                        <a:t>Preparation before the clock opens</a:t>
                      </a:r>
                    </a:p>
                  </a:txBody>
                  <a:tcPr marL="0" marR="88900" marT="82550" marB="82550">
                    <a:lnT w="12700" cap="flat" cmpd="sng" algn="ctr">
                      <a:solidFill>
                        <a:srgbClr val="50017D"/>
                      </a:solidFill>
                      <a:prstDash val="solid"/>
                      <a:round/>
                      <a:headEnd type="none" w="med" len="med"/>
                      <a:tailEnd type="none" w="med" len="med"/>
                    </a:lnT>
                    <a:lnB w="6350" cap="flat" cmpd="sng" algn="ctr">
                      <a:solidFill>
                        <a:srgbClr val="E8E0F0"/>
                      </a:solidFill>
                    </a:lnB>
                    <a:solidFill>
                      <a:srgbClr val="F3EDF9"/>
                    </a:solidFill>
                  </a:tcPr>
                </a:tc>
                <a:tc>
                  <a:txBody>
                    <a:bodyPr/>
                    <a:lstStyle/>
                    <a:p>
                      <a:pPr>
                        <a:lnSpc>
                          <a:spcPct val="128000"/>
                        </a:lnSpc>
                      </a:pPr>
                      <a:r>
                        <a:rPr sz="1100" b="1">
                          <a:solidFill>
                            <a:srgbClr val="50017D"/>
                          </a:solidFill>
                          <a:latin typeface="Arial"/>
                        </a:rPr>
                        <a:t>Yes</a:t>
                      </a:r>
                    </a:p>
                  </a:txBody>
                  <a:tcPr marL="44450" marR="88900" marT="82550" marB="82550">
                    <a:lnT w="12700" cap="flat" cmpd="sng" algn="ctr">
                      <a:solidFill>
                        <a:srgbClr val="50017D"/>
                      </a:solidFill>
                      <a:prstDash val="solid"/>
                      <a:round/>
                      <a:headEnd type="none" w="med" len="med"/>
                      <a:tailEnd type="none" w="med" len="med"/>
                    </a:lnT>
                    <a:lnB w="6350" cap="flat" cmpd="sng" algn="ctr">
                      <a:solidFill>
                        <a:srgbClr val="E8E0F0"/>
                      </a:solidFill>
                    </a:lnB>
                    <a:solidFill>
                      <a:srgbClr val="F3EDF9"/>
                    </a:solidFill>
                  </a:tcPr>
                </a:tc>
                <a:tc>
                  <a:txBody>
                    <a:bodyPr/>
                    <a:lstStyle/>
                    <a:p>
                      <a:pPr>
                        <a:lnSpc>
                          <a:spcPct val="128000"/>
                        </a:lnSpc>
                      </a:pPr>
                      <a:r>
                        <a:rPr sz="1100" b="0">
                          <a:solidFill>
                            <a:srgbClr val="50017D"/>
                          </a:solidFill>
                          <a:latin typeface="Arial"/>
                        </a:rPr>
                        <a:t>Creates usable time</a:t>
                      </a:r>
                    </a:p>
                  </a:txBody>
                  <a:tcPr marL="44450" marR="88900" marT="82550" marB="82550">
                    <a:lnT w="12700" cap="flat" cmpd="sng" algn="ctr">
                      <a:solidFill>
                        <a:srgbClr val="50017D"/>
                      </a:solidFill>
                      <a:prstDash val="solid"/>
                      <a:round/>
                      <a:headEnd type="none" w="med" len="med"/>
                      <a:tailEnd type="none" w="med" len="med"/>
                    </a:lnT>
                    <a:lnB w="6350" cap="flat" cmpd="sng" algn="ctr">
                      <a:solidFill>
                        <a:srgbClr val="E8E0F0"/>
                      </a:solidFill>
                    </a:lnB>
                    <a:solidFill>
                      <a:srgbClr val="F3EDF9"/>
                    </a:solidFill>
                  </a:tcPr>
                </a:tc>
                <a:tc>
                  <a:txBody>
                    <a:bodyPr/>
                    <a:lstStyle/>
                    <a:p>
                      <a:pPr>
                        <a:lnSpc>
                          <a:spcPct val="128000"/>
                        </a:lnSpc>
                      </a:pPr>
                      <a:r>
                        <a:rPr sz="1100" b="1">
                          <a:solidFill>
                            <a:srgbClr val="50017D"/>
                          </a:solidFill>
                          <a:latin typeface="Arial"/>
                        </a:rPr>
                        <a:t>The primary intervention</a:t>
                      </a:r>
                    </a:p>
                  </a:txBody>
                  <a:tcPr marL="44450" marR="88900" marT="82550" marB="82550">
                    <a:lnT w="12700" cap="flat" cmpd="sng" algn="ctr">
                      <a:solidFill>
                        <a:srgbClr val="50017D"/>
                      </a:solidFill>
                      <a:prstDash val="solid"/>
                      <a:round/>
                      <a:headEnd type="none" w="med" len="med"/>
                      <a:tailEnd type="none" w="med" len="med"/>
                    </a:lnT>
                    <a:lnB w="6350" cap="flat" cmpd="sng" algn="ctr">
                      <a:solidFill>
                        <a:srgbClr val="E8E0F0"/>
                      </a:solidFill>
                    </a:lnB>
                    <a:solidFill>
                      <a:srgbClr val="F3EDF9"/>
                    </a:solidFill>
                  </a:tcPr>
                </a:tc>
                <a:extLst>
                  <a:ext uri="{0D108BD9-81ED-4DB2-BD59-A6C34878D82A}">
                    <a16:rowId xmlns:a16="http://schemas.microsoft.com/office/drawing/2014/main" val="10001"/>
                  </a:ext>
                </a:extLst>
              </a:tr>
              <a:tr h="0">
                <a:tc>
                  <a:txBody>
                    <a:bodyPr/>
                    <a:lstStyle/>
                    <a:p>
                      <a:pPr>
                        <a:lnSpc>
                          <a:spcPct val="128000"/>
                        </a:lnSpc>
                      </a:pPr>
                      <a:r>
                        <a:rPr sz="1100" b="1">
                          <a:solidFill>
                            <a:srgbClr val="1F0E33"/>
                          </a:solidFill>
                          <a:latin typeface="Arial"/>
                        </a:rPr>
                        <a:t>Pharmacy queue, notification to start</a:t>
                      </a:r>
                    </a:p>
                  </a:txBody>
                  <a:tcPr marL="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Partly</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Rescues borderline moderate cases</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Prioritise after notification</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2"/>
                  </a:ext>
                </a:extLst>
              </a:tr>
              <a:tr h="0">
                <a:tc>
                  <a:txBody>
                    <a:bodyPr/>
                    <a:lstStyle/>
                    <a:p>
                      <a:pPr>
                        <a:lnSpc>
                          <a:spcPct val="128000"/>
                        </a:lnSpc>
                      </a:pPr>
                      <a:r>
                        <a:rPr sz="1100" b="1">
                          <a:solidFill>
                            <a:srgbClr val="1F0E33"/>
                          </a:solidFill>
                          <a:latin typeface="Arial"/>
                        </a:rPr>
                        <a:t>Hand-over gap, clock to notification</a:t>
                      </a:r>
                    </a:p>
                  </a:txBody>
                  <a:tcPr marL="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Limited</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Reduces lateness most, by 498 days</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Improve jointly, but do not rely on it alone</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3"/>
                  </a:ext>
                </a:extLst>
              </a:tr>
              <a:tr h="0">
                <a:tc>
                  <a:txBody>
                    <a:bodyPr/>
                    <a:lstStyle/>
                    <a:p>
                      <a:pPr>
                        <a:lnSpc>
                          <a:spcPct val="128000"/>
                        </a:lnSpc>
                      </a:pPr>
                      <a:r>
                        <a:rPr sz="1100" b="1">
                          <a:solidFill>
                            <a:srgbClr val="1F0E33"/>
                          </a:solidFill>
                          <a:latin typeface="Arial"/>
                        </a:rPr>
                        <a:t>Set-ups opened per month</a:t>
                      </a:r>
                    </a:p>
                  </a:txBody>
                  <a:tcPr marL="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1">
                          <a:solidFill>
                            <a:srgbClr val="1F0E33"/>
                          </a:solidFill>
                          <a:latin typeface="Arial"/>
                        </a:rPr>
                        <a:t>No</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Reduces lateness only</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Do not justify this as an on-time intervention</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4"/>
                  </a:ext>
                </a:extLst>
              </a:tr>
              <a:tr h="0">
                <a:tc>
                  <a:txBody>
                    <a:bodyPr/>
                    <a:lstStyle/>
                    <a:p>
                      <a:pPr>
                        <a:lnSpc>
                          <a:spcPct val="128000"/>
                        </a:lnSpc>
                      </a:pPr>
                      <a:r>
                        <a:rPr sz="1100" b="1">
                          <a:solidFill>
                            <a:srgbClr val="1F0E33"/>
                          </a:solidFill>
                          <a:latin typeface="Arial"/>
                        </a:rPr>
                        <a:t>Optimised selection</a:t>
                      </a:r>
                    </a:p>
                  </a:txBody>
                  <a:tcPr marL="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Limited</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Helps only under very tight capacity</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Decision support, not the root-cause solution</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5"/>
                  </a:ext>
                </a:extLst>
              </a:tr>
              <a:tr h="0">
                <a:tc>
                  <a:txBody>
                    <a:bodyPr/>
                    <a:lstStyle/>
                    <a:p>
                      <a:pPr>
                        <a:lnSpc>
                          <a:spcPct val="128000"/>
                        </a:lnSpc>
                      </a:pPr>
                      <a:r>
                        <a:rPr sz="1100" b="1">
                          <a:solidFill>
                            <a:srgbClr val="1F0E33"/>
                          </a:solidFill>
                          <a:latin typeface="Arial"/>
                        </a:rPr>
                        <a:t>Hands-on days per approval</a:t>
                      </a:r>
                    </a:p>
                  </a:txBody>
                  <a:tcPr marL="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Uncertain</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Can become binding if slow</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Measure it before operationalising the planner</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6"/>
                  </a:ext>
                </a:extLst>
              </a:tr>
            </a:tbl>
          </a:graphicData>
        </a:graphic>
      </p:graphicFrame>
      <p:pic>
        <p:nvPicPr>
          <p:cNvPr id="7" name="Picture 6" descr="fig5_6_flat_panels_v3.png"/>
          <p:cNvPicPr>
            <a:picLocks noChangeAspect="1"/>
          </p:cNvPicPr>
          <p:nvPr/>
        </p:nvPicPr>
        <p:blipFill>
          <a:blip r:embed="rId3"/>
          <a:stretch>
            <a:fillRect/>
          </a:stretch>
        </p:blipFill>
        <p:spPr>
          <a:xfrm>
            <a:off x="7834086" y="1394333"/>
            <a:ext cx="4167444" cy="1892502"/>
          </a:xfrm>
          <a:prstGeom prst="rect">
            <a:avLst/>
          </a:prstGeom>
        </p:spPr>
      </p:pic>
      <p:sp>
        <p:nvSpPr>
          <p:cNvPr id="8" name="TextBox 7"/>
          <p:cNvSpPr txBox="1"/>
          <p:nvPr/>
        </p:nvSpPr>
        <p:spPr>
          <a:xfrm>
            <a:off x="8089898" y="3438657"/>
            <a:ext cx="3708400" cy="147989"/>
          </a:xfrm>
          <a:prstGeom prst="rect">
            <a:avLst/>
          </a:prstGeom>
          <a:noFill/>
        </p:spPr>
        <p:txBody>
          <a:bodyPr wrap="square" lIns="0" tIns="0" rIns="0" bIns="0" anchor="t">
            <a:spAutoFit/>
          </a:bodyPr>
          <a:lstStyle/>
          <a:p>
            <a:pPr algn="l">
              <a:lnSpc>
                <a:spcPct val="135000"/>
              </a:lnSpc>
            </a:pPr>
            <a:r>
              <a:rPr sz="800" b="0" dirty="0">
                <a:solidFill>
                  <a:srgbClr val="9D8FB0"/>
                </a:solidFill>
                <a:latin typeface="Arial"/>
              </a:rPr>
              <a:t>Figure G.2 — flat across the whole range</a:t>
            </a:r>
          </a:p>
        </p:txBody>
      </p:sp>
      <p:sp>
        <p:nvSpPr>
          <p:cNvPr id="9" name="Rectangle 8"/>
          <p:cNvSpPr/>
          <p:nvPr/>
        </p:nvSpPr>
        <p:spPr>
          <a:xfrm>
            <a:off x="7950199" y="3714605"/>
            <a:ext cx="3987799" cy="1524000"/>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8089900" y="3885502"/>
            <a:ext cx="3760479" cy="1059201"/>
          </a:xfrm>
          <a:prstGeom prst="rect">
            <a:avLst/>
          </a:prstGeom>
          <a:noFill/>
        </p:spPr>
        <p:txBody>
          <a:bodyPr wrap="square" lIns="0" tIns="0" rIns="0" bIns="0" anchor="t">
            <a:spAutoFit/>
          </a:bodyPr>
          <a:lstStyle/>
          <a:p>
            <a:pPr>
              <a:lnSpc>
                <a:spcPct val="134000"/>
              </a:lnSpc>
            </a:pPr>
            <a:r>
              <a:rPr sz="1050" b="0" dirty="0">
                <a:solidFill>
                  <a:srgbClr val="3F3350"/>
                </a:solidFill>
                <a:latin typeface="Arial"/>
              </a:rPr>
              <a:t>The approval signature </a:t>
            </a:r>
            <a:r>
              <a:rPr lang="en-US" sz="1050" dirty="0">
                <a:solidFill>
                  <a:srgbClr val="3F3350"/>
                </a:solidFill>
                <a:latin typeface="Arial"/>
              </a:rPr>
              <a:t>isn't binding under the assumed workload, and we don't measure that input anywhere.</a:t>
            </a:r>
            <a:r>
              <a:rPr sz="1050" b="0" dirty="0">
                <a:solidFill>
                  <a:srgbClr val="3F3350"/>
                </a:solidFill>
                <a:latin typeface="Arial"/>
              </a:rPr>
              <a:t> At 1.5 hands-on </a:t>
            </a:r>
            <a:r>
              <a:rPr lang="en-US" sz="1050" dirty="0">
                <a:solidFill>
                  <a:srgbClr val="3F3350"/>
                </a:solidFill>
                <a:latin typeface="Arial"/>
              </a:rPr>
              <a:t>days,</a:t>
            </a:r>
            <a:r>
              <a:rPr sz="1050" b="0" dirty="0">
                <a:solidFill>
                  <a:srgbClr val="3F3350"/>
                </a:solidFill>
                <a:latin typeface="Arial"/>
              </a:rPr>
              <a:t> the expected wait reaches 48.5 days with six commitments; at three days, 97 days with only three. Which is why recording it sits </a:t>
            </a:r>
            <a:r>
              <a:rPr lang="en-US" sz="1050" dirty="0">
                <a:solidFill>
                  <a:srgbClr val="3F3350"/>
                </a:solidFill>
                <a:latin typeface="Arial"/>
              </a:rPr>
              <a:t>on</a:t>
            </a:r>
            <a:r>
              <a:rPr sz="1050" b="0" dirty="0">
                <a:solidFill>
                  <a:srgbClr val="3F3350"/>
                </a:solidFill>
                <a:latin typeface="Arial"/>
              </a:rPr>
              <a:t> the roadmap.</a:t>
            </a:r>
          </a:p>
        </p:txBody>
      </p:sp>
      <p:sp>
        <p:nvSpPr>
          <p:cNvPr id="11" name="Rectangle 10"/>
          <p:cNvSpPr/>
          <p:nvPr/>
        </p:nvSpPr>
        <p:spPr>
          <a:xfrm>
            <a:off x="558800" y="5516452"/>
            <a:ext cx="360680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558800" y="5605352"/>
            <a:ext cx="3606800" cy="381000"/>
          </a:xfrm>
          <a:prstGeom prst="rect">
            <a:avLst/>
          </a:prstGeom>
          <a:noFill/>
        </p:spPr>
        <p:txBody>
          <a:bodyPr wrap="square" lIns="0" tIns="0" rIns="0" bIns="0" anchor="t">
            <a:spAutoFit/>
          </a:bodyPr>
          <a:lstStyle/>
          <a:p>
            <a:pPr algn="l">
              <a:lnSpc>
                <a:spcPct val="100000"/>
              </a:lnSpc>
            </a:pPr>
            <a:r>
              <a:rPr sz="1900" b="1">
                <a:solidFill>
                  <a:srgbClr val="50017D"/>
                </a:solidFill>
                <a:latin typeface="Arial"/>
              </a:rPr>
              <a:t>9 → 17</a:t>
            </a:r>
          </a:p>
        </p:txBody>
      </p:sp>
      <p:sp>
        <p:nvSpPr>
          <p:cNvPr id="13" name="TextBox 12"/>
          <p:cNvSpPr txBox="1"/>
          <p:nvPr/>
        </p:nvSpPr>
        <p:spPr>
          <a:xfrm>
            <a:off x="558800" y="5831158"/>
            <a:ext cx="3606800" cy="1016000"/>
          </a:xfrm>
          <a:prstGeom prst="rect">
            <a:avLst/>
          </a:prstGeom>
          <a:noFill/>
        </p:spPr>
        <p:txBody>
          <a:bodyPr wrap="square" lIns="0" tIns="0" rIns="0" bIns="0" anchor="t">
            <a:spAutoFit/>
          </a:bodyPr>
          <a:lstStyle/>
          <a:p>
            <a:pPr algn="l">
              <a:lnSpc>
                <a:spcPct val="132000"/>
              </a:lnSpc>
            </a:pPr>
            <a:r>
              <a:rPr sz="1150" b="0">
                <a:solidFill>
                  <a:srgbClr val="3F3350"/>
                </a:solidFill>
                <a:latin typeface="Arial"/>
              </a:rPr>
              <a:t>months with at least one on-time trial, of 25, when a 30-day preparation lead is given</a:t>
            </a:r>
          </a:p>
        </p:txBody>
      </p:sp>
      <p:sp>
        <p:nvSpPr>
          <p:cNvPr id="14" name="Rectangle 13"/>
          <p:cNvSpPr/>
          <p:nvPr/>
        </p:nvSpPr>
        <p:spPr>
          <a:xfrm>
            <a:off x="4445000" y="5516451"/>
            <a:ext cx="3175000" cy="18000"/>
          </a:xfrm>
          <a:prstGeom prst="rect">
            <a:avLst/>
          </a:prstGeom>
          <a:solidFill>
            <a:srgbClr val="C9A3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4445000" y="5605352"/>
            <a:ext cx="3606800" cy="381000"/>
          </a:xfrm>
          <a:prstGeom prst="rect">
            <a:avLst/>
          </a:prstGeom>
          <a:noFill/>
        </p:spPr>
        <p:txBody>
          <a:bodyPr wrap="square" lIns="0" tIns="0" rIns="0" bIns="0" anchor="t">
            <a:spAutoFit/>
          </a:bodyPr>
          <a:lstStyle/>
          <a:p>
            <a:pPr algn="l">
              <a:lnSpc>
                <a:spcPct val="100000"/>
              </a:lnSpc>
            </a:pPr>
            <a:r>
              <a:rPr sz="1900" b="1">
                <a:solidFill>
                  <a:srgbClr val="50017D"/>
                </a:solidFill>
                <a:latin typeface="Arial"/>
              </a:rPr>
              <a:t>+5</a:t>
            </a:r>
          </a:p>
        </p:txBody>
      </p:sp>
      <p:sp>
        <p:nvSpPr>
          <p:cNvPr id="16" name="TextBox 15"/>
          <p:cNvSpPr txBox="1"/>
          <p:nvPr/>
        </p:nvSpPr>
        <p:spPr>
          <a:xfrm>
            <a:off x="4445000" y="5831158"/>
            <a:ext cx="3606800" cy="1016000"/>
          </a:xfrm>
          <a:prstGeom prst="rect">
            <a:avLst/>
          </a:prstGeom>
          <a:noFill/>
        </p:spPr>
        <p:txBody>
          <a:bodyPr wrap="square" lIns="0" tIns="0" rIns="0" bIns="0" anchor="t">
            <a:spAutoFit/>
          </a:bodyPr>
          <a:lstStyle/>
          <a:p>
            <a:pPr algn="l">
              <a:lnSpc>
                <a:spcPct val="132000"/>
              </a:lnSpc>
            </a:pPr>
            <a:r>
              <a:rPr sz="1150" b="0">
                <a:solidFill>
                  <a:srgbClr val="3F3350"/>
                </a:solidFill>
                <a:latin typeface="Arial"/>
              </a:rPr>
              <a:t>further decision points gain an on-time completion when the pharmacy queue is shortened</a:t>
            </a:r>
          </a:p>
        </p:txBody>
      </p:sp>
      <p:sp>
        <p:nvSpPr>
          <p:cNvPr id="17" name="Rectangle 16"/>
          <p:cNvSpPr/>
          <p:nvPr/>
        </p:nvSpPr>
        <p:spPr>
          <a:xfrm flipV="1">
            <a:off x="7950200" y="5516449"/>
            <a:ext cx="3987800" cy="18000"/>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8048393" y="5605352"/>
            <a:ext cx="3606800" cy="381000"/>
          </a:xfrm>
          <a:prstGeom prst="rect">
            <a:avLst/>
          </a:prstGeom>
          <a:noFill/>
        </p:spPr>
        <p:txBody>
          <a:bodyPr wrap="square" lIns="0" tIns="0" rIns="0" bIns="0" anchor="t">
            <a:spAutoFit/>
          </a:bodyPr>
          <a:lstStyle/>
          <a:p>
            <a:pPr algn="l">
              <a:lnSpc>
                <a:spcPct val="100000"/>
              </a:lnSpc>
            </a:pPr>
            <a:r>
              <a:rPr sz="1900" b="1" dirty="0">
                <a:solidFill>
                  <a:srgbClr val="50017D"/>
                </a:solidFill>
                <a:latin typeface="Arial"/>
              </a:rPr>
              <a:t>0 of 25</a:t>
            </a:r>
          </a:p>
        </p:txBody>
      </p:sp>
      <p:sp>
        <p:nvSpPr>
          <p:cNvPr id="19" name="TextBox 18"/>
          <p:cNvSpPr txBox="1"/>
          <p:nvPr/>
        </p:nvSpPr>
        <p:spPr>
          <a:xfrm>
            <a:off x="8048393" y="5831158"/>
            <a:ext cx="3606800" cy="1016000"/>
          </a:xfrm>
          <a:prstGeom prst="rect">
            <a:avLst/>
          </a:prstGeom>
          <a:noFill/>
        </p:spPr>
        <p:txBody>
          <a:bodyPr wrap="square" lIns="0" tIns="0" rIns="0" bIns="0" anchor="t">
            <a:spAutoFit/>
          </a:bodyPr>
          <a:lstStyle/>
          <a:p>
            <a:pPr algn="l">
              <a:lnSpc>
                <a:spcPct val="132000"/>
              </a:lnSpc>
            </a:pPr>
            <a:r>
              <a:rPr sz="1150" b="0">
                <a:solidFill>
                  <a:srgbClr val="3F3350"/>
                </a:solidFill>
                <a:latin typeface="Arial"/>
              </a:rPr>
              <a:t>decision points gain an on-time completion from opening more set-ups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5_6_flat_panels_v3.png">
            <a:extLst>
              <a:ext uri="{FF2B5EF4-FFF2-40B4-BE49-F238E27FC236}">
                <a16:creationId xmlns:a16="http://schemas.microsoft.com/office/drawing/2014/main" id="{FB14CFC2-12DC-0DA8-13B0-07C37B71222B}"/>
              </a:ext>
            </a:extLst>
          </p:cNvPr>
          <p:cNvPicPr>
            <a:picLocks noChangeAspect="1"/>
          </p:cNvPicPr>
          <p:nvPr/>
        </p:nvPicPr>
        <p:blipFill>
          <a:blip r:embed="rId2"/>
          <a:stretch>
            <a:fillRect/>
          </a:stretch>
        </p:blipFill>
        <p:spPr>
          <a:xfrm>
            <a:off x="413586" y="1080269"/>
            <a:ext cx="11364828" cy="4697461"/>
          </a:xfrm>
          <a:prstGeom prst="rect">
            <a:avLst/>
          </a:prstGeom>
        </p:spPr>
      </p:pic>
    </p:spTree>
    <p:extLst>
      <p:ext uri="{BB962C8B-B14F-4D97-AF65-F5344CB8AC3E}">
        <p14:creationId xmlns:p14="http://schemas.microsoft.com/office/powerpoint/2010/main" val="1087490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ACT 3 · WHAT CHANGES THE OUTCOME</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07</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800100"/>
            <a:ext cx="11049000" cy="1270000"/>
          </a:xfrm>
          <a:prstGeom prst="rect">
            <a:avLst/>
          </a:prstGeom>
          <a:noFill/>
        </p:spPr>
        <p:txBody>
          <a:bodyPr wrap="square" lIns="0" tIns="0" rIns="0" bIns="0" anchor="t">
            <a:spAutoFit/>
          </a:bodyPr>
          <a:lstStyle/>
          <a:p>
            <a:pPr algn="l">
              <a:lnSpc>
                <a:spcPct val="116000"/>
              </a:lnSpc>
            </a:pPr>
            <a:r>
              <a:rPr sz="2200" b="1">
                <a:solidFill>
                  <a:srgbClr val="1F0E33"/>
                </a:solidFill>
                <a:latin typeface="Arial"/>
              </a:rPr>
              <a:t>Preparation is the only tested lever that creates time rather than redistributing it</a:t>
            </a:r>
          </a:p>
        </p:txBody>
      </p:sp>
      <p:sp>
        <p:nvSpPr>
          <p:cNvPr id="6" name="Rectangle 5"/>
          <p:cNvSpPr/>
          <p:nvPr/>
        </p:nvSpPr>
        <p:spPr>
          <a:xfrm>
            <a:off x="584200" y="1490050"/>
            <a:ext cx="2108200" cy="19050"/>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84200" y="1604350"/>
            <a:ext cx="2108200" cy="381000"/>
          </a:xfrm>
          <a:prstGeom prst="rect">
            <a:avLst/>
          </a:prstGeom>
          <a:noFill/>
        </p:spPr>
        <p:txBody>
          <a:bodyPr wrap="square" lIns="0" tIns="0" rIns="0" bIns="0" anchor="t">
            <a:spAutoFit/>
          </a:bodyPr>
          <a:lstStyle/>
          <a:p>
            <a:pPr algn="l">
              <a:lnSpc>
                <a:spcPct val="100000"/>
              </a:lnSpc>
            </a:pPr>
            <a:r>
              <a:rPr sz="2100" b="1">
                <a:solidFill>
                  <a:srgbClr val="9D8FB0"/>
                </a:solidFill>
                <a:latin typeface="Arial"/>
              </a:rPr>
              <a:t>11</a:t>
            </a:r>
          </a:p>
        </p:txBody>
      </p:sp>
      <p:sp>
        <p:nvSpPr>
          <p:cNvPr id="8" name="TextBox 7"/>
          <p:cNvSpPr txBox="1"/>
          <p:nvPr/>
        </p:nvSpPr>
        <p:spPr>
          <a:xfrm>
            <a:off x="584200" y="1972650"/>
            <a:ext cx="2108200" cy="762000"/>
          </a:xfrm>
          <a:prstGeom prst="rect">
            <a:avLst/>
          </a:prstGeom>
          <a:noFill/>
        </p:spPr>
        <p:txBody>
          <a:bodyPr wrap="square" lIns="0" tIns="0" rIns="0" bIns="0" anchor="t">
            <a:spAutoFit/>
          </a:bodyPr>
          <a:lstStyle/>
          <a:p>
            <a:pPr algn="l">
              <a:lnSpc>
                <a:spcPct val="130000"/>
              </a:lnSpc>
            </a:pPr>
            <a:r>
              <a:rPr sz="1100" b="0">
                <a:solidFill>
                  <a:srgbClr val="3F3350"/>
                </a:solidFill>
                <a:latin typeface="Arial"/>
              </a:rPr>
              <a:t>months of 25 reach one on-time trial at a 10-day lead</a:t>
            </a:r>
          </a:p>
        </p:txBody>
      </p:sp>
      <p:sp>
        <p:nvSpPr>
          <p:cNvPr id="9" name="Rectangle 8"/>
          <p:cNvSpPr/>
          <p:nvPr/>
        </p:nvSpPr>
        <p:spPr>
          <a:xfrm>
            <a:off x="2857500" y="1490050"/>
            <a:ext cx="2108200" cy="19050"/>
          </a:xfrm>
          <a:prstGeom prst="rect">
            <a:avLst/>
          </a:prstGeom>
          <a:solidFill>
            <a:srgbClr val="C9A3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2857500" y="1604350"/>
            <a:ext cx="2108200" cy="381000"/>
          </a:xfrm>
          <a:prstGeom prst="rect">
            <a:avLst/>
          </a:prstGeom>
          <a:noFill/>
        </p:spPr>
        <p:txBody>
          <a:bodyPr wrap="square" lIns="0" tIns="0" rIns="0" bIns="0" anchor="t">
            <a:spAutoFit/>
          </a:bodyPr>
          <a:lstStyle/>
          <a:p>
            <a:pPr algn="l">
              <a:lnSpc>
                <a:spcPct val="100000"/>
              </a:lnSpc>
            </a:pPr>
            <a:r>
              <a:rPr sz="2100" b="1">
                <a:solidFill>
                  <a:srgbClr val="7B2D9F"/>
                </a:solidFill>
                <a:latin typeface="Arial"/>
              </a:rPr>
              <a:t>17</a:t>
            </a:r>
          </a:p>
        </p:txBody>
      </p:sp>
      <p:sp>
        <p:nvSpPr>
          <p:cNvPr id="11" name="TextBox 10"/>
          <p:cNvSpPr txBox="1"/>
          <p:nvPr/>
        </p:nvSpPr>
        <p:spPr>
          <a:xfrm>
            <a:off x="2857500" y="1972650"/>
            <a:ext cx="2108200" cy="762000"/>
          </a:xfrm>
          <a:prstGeom prst="rect">
            <a:avLst/>
          </a:prstGeom>
          <a:noFill/>
        </p:spPr>
        <p:txBody>
          <a:bodyPr wrap="square" lIns="0" tIns="0" rIns="0" bIns="0" anchor="t">
            <a:spAutoFit/>
          </a:bodyPr>
          <a:lstStyle/>
          <a:p>
            <a:pPr algn="l">
              <a:lnSpc>
                <a:spcPct val="130000"/>
              </a:lnSpc>
            </a:pPr>
            <a:r>
              <a:rPr sz="1100" b="0">
                <a:solidFill>
                  <a:srgbClr val="3F3350"/>
                </a:solidFill>
                <a:latin typeface="Arial"/>
              </a:rPr>
              <a:t>at a 30-day lead — against a baseline of 9</a:t>
            </a:r>
          </a:p>
        </p:txBody>
      </p:sp>
      <p:sp>
        <p:nvSpPr>
          <p:cNvPr id="12" name="Rectangle 11"/>
          <p:cNvSpPr/>
          <p:nvPr/>
        </p:nvSpPr>
        <p:spPr>
          <a:xfrm>
            <a:off x="5130800" y="1490050"/>
            <a:ext cx="210820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5130800" y="1604350"/>
            <a:ext cx="2108200" cy="381000"/>
          </a:xfrm>
          <a:prstGeom prst="rect">
            <a:avLst/>
          </a:prstGeom>
          <a:noFill/>
        </p:spPr>
        <p:txBody>
          <a:bodyPr wrap="square" lIns="0" tIns="0" rIns="0" bIns="0" anchor="t">
            <a:spAutoFit/>
          </a:bodyPr>
          <a:lstStyle/>
          <a:p>
            <a:pPr algn="l">
              <a:lnSpc>
                <a:spcPct val="100000"/>
              </a:lnSpc>
            </a:pPr>
            <a:r>
              <a:rPr sz="2100" b="1">
                <a:solidFill>
                  <a:srgbClr val="50017D"/>
                </a:solidFill>
                <a:latin typeface="Arial"/>
              </a:rPr>
              <a:t>20</a:t>
            </a:r>
          </a:p>
        </p:txBody>
      </p:sp>
      <p:sp>
        <p:nvSpPr>
          <p:cNvPr id="14" name="TextBox 13"/>
          <p:cNvSpPr txBox="1"/>
          <p:nvPr/>
        </p:nvSpPr>
        <p:spPr>
          <a:xfrm>
            <a:off x="5130800" y="1972650"/>
            <a:ext cx="2108200" cy="762000"/>
          </a:xfrm>
          <a:prstGeom prst="rect">
            <a:avLst/>
          </a:prstGeom>
          <a:noFill/>
        </p:spPr>
        <p:txBody>
          <a:bodyPr wrap="square" lIns="0" tIns="0" rIns="0" bIns="0" anchor="t">
            <a:spAutoFit/>
          </a:bodyPr>
          <a:lstStyle/>
          <a:p>
            <a:pPr algn="l">
              <a:lnSpc>
                <a:spcPct val="130000"/>
              </a:lnSpc>
            </a:pPr>
            <a:r>
              <a:rPr sz="1100" b="0">
                <a:solidFill>
                  <a:srgbClr val="3F3350"/>
                </a:solidFill>
                <a:latin typeface="Arial"/>
              </a:rPr>
              <a:t>at a 60-day lead</a:t>
            </a:r>
          </a:p>
        </p:txBody>
      </p:sp>
      <p:grpSp>
        <p:nvGrpSpPr>
          <p:cNvPr id="27" name="Group 26">
            <a:extLst>
              <a:ext uri="{FF2B5EF4-FFF2-40B4-BE49-F238E27FC236}">
                <a16:creationId xmlns:a16="http://schemas.microsoft.com/office/drawing/2014/main" id="{198DA817-6F11-D163-E567-EA23262DFD64}"/>
              </a:ext>
            </a:extLst>
          </p:cNvPr>
          <p:cNvGrpSpPr/>
          <p:nvPr/>
        </p:nvGrpSpPr>
        <p:grpSpPr>
          <a:xfrm>
            <a:off x="584200" y="2772344"/>
            <a:ext cx="6502400" cy="3168650"/>
            <a:chOff x="584200" y="2993725"/>
            <a:chExt cx="6502400" cy="3168650"/>
          </a:xfrm>
        </p:grpSpPr>
        <p:sp>
          <p:nvSpPr>
            <p:cNvPr id="15" name="TextBox 14"/>
            <p:cNvSpPr txBox="1"/>
            <p:nvPr/>
          </p:nvSpPr>
          <p:spPr>
            <a:xfrm>
              <a:off x="584200" y="2993725"/>
              <a:ext cx="165100" cy="254000"/>
            </a:xfrm>
            <a:prstGeom prst="rect">
              <a:avLst/>
            </a:prstGeom>
            <a:noFill/>
          </p:spPr>
          <p:txBody>
            <a:bodyPr wrap="square" lIns="0" tIns="0" rIns="0" bIns="0" anchor="t">
              <a:spAutoFit/>
            </a:bodyPr>
            <a:lstStyle/>
            <a:p>
              <a:pPr algn="l">
                <a:lnSpc>
                  <a:spcPct val="135000"/>
                </a:lnSpc>
              </a:pPr>
              <a:r>
                <a:rPr sz="1200" b="0">
                  <a:solidFill>
                    <a:srgbClr val="50017D"/>
                  </a:solidFill>
                  <a:latin typeface="Arial"/>
                </a:rPr>
                <a:t>—</a:t>
              </a:r>
            </a:p>
          </p:txBody>
        </p:sp>
        <p:sp>
          <p:nvSpPr>
            <p:cNvPr id="16" name="TextBox 15"/>
            <p:cNvSpPr txBox="1"/>
            <p:nvPr/>
          </p:nvSpPr>
          <p:spPr>
            <a:xfrm>
              <a:off x="800100" y="2993725"/>
              <a:ext cx="6286500" cy="1905000"/>
            </a:xfrm>
            <a:prstGeom prst="rect">
              <a:avLst/>
            </a:prstGeom>
            <a:noFill/>
          </p:spPr>
          <p:txBody>
            <a:bodyPr wrap="square" lIns="0" tIns="0" rIns="0" bIns="0" anchor="t">
              <a:spAutoFit/>
            </a:bodyPr>
            <a:lstStyle/>
            <a:p>
              <a:pPr algn="l">
                <a:lnSpc>
                  <a:spcPct val="140000"/>
                </a:lnSpc>
              </a:pPr>
              <a:r>
                <a:rPr sz="1200" b="0" dirty="0">
                  <a:solidFill>
                    <a:srgbClr val="1F0E33"/>
                  </a:solidFill>
                  <a:latin typeface="Arial"/>
                </a:rPr>
                <a:t>Two on-time trials are harder: no month reaches two below 10 days of lead, seven reach it at 30 days and twelve at 60. Three occur in one month at 30 days and two at 60.</a:t>
              </a:r>
            </a:p>
          </p:txBody>
        </p:sp>
        <p:sp>
          <p:nvSpPr>
            <p:cNvPr id="17" name="TextBox 16"/>
            <p:cNvSpPr txBox="1"/>
            <p:nvPr/>
          </p:nvSpPr>
          <p:spPr>
            <a:xfrm>
              <a:off x="584200" y="3730325"/>
              <a:ext cx="165100" cy="254000"/>
            </a:xfrm>
            <a:prstGeom prst="rect">
              <a:avLst/>
            </a:prstGeom>
            <a:noFill/>
          </p:spPr>
          <p:txBody>
            <a:bodyPr wrap="square" lIns="0" tIns="0" rIns="0" bIns="0" anchor="t">
              <a:spAutoFit/>
            </a:bodyPr>
            <a:lstStyle/>
            <a:p>
              <a:pPr algn="l">
                <a:lnSpc>
                  <a:spcPct val="135000"/>
                </a:lnSpc>
              </a:pPr>
              <a:r>
                <a:rPr sz="1200" b="0">
                  <a:solidFill>
                    <a:srgbClr val="50017D"/>
                  </a:solidFill>
                  <a:latin typeface="Arial"/>
                </a:rPr>
                <a:t>—</a:t>
              </a:r>
            </a:p>
          </p:txBody>
        </p:sp>
        <p:sp>
          <p:nvSpPr>
            <p:cNvPr id="18" name="TextBox 17"/>
            <p:cNvSpPr txBox="1"/>
            <p:nvPr/>
          </p:nvSpPr>
          <p:spPr>
            <a:xfrm>
              <a:off x="800100" y="3730325"/>
              <a:ext cx="6286500" cy="1905000"/>
            </a:xfrm>
            <a:prstGeom prst="rect">
              <a:avLst/>
            </a:prstGeom>
            <a:noFill/>
          </p:spPr>
          <p:txBody>
            <a:bodyPr wrap="square" lIns="0" tIns="0" rIns="0" bIns="0" anchor="t">
              <a:spAutoFit/>
            </a:bodyPr>
            <a:lstStyle/>
            <a:p>
              <a:pPr algn="l">
                <a:lnSpc>
                  <a:spcPct val="140000"/>
                </a:lnSpc>
              </a:pPr>
              <a:r>
                <a:rPr sz="1200" b="0">
                  <a:solidFill>
                    <a:srgbClr val="1F0E33"/>
                  </a:solidFill>
                  <a:latin typeface="Arial"/>
                </a:rPr>
                <a:t>Every other setting redistributes days inside the window. Preparation adds days </a:t>
              </a:r>
              <a:r>
                <a:rPr sz="1200" b="1">
                  <a:solidFill>
                    <a:srgbClr val="50017D"/>
                  </a:solidFill>
                  <a:latin typeface="Arial"/>
                </a:rPr>
                <a:t>before it opens</a:t>
              </a:r>
              <a:r>
                <a:rPr sz="1200" b="0">
                  <a:solidFill>
                    <a:srgbClr val="1F0E33"/>
                  </a:solidFill>
                  <a:latin typeface="Arial"/>
                </a:rPr>
                <a:t>, which is why it is the only one that moves the ceiling.</a:t>
              </a:r>
            </a:p>
          </p:txBody>
        </p:sp>
        <p:sp>
          <p:nvSpPr>
            <p:cNvPr id="19" name="TextBox 18"/>
            <p:cNvSpPr txBox="1"/>
            <p:nvPr/>
          </p:nvSpPr>
          <p:spPr>
            <a:xfrm>
              <a:off x="584200" y="4257375"/>
              <a:ext cx="165100" cy="254000"/>
            </a:xfrm>
            <a:prstGeom prst="rect">
              <a:avLst/>
            </a:prstGeom>
            <a:noFill/>
          </p:spPr>
          <p:txBody>
            <a:bodyPr wrap="square" lIns="0" tIns="0" rIns="0" bIns="0" anchor="t">
              <a:spAutoFit/>
            </a:bodyPr>
            <a:lstStyle/>
            <a:p>
              <a:pPr algn="l">
                <a:lnSpc>
                  <a:spcPct val="135000"/>
                </a:lnSpc>
              </a:pPr>
              <a:r>
                <a:rPr sz="1200" b="0">
                  <a:solidFill>
                    <a:srgbClr val="50017D"/>
                  </a:solidFill>
                  <a:latin typeface="Arial"/>
                </a:rPr>
                <a:t>—</a:t>
              </a:r>
            </a:p>
          </p:txBody>
        </p:sp>
        <p:sp>
          <p:nvSpPr>
            <p:cNvPr id="20" name="TextBox 19"/>
            <p:cNvSpPr txBox="1"/>
            <p:nvPr/>
          </p:nvSpPr>
          <p:spPr>
            <a:xfrm>
              <a:off x="800100" y="4257375"/>
              <a:ext cx="6286500" cy="1905000"/>
            </a:xfrm>
            <a:prstGeom prst="rect">
              <a:avLst/>
            </a:prstGeom>
            <a:noFill/>
          </p:spPr>
          <p:txBody>
            <a:bodyPr wrap="square" lIns="0" tIns="0" rIns="0" bIns="0" anchor="t">
              <a:spAutoFit/>
            </a:bodyPr>
            <a:lstStyle/>
            <a:p>
              <a:pPr algn="l">
                <a:lnSpc>
                  <a:spcPct val="140000"/>
                </a:lnSpc>
              </a:pPr>
              <a:r>
                <a:rPr sz="1200" b="0">
                  <a:solidFill>
                    <a:srgbClr val="1F0E33"/>
                  </a:solidFill>
                  <a:latin typeface="Arial"/>
                </a:rPr>
                <a:t>The first rescue is cheap; each further one costs more lead than the last.</a:t>
              </a:r>
            </a:p>
          </p:txBody>
        </p:sp>
      </p:grpSp>
      <p:sp>
        <p:nvSpPr>
          <p:cNvPr id="21" name="Rectangle 20"/>
          <p:cNvSpPr/>
          <p:nvPr/>
        </p:nvSpPr>
        <p:spPr>
          <a:xfrm>
            <a:off x="584199" y="4538561"/>
            <a:ext cx="3491189" cy="1624684"/>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711199" y="4677345"/>
            <a:ext cx="3257485" cy="1214884"/>
          </a:xfrm>
          <a:prstGeom prst="rect">
            <a:avLst/>
          </a:prstGeom>
          <a:noFill/>
        </p:spPr>
        <p:txBody>
          <a:bodyPr wrap="square" lIns="0" tIns="0" rIns="0" bIns="0" anchor="t">
            <a:spAutoFit/>
          </a:bodyPr>
          <a:lstStyle/>
          <a:p>
            <a:pPr>
              <a:lnSpc>
                <a:spcPct val="134000"/>
              </a:lnSpc>
            </a:pPr>
            <a:r>
              <a:rPr sz="1000" b="1" dirty="0">
                <a:solidFill>
                  <a:srgbClr val="50017D"/>
                </a:solidFill>
                <a:latin typeface="Arial"/>
              </a:rPr>
              <a:t>Caveat. </a:t>
            </a:r>
            <a:r>
              <a:rPr sz="1000" b="1" dirty="0">
                <a:solidFill>
                  <a:srgbClr val="3F3350"/>
                </a:solidFill>
                <a:latin typeface="Arial"/>
              </a:rPr>
              <a:t>The base model does not charge pre-window preparation against the commitment limit</a:t>
            </a:r>
            <a:r>
              <a:rPr sz="1000" b="0" dirty="0">
                <a:solidFill>
                  <a:srgbClr val="3F3350"/>
                </a:solidFill>
                <a:latin typeface="Arial"/>
              </a:rPr>
              <a:t>, so it may overstate the benefit. Tested under reduced capacity, preparation still increases the </a:t>
            </a:r>
            <a:r>
              <a:rPr lang="en-US" sz="1000" dirty="0">
                <a:solidFill>
                  <a:srgbClr val="3F3350"/>
                </a:solidFill>
                <a:latin typeface="Arial"/>
              </a:rPr>
              <a:t>number of months with at least one on-time completion, although the three-trial result disappears with</a:t>
            </a:r>
            <a:r>
              <a:rPr sz="1000" b="0" dirty="0">
                <a:solidFill>
                  <a:srgbClr val="3F3350"/>
                </a:solidFill>
                <a:latin typeface="Arial"/>
              </a:rPr>
              <a:t> two </a:t>
            </a:r>
            <a:r>
              <a:rPr lang="en-US" sz="1000" dirty="0">
                <a:solidFill>
                  <a:srgbClr val="3F3350"/>
                </a:solidFill>
                <a:latin typeface="Arial"/>
              </a:rPr>
              <a:t>setups.</a:t>
            </a:r>
            <a:endParaRPr sz="1000" b="0" dirty="0">
              <a:solidFill>
                <a:srgbClr val="3F3350"/>
              </a:solidFill>
              <a:latin typeface="Arial"/>
            </a:endParaRPr>
          </a:p>
        </p:txBody>
      </p:sp>
      <p:sp>
        <p:nvSpPr>
          <p:cNvPr id="23" name="Rectangle 22"/>
          <p:cNvSpPr/>
          <p:nvPr/>
        </p:nvSpPr>
        <p:spPr>
          <a:xfrm>
            <a:off x="4202388" y="4538561"/>
            <a:ext cx="2884211" cy="1624684"/>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4392888" y="4677345"/>
            <a:ext cx="2564223" cy="1008674"/>
          </a:xfrm>
          <a:prstGeom prst="rect">
            <a:avLst/>
          </a:prstGeom>
          <a:noFill/>
        </p:spPr>
        <p:txBody>
          <a:bodyPr wrap="square" lIns="0" tIns="0" rIns="0" bIns="0" anchor="t">
            <a:spAutoFit/>
          </a:bodyPr>
          <a:lstStyle/>
          <a:p>
            <a:pPr algn="l">
              <a:lnSpc>
                <a:spcPct val="134000"/>
              </a:lnSpc>
            </a:pPr>
            <a:r>
              <a:rPr sz="1000" b="1" dirty="0">
                <a:solidFill>
                  <a:srgbClr val="50017D"/>
                </a:solidFill>
                <a:latin typeface="Arial"/>
              </a:rPr>
              <a:t>The honest limit. </a:t>
            </a:r>
            <a:r>
              <a:rPr sz="1000" b="0" dirty="0">
                <a:solidFill>
                  <a:srgbClr val="3F3350"/>
                </a:solidFill>
                <a:latin typeface="Arial"/>
              </a:rPr>
              <a:t>What a queue can reach is set by its own composition. Across the whole range tested, the February 2025 queue never passes two. That ceiling belongs to the queue rather than to any lever.</a:t>
            </a:r>
          </a:p>
        </p:txBody>
      </p:sp>
      <p:pic>
        <p:nvPicPr>
          <p:cNvPr id="25" name="Picture 24" descr="fig5_7_preparation_surface.png"/>
          <p:cNvPicPr>
            <a:picLocks noChangeAspect="1"/>
          </p:cNvPicPr>
          <p:nvPr/>
        </p:nvPicPr>
        <p:blipFill>
          <a:blip r:embed="rId3"/>
          <a:srcRect l="19745" r="12350"/>
          <a:stretch>
            <a:fillRect/>
          </a:stretch>
        </p:blipFill>
        <p:spPr>
          <a:xfrm>
            <a:off x="7404100" y="1858469"/>
            <a:ext cx="4622800" cy="462376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ACT 3 · WHAT CHANGES THE OUTCOME</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08</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800100"/>
            <a:ext cx="11049000" cy="1270000"/>
          </a:xfrm>
          <a:prstGeom prst="rect">
            <a:avLst/>
          </a:prstGeom>
          <a:noFill/>
        </p:spPr>
        <p:txBody>
          <a:bodyPr wrap="square" lIns="0" tIns="0" rIns="0" bIns="0" anchor="t">
            <a:spAutoFit/>
          </a:bodyPr>
          <a:lstStyle/>
          <a:p>
            <a:pPr algn="l">
              <a:lnSpc>
                <a:spcPct val="116000"/>
              </a:lnSpc>
            </a:pPr>
            <a:r>
              <a:rPr sz="2200" b="1">
                <a:solidFill>
                  <a:srgbClr val="1F0E33"/>
                </a:solidFill>
                <a:latin typeface="Arial"/>
              </a:rPr>
              <a:t>Three on-time trials is a feasible maximum, not a reliable service commitment</a:t>
            </a:r>
          </a:p>
        </p:txBody>
      </p:sp>
      <p:sp>
        <p:nvSpPr>
          <p:cNvPr id="6" name="TextBox 5"/>
          <p:cNvSpPr txBox="1"/>
          <p:nvPr/>
        </p:nvSpPr>
        <p:spPr>
          <a:xfrm>
            <a:off x="584200" y="1701800"/>
            <a:ext cx="6350000" cy="635000"/>
          </a:xfrm>
          <a:prstGeom prst="rect">
            <a:avLst/>
          </a:prstGeom>
          <a:noFill/>
        </p:spPr>
        <p:txBody>
          <a:bodyPr wrap="square" lIns="0" tIns="0" rIns="0" bIns="0" anchor="t">
            <a:spAutoFit/>
          </a:bodyPr>
          <a:lstStyle/>
          <a:p>
            <a:pPr algn="l">
              <a:lnSpc>
                <a:spcPct val="142000"/>
              </a:lnSpc>
            </a:pPr>
            <a:r>
              <a:rPr sz="1250" b="0">
                <a:solidFill>
                  <a:srgbClr val="3F3350"/>
                </a:solidFill>
                <a:latin typeface="Arial"/>
              </a:rPr>
              <a:t>Each committed plan was replayed </a:t>
            </a:r>
            <a:r>
              <a:rPr sz="1250" b="1">
                <a:solidFill>
                  <a:srgbClr val="50017D"/>
                </a:solidFill>
                <a:latin typeface="Arial"/>
              </a:rPr>
              <a:t>10,000 times</a:t>
            </a:r>
            <a:r>
              <a:rPr sz="1250" b="0">
                <a:solidFill>
                  <a:srgbClr val="3F3350"/>
                </a:solidFill>
                <a:latin typeface="Arial"/>
              </a:rPr>
              <a:t> against the observed spread of set-up durations. On the synthetic standing queue, the plan that promises three delivers:</a:t>
            </a:r>
          </a:p>
        </p:txBody>
      </p:sp>
      <p:sp>
        <p:nvSpPr>
          <p:cNvPr id="7" name="TextBox 6"/>
          <p:cNvSpPr txBox="1"/>
          <p:nvPr/>
        </p:nvSpPr>
        <p:spPr>
          <a:xfrm>
            <a:off x="584200" y="2489200"/>
            <a:ext cx="1143000" cy="254000"/>
          </a:xfrm>
          <a:prstGeom prst="rect">
            <a:avLst/>
          </a:prstGeom>
          <a:noFill/>
        </p:spPr>
        <p:txBody>
          <a:bodyPr wrap="square" lIns="0" tIns="0" rIns="0" bIns="0" anchor="ctr">
            <a:spAutoFit/>
          </a:bodyPr>
          <a:lstStyle/>
          <a:p>
            <a:pPr algn="l">
              <a:lnSpc>
                <a:spcPct val="135000"/>
              </a:lnSpc>
            </a:pPr>
            <a:r>
              <a:rPr sz="1100" b="1">
                <a:solidFill>
                  <a:srgbClr val="1F0E33"/>
                </a:solidFill>
                <a:latin typeface="Arial"/>
              </a:rPr>
              <a:t>Three on time</a:t>
            </a:r>
          </a:p>
        </p:txBody>
      </p:sp>
      <p:sp>
        <p:nvSpPr>
          <p:cNvPr id="8" name="Rectangle 7"/>
          <p:cNvSpPr/>
          <p:nvPr/>
        </p:nvSpPr>
        <p:spPr>
          <a:xfrm>
            <a:off x="1854200" y="2489200"/>
            <a:ext cx="3556000" cy="254000"/>
          </a:xfrm>
          <a:prstGeom prst="rect">
            <a:avLst/>
          </a:prstGeom>
          <a:solidFill>
            <a:srgbClr val="F3ED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1854200" y="2489200"/>
            <a:ext cx="1159256" cy="25400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5537200" y="2489200"/>
            <a:ext cx="762000" cy="254000"/>
          </a:xfrm>
          <a:prstGeom prst="rect">
            <a:avLst/>
          </a:prstGeom>
          <a:noFill/>
        </p:spPr>
        <p:txBody>
          <a:bodyPr wrap="square" lIns="0" tIns="0" rIns="0" bIns="0" anchor="ctr">
            <a:spAutoFit/>
          </a:bodyPr>
          <a:lstStyle/>
          <a:p>
            <a:pPr algn="r">
              <a:lnSpc>
                <a:spcPct val="135000"/>
              </a:lnSpc>
            </a:pPr>
            <a:r>
              <a:rPr sz="1300" b="1">
                <a:solidFill>
                  <a:srgbClr val="50017D"/>
                </a:solidFill>
                <a:latin typeface="Arial"/>
              </a:rPr>
              <a:t>32.6%</a:t>
            </a:r>
          </a:p>
        </p:txBody>
      </p:sp>
      <p:sp>
        <p:nvSpPr>
          <p:cNvPr id="11" name="TextBox 10"/>
          <p:cNvSpPr txBox="1"/>
          <p:nvPr/>
        </p:nvSpPr>
        <p:spPr>
          <a:xfrm>
            <a:off x="584200" y="2832100"/>
            <a:ext cx="1143000" cy="254000"/>
          </a:xfrm>
          <a:prstGeom prst="rect">
            <a:avLst/>
          </a:prstGeom>
          <a:noFill/>
        </p:spPr>
        <p:txBody>
          <a:bodyPr wrap="square" lIns="0" tIns="0" rIns="0" bIns="0" anchor="ctr">
            <a:spAutoFit/>
          </a:bodyPr>
          <a:lstStyle/>
          <a:p>
            <a:pPr algn="l">
              <a:lnSpc>
                <a:spcPct val="135000"/>
              </a:lnSpc>
            </a:pPr>
            <a:r>
              <a:rPr sz="1100" b="1" dirty="0">
                <a:solidFill>
                  <a:srgbClr val="1F0E33"/>
                </a:solidFill>
                <a:latin typeface="Arial"/>
              </a:rPr>
              <a:t>Two on time</a:t>
            </a:r>
          </a:p>
        </p:txBody>
      </p:sp>
      <p:sp>
        <p:nvSpPr>
          <p:cNvPr id="12" name="Rectangle 11"/>
          <p:cNvSpPr/>
          <p:nvPr/>
        </p:nvSpPr>
        <p:spPr>
          <a:xfrm>
            <a:off x="1854200" y="2832100"/>
            <a:ext cx="3556000" cy="254000"/>
          </a:xfrm>
          <a:prstGeom prst="rect">
            <a:avLst/>
          </a:prstGeom>
          <a:solidFill>
            <a:srgbClr val="F3ED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1854200" y="2832100"/>
            <a:ext cx="1724660" cy="254000"/>
          </a:xfrm>
          <a:prstGeom prst="rect">
            <a:avLst/>
          </a:prstGeom>
          <a:solidFill>
            <a:srgbClr val="7B2D9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5537200" y="2832100"/>
            <a:ext cx="762000" cy="254000"/>
          </a:xfrm>
          <a:prstGeom prst="rect">
            <a:avLst/>
          </a:prstGeom>
          <a:noFill/>
        </p:spPr>
        <p:txBody>
          <a:bodyPr wrap="square" lIns="0" tIns="0" rIns="0" bIns="0" anchor="ctr">
            <a:spAutoFit/>
          </a:bodyPr>
          <a:lstStyle/>
          <a:p>
            <a:pPr algn="r">
              <a:lnSpc>
                <a:spcPct val="135000"/>
              </a:lnSpc>
            </a:pPr>
            <a:r>
              <a:rPr sz="1300" b="1">
                <a:solidFill>
                  <a:srgbClr val="7B2D9F"/>
                </a:solidFill>
                <a:latin typeface="Arial"/>
              </a:rPr>
              <a:t>48.5%</a:t>
            </a:r>
          </a:p>
        </p:txBody>
      </p:sp>
      <p:sp>
        <p:nvSpPr>
          <p:cNvPr id="15" name="TextBox 14"/>
          <p:cNvSpPr txBox="1"/>
          <p:nvPr/>
        </p:nvSpPr>
        <p:spPr>
          <a:xfrm>
            <a:off x="584200" y="3566510"/>
            <a:ext cx="6311900" cy="498598"/>
          </a:xfrm>
          <a:prstGeom prst="rect">
            <a:avLst/>
          </a:prstGeom>
          <a:noFill/>
        </p:spPr>
        <p:txBody>
          <a:bodyPr wrap="square" lIns="0" tIns="0" rIns="0" bIns="0" anchor="t">
            <a:spAutoFit/>
          </a:bodyPr>
          <a:lstStyle/>
          <a:p>
            <a:pPr>
              <a:lnSpc>
                <a:spcPct val="140000"/>
              </a:lnSpc>
            </a:pPr>
            <a:r>
              <a:rPr lang="en-US" sz="1200" dirty="0">
                <a:solidFill>
                  <a:srgbClr val="1F0E33"/>
                </a:solidFill>
                <a:latin typeface="Arial"/>
              </a:rPr>
              <a:t>Committing to 3 studies simultaneously, the test indicates that </a:t>
            </a:r>
            <a:r>
              <a:rPr lang="en-US" sz="1200" b="1" dirty="0">
                <a:solidFill>
                  <a:srgbClr val="50017D"/>
                </a:solidFill>
                <a:latin typeface="Arial"/>
              </a:rPr>
              <a:t>at least a 90% </a:t>
            </a:r>
            <a:r>
              <a:rPr lang="en-US" sz="1200" dirty="0">
                <a:solidFill>
                  <a:srgbClr val="1F0E33"/>
                </a:solidFill>
                <a:latin typeface="Arial"/>
              </a:rPr>
              <a:t>chance of delivering </a:t>
            </a:r>
            <a:r>
              <a:rPr lang="en-US" sz="1200" b="1" dirty="0">
                <a:solidFill>
                  <a:srgbClr val="50017D"/>
                </a:solidFill>
                <a:latin typeface="Arial"/>
              </a:rPr>
              <a:t>at least 1 study </a:t>
            </a:r>
            <a:r>
              <a:rPr lang="en-US" sz="1200" dirty="0">
                <a:solidFill>
                  <a:srgbClr val="1F0E33"/>
                </a:solidFill>
                <a:latin typeface="Arial"/>
              </a:rPr>
              <a:t>on time </a:t>
            </a:r>
            <a:endParaRPr lang="th-TH" sz="1200" dirty="0">
              <a:solidFill>
                <a:srgbClr val="1F0E33"/>
              </a:solidFill>
              <a:latin typeface="Arial"/>
            </a:endParaRPr>
          </a:p>
        </p:txBody>
      </p:sp>
      <p:sp>
        <p:nvSpPr>
          <p:cNvPr id="16" name="Rectangle 15"/>
          <p:cNvSpPr/>
          <p:nvPr/>
        </p:nvSpPr>
        <p:spPr>
          <a:xfrm>
            <a:off x="584200" y="4222413"/>
            <a:ext cx="38100" cy="82550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a:off x="622300" y="4222413"/>
            <a:ext cx="6311900" cy="825500"/>
          </a:xfrm>
          <a:prstGeom prst="rect">
            <a:avLst/>
          </a:prstGeom>
          <a:solidFill>
            <a:srgbClr val="F3ED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812800" y="4362113"/>
            <a:ext cx="5969000" cy="635000"/>
          </a:xfrm>
          <a:prstGeom prst="rect">
            <a:avLst/>
          </a:prstGeom>
          <a:noFill/>
        </p:spPr>
        <p:txBody>
          <a:bodyPr wrap="square" lIns="0" tIns="0" rIns="0" bIns="0" anchor="t">
            <a:spAutoFit/>
          </a:bodyPr>
          <a:lstStyle/>
          <a:p>
            <a:pPr algn="l">
              <a:lnSpc>
                <a:spcPct val="134000"/>
              </a:lnSpc>
            </a:pPr>
            <a:r>
              <a:rPr sz="1300" b="1" dirty="0">
                <a:solidFill>
                  <a:srgbClr val="1F0E33"/>
                </a:solidFill>
                <a:latin typeface="Arial"/>
              </a:rPr>
              <a:t>Agree a confidence threshold, and commit to the count the service can hold at it — not to the maximum the deterministic model reports.</a:t>
            </a:r>
          </a:p>
        </p:txBody>
      </p:sp>
      <p:sp>
        <p:nvSpPr>
          <p:cNvPr id="19" name="TextBox 18"/>
          <p:cNvSpPr txBox="1"/>
          <p:nvPr/>
        </p:nvSpPr>
        <p:spPr>
          <a:xfrm>
            <a:off x="584200" y="5276513"/>
            <a:ext cx="165100" cy="254000"/>
          </a:xfrm>
          <a:prstGeom prst="rect">
            <a:avLst/>
          </a:prstGeom>
          <a:noFill/>
        </p:spPr>
        <p:txBody>
          <a:bodyPr wrap="square" lIns="0" tIns="0" rIns="0" bIns="0" anchor="t">
            <a:spAutoFit/>
          </a:bodyPr>
          <a:lstStyle/>
          <a:p>
            <a:pPr algn="l">
              <a:lnSpc>
                <a:spcPct val="135000"/>
              </a:lnSpc>
            </a:pPr>
            <a:r>
              <a:rPr sz="1100" b="0">
                <a:solidFill>
                  <a:srgbClr val="50017D"/>
                </a:solidFill>
                <a:latin typeface="Arial"/>
              </a:rPr>
              <a:t>—</a:t>
            </a:r>
          </a:p>
        </p:txBody>
      </p:sp>
      <p:sp>
        <p:nvSpPr>
          <p:cNvPr id="20" name="TextBox 19"/>
          <p:cNvSpPr txBox="1"/>
          <p:nvPr/>
        </p:nvSpPr>
        <p:spPr>
          <a:xfrm>
            <a:off x="800100" y="5276513"/>
            <a:ext cx="6134100" cy="446854"/>
          </a:xfrm>
          <a:prstGeom prst="rect">
            <a:avLst/>
          </a:prstGeom>
          <a:noFill/>
        </p:spPr>
        <p:txBody>
          <a:bodyPr wrap="square" lIns="0" tIns="0" rIns="0" bIns="0" anchor="t">
            <a:spAutoFit/>
          </a:bodyPr>
          <a:lstStyle/>
          <a:p>
            <a:pPr algn="l">
              <a:lnSpc>
                <a:spcPct val="140000"/>
              </a:lnSpc>
            </a:pPr>
            <a:r>
              <a:rPr sz="1100" b="0" dirty="0">
                <a:solidFill>
                  <a:srgbClr val="6B5B7E"/>
                </a:solidFill>
                <a:latin typeface="Arial"/>
              </a:rPr>
              <a:t>Where a margin is smaller than the observed spread of durations, the result is a tie-break rather than a finding. A one-day lateness label carries no information.</a:t>
            </a:r>
            <a:r>
              <a:rPr lang="en-US" sz="1100" b="0" dirty="0">
                <a:solidFill>
                  <a:srgbClr val="6B5B7E"/>
                </a:solidFill>
                <a:latin typeface="Arial"/>
              </a:rPr>
              <a:t> </a:t>
            </a:r>
            <a:endParaRPr sz="1100" b="0" dirty="0">
              <a:solidFill>
                <a:srgbClr val="6B5B7E"/>
              </a:solidFill>
              <a:latin typeface="Arial"/>
            </a:endParaRPr>
          </a:p>
        </p:txBody>
      </p:sp>
      <p:sp>
        <p:nvSpPr>
          <p:cNvPr id="21" name="TextBox 20"/>
          <p:cNvSpPr txBox="1"/>
          <p:nvPr/>
        </p:nvSpPr>
        <p:spPr>
          <a:xfrm>
            <a:off x="584200" y="5752763"/>
            <a:ext cx="165100" cy="254000"/>
          </a:xfrm>
          <a:prstGeom prst="rect">
            <a:avLst/>
          </a:prstGeom>
          <a:noFill/>
        </p:spPr>
        <p:txBody>
          <a:bodyPr wrap="square" lIns="0" tIns="0" rIns="0" bIns="0" anchor="t">
            <a:spAutoFit/>
          </a:bodyPr>
          <a:lstStyle/>
          <a:p>
            <a:pPr algn="l">
              <a:lnSpc>
                <a:spcPct val="135000"/>
              </a:lnSpc>
            </a:pPr>
            <a:r>
              <a:rPr sz="1100" b="0">
                <a:solidFill>
                  <a:srgbClr val="50017D"/>
                </a:solidFill>
                <a:latin typeface="Arial"/>
              </a:rPr>
              <a:t>—</a:t>
            </a:r>
          </a:p>
        </p:txBody>
      </p:sp>
      <p:sp>
        <p:nvSpPr>
          <p:cNvPr id="22" name="TextBox 21"/>
          <p:cNvSpPr txBox="1"/>
          <p:nvPr/>
        </p:nvSpPr>
        <p:spPr>
          <a:xfrm>
            <a:off x="800100" y="5752763"/>
            <a:ext cx="6134100" cy="446854"/>
          </a:xfrm>
          <a:prstGeom prst="rect">
            <a:avLst/>
          </a:prstGeom>
          <a:noFill/>
        </p:spPr>
        <p:txBody>
          <a:bodyPr wrap="square" lIns="0" tIns="0" rIns="0" bIns="0" anchor="t">
            <a:spAutoFit/>
          </a:bodyPr>
          <a:lstStyle/>
          <a:p>
            <a:pPr>
              <a:lnSpc>
                <a:spcPct val="140000"/>
              </a:lnSpc>
            </a:pPr>
            <a:r>
              <a:rPr sz="1100" b="0" dirty="0">
                <a:solidFill>
                  <a:srgbClr val="6B5B7E"/>
                </a:solidFill>
                <a:latin typeface="Arial"/>
              </a:rPr>
              <a:t>Every figure here understates total uncertainty, because </a:t>
            </a:r>
            <a:r>
              <a:rPr lang="en-US" sz="1100" dirty="0">
                <a:solidFill>
                  <a:srgbClr val="6B5B7E"/>
                </a:solidFill>
                <a:latin typeface="Arial"/>
              </a:rPr>
              <a:t>the approval</a:t>
            </a:r>
            <a:r>
              <a:rPr sz="1100" b="0" dirty="0">
                <a:solidFill>
                  <a:srgbClr val="6B5B7E"/>
                </a:solidFill>
                <a:latin typeface="Arial"/>
              </a:rPr>
              <a:t> wait is held at its expected value throughout.</a:t>
            </a:r>
          </a:p>
        </p:txBody>
      </p:sp>
      <p:pic>
        <p:nvPicPr>
          <p:cNvPr id="23" name="Picture 22" descr="fig5_4_plan_uncertainty.png"/>
          <p:cNvPicPr>
            <a:picLocks noChangeAspect="1"/>
          </p:cNvPicPr>
          <p:nvPr/>
        </p:nvPicPr>
        <p:blipFill>
          <a:blip r:embed="rId3"/>
          <a:stretch>
            <a:fillRect/>
          </a:stretch>
        </p:blipFill>
        <p:spPr>
          <a:xfrm>
            <a:off x="7218310" y="1905000"/>
            <a:ext cx="4777220" cy="2882901"/>
          </a:xfrm>
          <a:prstGeom prst="rect">
            <a:avLst/>
          </a:prstGeom>
        </p:spPr>
      </p:pic>
      <p:sp>
        <p:nvSpPr>
          <p:cNvPr id="24" name="TextBox 23"/>
          <p:cNvSpPr txBox="1"/>
          <p:nvPr/>
        </p:nvSpPr>
        <p:spPr>
          <a:xfrm>
            <a:off x="7218310" y="4952663"/>
            <a:ext cx="4572000" cy="190500"/>
          </a:xfrm>
          <a:prstGeom prst="rect">
            <a:avLst/>
          </a:prstGeom>
          <a:noFill/>
        </p:spPr>
        <p:txBody>
          <a:bodyPr wrap="square" lIns="0" tIns="0" rIns="0" bIns="0" anchor="t">
            <a:spAutoFit/>
          </a:bodyPr>
          <a:lstStyle/>
          <a:p>
            <a:pPr algn="l">
              <a:lnSpc>
                <a:spcPct val="135000"/>
              </a:lnSpc>
            </a:pPr>
            <a:r>
              <a:rPr sz="1100" b="0">
                <a:solidFill>
                  <a:srgbClr val="9D8FB0"/>
                </a:solidFill>
                <a:latin typeface="Arial"/>
              </a:rPr>
              <a:t>Figure 5.3 — the plan's promise under duration uncertainty</a:t>
            </a:r>
          </a:p>
        </p:txBody>
      </p:sp>
      <p:sp>
        <p:nvSpPr>
          <p:cNvPr id="25" name="TextBox 24">
            <a:extLst>
              <a:ext uri="{FF2B5EF4-FFF2-40B4-BE49-F238E27FC236}">
                <a16:creationId xmlns:a16="http://schemas.microsoft.com/office/drawing/2014/main" id="{6FB4CA77-1ECE-61BB-52F4-C0CDBA931F21}"/>
              </a:ext>
            </a:extLst>
          </p:cNvPr>
          <p:cNvSpPr txBox="1"/>
          <p:nvPr/>
        </p:nvSpPr>
        <p:spPr>
          <a:xfrm>
            <a:off x="584200" y="3202580"/>
            <a:ext cx="1143000" cy="203517"/>
          </a:xfrm>
          <a:prstGeom prst="rect">
            <a:avLst/>
          </a:prstGeom>
          <a:noFill/>
        </p:spPr>
        <p:txBody>
          <a:bodyPr wrap="square" lIns="0" tIns="0" rIns="0" bIns="0" anchor="ctr">
            <a:spAutoFit/>
          </a:bodyPr>
          <a:lstStyle/>
          <a:p>
            <a:pPr algn="l">
              <a:lnSpc>
                <a:spcPct val="135000"/>
              </a:lnSpc>
            </a:pPr>
            <a:r>
              <a:rPr lang="en-US" sz="1100" b="1" dirty="0">
                <a:solidFill>
                  <a:srgbClr val="1F0E33"/>
                </a:solidFill>
                <a:latin typeface="Arial"/>
              </a:rPr>
              <a:t>O</a:t>
            </a:r>
            <a:r>
              <a:rPr sz="1100" b="1" dirty="0">
                <a:solidFill>
                  <a:srgbClr val="1F0E33"/>
                </a:solidFill>
                <a:latin typeface="Arial"/>
              </a:rPr>
              <a:t>n</a:t>
            </a:r>
            <a:r>
              <a:rPr lang="en-US" sz="1100" b="1" dirty="0">
                <a:solidFill>
                  <a:srgbClr val="1F0E33"/>
                </a:solidFill>
                <a:latin typeface="Arial"/>
              </a:rPr>
              <a:t>e</a:t>
            </a:r>
            <a:r>
              <a:rPr sz="1100" b="1" dirty="0">
                <a:solidFill>
                  <a:srgbClr val="1F0E33"/>
                </a:solidFill>
                <a:latin typeface="Arial"/>
              </a:rPr>
              <a:t> </a:t>
            </a:r>
            <a:r>
              <a:rPr lang="en-US" sz="1100" b="1" dirty="0">
                <a:solidFill>
                  <a:srgbClr val="1F0E33"/>
                </a:solidFill>
                <a:latin typeface="Arial"/>
              </a:rPr>
              <a:t>on </a:t>
            </a:r>
            <a:r>
              <a:rPr sz="1100" b="1" dirty="0">
                <a:solidFill>
                  <a:srgbClr val="1F0E33"/>
                </a:solidFill>
                <a:latin typeface="Arial"/>
              </a:rPr>
              <a:t>time</a:t>
            </a:r>
          </a:p>
        </p:txBody>
      </p:sp>
      <p:sp>
        <p:nvSpPr>
          <p:cNvPr id="26" name="Rectangle 25">
            <a:extLst>
              <a:ext uri="{FF2B5EF4-FFF2-40B4-BE49-F238E27FC236}">
                <a16:creationId xmlns:a16="http://schemas.microsoft.com/office/drawing/2014/main" id="{B547DD06-9E1C-CB53-C1F5-0359B7012C6B}"/>
              </a:ext>
            </a:extLst>
          </p:cNvPr>
          <p:cNvSpPr/>
          <p:nvPr/>
        </p:nvSpPr>
        <p:spPr>
          <a:xfrm>
            <a:off x="1854200" y="3177339"/>
            <a:ext cx="3556000" cy="254000"/>
          </a:xfrm>
          <a:prstGeom prst="rect">
            <a:avLst/>
          </a:prstGeom>
          <a:solidFill>
            <a:srgbClr val="F3ED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ectangle 26">
            <a:extLst>
              <a:ext uri="{FF2B5EF4-FFF2-40B4-BE49-F238E27FC236}">
                <a16:creationId xmlns:a16="http://schemas.microsoft.com/office/drawing/2014/main" id="{3487E0F1-6B66-7085-9EFD-E8A8FA5F3D9A}"/>
              </a:ext>
            </a:extLst>
          </p:cNvPr>
          <p:cNvSpPr/>
          <p:nvPr/>
        </p:nvSpPr>
        <p:spPr>
          <a:xfrm>
            <a:off x="1854199" y="3177339"/>
            <a:ext cx="600243" cy="254000"/>
          </a:xfrm>
          <a:prstGeom prst="rect">
            <a:avLst/>
          </a:prstGeom>
          <a:solidFill>
            <a:srgbClr val="CE96D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a:extLst>
              <a:ext uri="{FF2B5EF4-FFF2-40B4-BE49-F238E27FC236}">
                <a16:creationId xmlns:a16="http://schemas.microsoft.com/office/drawing/2014/main" id="{F883E24F-CE59-0C5B-D253-69FAC5D6D8CC}"/>
              </a:ext>
            </a:extLst>
          </p:cNvPr>
          <p:cNvSpPr txBox="1"/>
          <p:nvPr/>
        </p:nvSpPr>
        <p:spPr>
          <a:xfrm>
            <a:off x="5537200" y="3184081"/>
            <a:ext cx="762000" cy="240515"/>
          </a:xfrm>
          <a:prstGeom prst="rect">
            <a:avLst/>
          </a:prstGeom>
          <a:noFill/>
        </p:spPr>
        <p:txBody>
          <a:bodyPr wrap="square" lIns="0" tIns="0" rIns="0" bIns="0" anchor="ctr">
            <a:spAutoFit/>
          </a:bodyPr>
          <a:lstStyle/>
          <a:p>
            <a:pPr algn="r">
              <a:lnSpc>
                <a:spcPct val="135000"/>
              </a:lnSpc>
            </a:pPr>
            <a:r>
              <a:rPr lang="en-US" sz="1300" b="1" dirty="0">
                <a:solidFill>
                  <a:srgbClr val="7B2D9F"/>
                </a:solidFill>
                <a:latin typeface="Arial"/>
              </a:rPr>
              <a:t>1</a:t>
            </a:r>
            <a:r>
              <a:rPr sz="1300" b="1" dirty="0">
                <a:solidFill>
                  <a:srgbClr val="7B2D9F"/>
                </a:solidFill>
                <a:latin typeface="Arial"/>
              </a:rPr>
              <a:t>8.</a:t>
            </a:r>
            <a:r>
              <a:rPr lang="en-TH" sz="1300" b="1" dirty="0">
                <a:solidFill>
                  <a:srgbClr val="7B2D9F"/>
                </a:solidFill>
                <a:latin typeface="Arial"/>
              </a:rPr>
              <a:t>0</a:t>
            </a:r>
            <a:r>
              <a:rPr sz="1300" b="1" dirty="0">
                <a:solidFill>
                  <a:srgbClr val="7B2D9F"/>
                </a:solidFill>
                <a:latin typeface="Arial"/>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ACT 4 · WHAT TO DO</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09</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774700"/>
            <a:ext cx="11049000" cy="358753"/>
          </a:xfrm>
          <a:prstGeom prst="rect">
            <a:avLst/>
          </a:prstGeom>
          <a:noFill/>
        </p:spPr>
        <p:txBody>
          <a:bodyPr wrap="square" lIns="0" tIns="0" rIns="0" bIns="0" anchor="t">
            <a:spAutoFit/>
          </a:bodyPr>
          <a:lstStyle/>
          <a:p>
            <a:pPr algn="l">
              <a:lnSpc>
                <a:spcPct val="116000"/>
              </a:lnSpc>
            </a:pPr>
            <a:r>
              <a:rPr sz="2200" b="1" dirty="0">
                <a:solidFill>
                  <a:srgbClr val="1F0E33"/>
                </a:solidFill>
                <a:latin typeface="Arial"/>
              </a:rPr>
              <a:t>Preparation does not have to be given to every trial, and it should not be</a:t>
            </a:r>
            <a:r>
              <a:rPr lang="en-US" sz="2200" b="1" dirty="0">
                <a:solidFill>
                  <a:srgbClr val="1F0E33"/>
                </a:solidFill>
                <a:latin typeface="Arial"/>
              </a:rPr>
              <a:t> </a:t>
            </a:r>
            <a:endParaRPr sz="2200" b="1" dirty="0">
              <a:solidFill>
                <a:srgbClr val="1F0E33"/>
              </a:solidFill>
              <a:latin typeface="Arial"/>
            </a:endParaRPr>
          </a:p>
        </p:txBody>
      </p:sp>
      <p:sp>
        <p:nvSpPr>
          <p:cNvPr id="6" name="TextBox 5"/>
          <p:cNvSpPr txBox="1"/>
          <p:nvPr/>
        </p:nvSpPr>
        <p:spPr>
          <a:xfrm>
            <a:off x="558800" y="1574800"/>
            <a:ext cx="6985000" cy="215900"/>
          </a:xfrm>
          <a:prstGeom prst="rect">
            <a:avLst/>
          </a:prstGeom>
          <a:noFill/>
        </p:spPr>
        <p:txBody>
          <a:bodyPr wrap="square" lIns="0" tIns="0" rIns="0" bIns="0" anchor="t">
            <a:spAutoFit/>
          </a:bodyPr>
          <a:lstStyle/>
          <a:p>
            <a:pPr algn="l">
              <a:lnSpc>
                <a:spcPct val="135000"/>
              </a:lnSpc>
            </a:pPr>
            <a:r>
              <a:rPr sz="1100" b="0">
                <a:solidFill>
                  <a:srgbClr val="6B5B7E"/>
                </a:solidFill>
                <a:latin typeface="Arial"/>
              </a:rPr>
              <a:t>The slack each band carries inside the 60-day window, from the fastest set-up each has achieved:</a:t>
            </a:r>
          </a:p>
        </p:txBody>
      </p:sp>
      <p:graphicFrame>
        <p:nvGraphicFramePr>
          <p:cNvPr id="7" name="Table 6"/>
          <p:cNvGraphicFramePr>
            <a:graphicFrameLocks noGrp="1"/>
          </p:cNvGraphicFramePr>
          <p:nvPr>
            <p:extLst>
              <p:ext uri="{D42A27DB-BD31-4B8C-83A1-F6EECF244321}">
                <p14:modId xmlns:p14="http://schemas.microsoft.com/office/powerpoint/2010/main" val="1330411312"/>
              </p:ext>
            </p:extLst>
          </p:nvPr>
        </p:nvGraphicFramePr>
        <p:xfrm>
          <a:off x="558800" y="1879600"/>
          <a:ext cx="6985000" cy="2189228"/>
        </p:xfrm>
        <a:graphic>
          <a:graphicData uri="http://schemas.openxmlformats.org/drawingml/2006/table">
            <a:tbl>
              <a:tblPr>
                <a:tableStyleId>{5C22544A-7EE6-4342-B048-85BDC9FD1C3A}</a:tableStyleId>
              </a:tblPr>
              <a:tblGrid>
                <a:gridCol w="1701800">
                  <a:extLst>
                    <a:ext uri="{9D8B030D-6E8A-4147-A177-3AD203B41FA5}">
                      <a16:colId xmlns:a16="http://schemas.microsoft.com/office/drawing/2014/main" val="20000"/>
                    </a:ext>
                  </a:extLst>
                </a:gridCol>
                <a:gridCol w="1377749">
                  <a:extLst>
                    <a:ext uri="{9D8B030D-6E8A-4147-A177-3AD203B41FA5}">
                      <a16:colId xmlns:a16="http://schemas.microsoft.com/office/drawing/2014/main" val="20001"/>
                    </a:ext>
                  </a:extLst>
                </a:gridCol>
                <a:gridCol w="1328287">
                  <a:extLst>
                    <a:ext uri="{9D8B030D-6E8A-4147-A177-3AD203B41FA5}">
                      <a16:colId xmlns:a16="http://schemas.microsoft.com/office/drawing/2014/main" val="20002"/>
                    </a:ext>
                  </a:extLst>
                </a:gridCol>
                <a:gridCol w="2577164">
                  <a:extLst>
                    <a:ext uri="{9D8B030D-6E8A-4147-A177-3AD203B41FA5}">
                      <a16:colId xmlns:a16="http://schemas.microsoft.com/office/drawing/2014/main" val="20003"/>
                    </a:ext>
                  </a:extLst>
                </a:gridCol>
              </a:tblGrid>
              <a:tr h="0">
                <a:tc>
                  <a:txBody>
                    <a:bodyPr/>
                    <a:lstStyle/>
                    <a:p>
                      <a:pPr>
                        <a:lnSpc>
                          <a:spcPct val="128000"/>
                        </a:lnSpc>
                      </a:pPr>
                      <a:r>
                        <a:rPr sz="1000" b="1" spc="60" dirty="0">
                          <a:solidFill>
                            <a:srgbClr val="50017D"/>
                          </a:solidFill>
                          <a:latin typeface="Arial"/>
                        </a:rPr>
                        <a:t>BAND</a:t>
                      </a:r>
                    </a:p>
                  </a:txBody>
                  <a:tcPr marL="36000" marR="88900" marT="69850" marB="69850" anchor="ctr">
                    <a:lnB w="12700" cap="flat" cmpd="sng" algn="ctr">
                      <a:solidFill>
                        <a:srgbClr val="50017D"/>
                      </a:solidFill>
                    </a:lnB>
                    <a:noFill/>
                  </a:tcPr>
                </a:tc>
                <a:tc>
                  <a:txBody>
                    <a:bodyPr/>
                    <a:lstStyle/>
                    <a:p>
                      <a:pPr>
                        <a:lnSpc>
                          <a:spcPct val="128000"/>
                        </a:lnSpc>
                      </a:pPr>
                      <a:r>
                        <a:rPr sz="1000" b="1" spc="60" dirty="0">
                          <a:solidFill>
                            <a:srgbClr val="50017D"/>
                          </a:solidFill>
                          <a:latin typeface="Arial"/>
                        </a:rPr>
                        <a:t>FASTEST OBSERVED</a:t>
                      </a:r>
                    </a:p>
                  </a:txBody>
                  <a:tcPr marL="36000" marR="88900" marT="69850" marB="69850" anchor="ctr">
                    <a:lnB w="12700" cap="flat" cmpd="sng" algn="ctr">
                      <a:solidFill>
                        <a:srgbClr val="50017D"/>
                      </a:solidFill>
                    </a:lnB>
                    <a:noFill/>
                  </a:tcPr>
                </a:tc>
                <a:tc>
                  <a:txBody>
                    <a:bodyPr/>
                    <a:lstStyle/>
                    <a:p>
                      <a:pPr>
                        <a:lnSpc>
                          <a:spcPct val="128000"/>
                        </a:lnSpc>
                      </a:pPr>
                      <a:r>
                        <a:rPr sz="1000" b="1" spc="60" dirty="0">
                          <a:solidFill>
                            <a:srgbClr val="50017D"/>
                          </a:solidFill>
                          <a:latin typeface="Arial"/>
                        </a:rPr>
                        <a:t>SLACK IN THE WINDOW</a:t>
                      </a:r>
                    </a:p>
                  </a:txBody>
                  <a:tcPr marL="36000" marR="88900" marT="69850" marB="69850" anchor="ctr">
                    <a:lnB w="12700" cap="flat" cmpd="sng" algn="ctr">
                      <a:solidFill>
                        <a:srgbClr val="50017D"/>
                      </a:solidFill>
                    </a:lnB>
                    <a:noFill/>
                  </a:tcPr>
                </a:tc>
                <a:tc>
                  <a:txBody>
                    <a:bodyPr/>
                    <a:lstStyle/>
                    <a:p>
                      <a:pPr>
                        <a:lnSpc>
                          <a:spcPct val="128000"/>
                        </a:lnSpc>
                      </a:pPr>
                      <a:r>
                        <a:rPr sz="1000" b="1" spc="60" dirty="0">
                          <a:solidFill>
                            <a:srgbClr val="50017D"/>
                          </a:solidFill>
                          <a:latin typeface="Arial"/>
                        </a:rPr>
                        <a:t>ACTION</a:t>
                      </a:r>
                    </a:p>
                  </a:txBody>
                  <a:tcPr marL="36000" marR="88900" marT="69850" marB="69850" anchor="ctr">
                    <a:lnB w="12700" cap="flat" cmpd="sng" algn="ctr">
                      <a:solidFill>
                        <a:srgbClr val="50017D"/>
                      </a:solidFill>
                    </a:lnB>
                    <a:noFill/>
                  </a:tcPr>
                </a:tc>
                <a:extLst>
                  <a:ext uri="{0D108BD9-81ED-4DB2-BD59-A6C34878D82A}">
                    <a16:rowId xmlns:a16="http://schemas.microsoft.com/office/drawing/2014/main" val="10000"/>
                  </a:ext>
                </a:extLst>
              </a:tr>
              <a:tr h="0">
                <a:tc>
                  <a:txBody>
                    <a:bodyPr/>
                    <a:lstStyle/>
                    <a:p>
                      <a:pPr>
                        <a:lnSpc>
                          <a:spcPct val="128000"/>
                        </a:lnSpc>
                      </a:pPr>
                      <a:r>
                        <a:rPr sz="1100" b="1" dirty="0">
                          <a:solidFill>
                            <a:srgbClr val="1F0E33"/>
                          </a:solidFill>
                          <a:latin typeface="Arial"/>
                        </a:rPr>
                        <a:t>Low, rank 2</a:t>
                      </a:r>
                    </a:p>
                  </a:txBody>
                  <a:tcPr marL="72000" marR="88900" marT="76200" marB="76200" anchor="ctr">
                    <a:lnT w="12700" cap="flat" cmpd="sng" algn="ctr">
                      <a:solidFill>
                        <a:srgbClr val="50017D"/>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dirty="0">
                          <a:solidFill>
                            <a:srgbClr val="1F0E33"/>
                          </a:solidFill>
                          <a:latin typeface="Arial"/>
                        </a:rPr>
                        <a:t>23 days</a:t>
                      </a:r>
                    </a:p>
                  </a:txBody>
                  <a:tcPr marL="72000" marR="88900" marT="76200" marB="76200" anchor="ctr">
                    <a:lnT w="12700" cap="flat" cmpd="sng" algn="ctr">
                      <a:solidFill>
                        <a:srgbClr val="50017D"/>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dirty="0">
                          <a:solidFill>
                            <a:srgbClr val="1F0E33"/>
                          </a:solidFill>
                          <a:latin typeface="Arial"/>
                        </a:rPr>
                        <a:t>37 days</a:t>
                      </a:r>
                    </a:p>
                  </a:txBody>
                  <a:tcPr marL="72000" marR="88900" marT="76200" marB="76200" anchor="ctr">
                    <a:lnT w="12700" cap="flat" cmpd="sng" algn="ctr">
                      <a:solidFill>
                        <a:srgbClr val="50017D"/>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dirty="0">
                          <a:solidFill>
                            <a:srgbClr val="1F0E33"/>
                          </a:solidFill>
                          <a:latin typeface="Arial"/>
                        </a:rPr>
                        <a:t>Normal path — needs neither intervention</a:t>
                      </a:r>
                    </a:p>
                  </a:txBody>
                  <a:tcPr marL="72000" marR="88900" marT="76200" marB="76200" anchor="ctr">
                    <a:lnT w="12700" cap="flat" cmpd="sng" algn="ctr">
                      <a:solidFill>
                        <a:srgbClr val="50017D"/>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1"/>
                  </a:ext>
                </a:extLst>
              </a:tr>
              <a:tr h="0">
                <a:tc>
                  <a:txBody>
                    <a:bodyPr/>
                    <a:lstStyle/>
                    <a:p>
                      <a:pPr>
                        <a:lnSpc>
                          <a:spcPct val="128000"/>
                        </a:lnSpc>
                      </a:pPr>
                      <a:r>
                        <a:rPr sz="1100" b="1" dirty="0">
                          <a:solidFill>
                            <a:srgbClr val="1F0E33"/>
                          </a:solidFill>
                          <a:latin typeface="Arial"/>
                        </a:rPr>
                        <a:t>Moderate, ranks 3 to 4</a:t>
                      </a:r>
                    </a:p>
                  </a:txBody>
                  <a:tcPr marL="72000" marR="88900" marT="76200" marB="76200" anchor="ctr">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dirty="0">
                          <a:solidFill>
                            <a:srgbClr val="1F0E33"/>
                          </a:solidFill>
                          <a:latin typeface="Arial"/>
                        </a:rPr>
                        <a:t>40 days</a:t>
                      </a:r>
                    </a:p>
                  </a:txBody>
                  <a:tcPr marL="72000" marR="88900" marT="76200" marB="76200" anchor="ctr">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dirty="0">
                          <a:solidFill>
                            <a:srgbClr val="1F0E33"/>
                          </a:solidFill>
                          <a:latin typeface="Arial"/>
                        </a:rPr>
                        <a:t>20 days</a:t>
                      </a:r>
                    </a:p>
                  </a:txBody>
                  <a:tcPr marL="72000" marR="88900" marT="76200" marB="76200" anchor="ctr">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dirty="0">
                          <a:solidFill>
                            <a:srgbClr val="1F0E33"/>
                          </a:solidFill>
                          <a:latin typeface="Arial"/>
                        </a:rPr>
                        <a:t>Front of the pharmacy queue after notification</a:t>
                      </a:r>
                    </a:p>
                  </a:txBody>
                  <a:tcPr marL="72000" marR="88900" marT="76200" marB="76200" anchor="ctr">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2"/>
                  </a:ext>
                </a:extLst>
              </a:tr>
              <a:tr h="0">
                <a:tc>
                  <a:txBody>
                    <a:bodyPr/>
                    <a:lstStyle/>
                    <a:p>
                      <a:pPr>
                        <a:lnSpc>
                          <a:spcPct val="128000"/>
                        </a:lnSpc>
                      </a:pPr>
                      <a:r>
                        <a:rPr sz="1100" b="1" dirty="0">
                          <a:solidFill>
                            <a:srgbClr val="50017D"/>
                          </a:solidFill>
                          <a:latin typeface="Arial"/>
                        </a:rPr>
                        <a:t>High, ranks 5 to 6</a:t>
                      </a:r>
                    </a:p>
                  </a:txBody>
                  <a:tcPr marL="72000" marR="88900" marT="76200" marB="76200" anchor="ctr">
                    <a:lnT w="6350" cap="flat" cmpd="sng" algn="ctr">
                      <a:solidFill>
                        <a:srgbClr val="E8E0F0"/>
                      </a:solidFill>
                      <a:prstDash val="solid"/>
                      <a:round/>
                      <a:headEnd type="none" w="med" len="med"/>
                      <a:tailEnd type="none" w="med" len="med"/>
                    </a:lnT>
                    <a:lnB w="6350" cap="flat" cmpd="sng" algn="ctr">
                      <a:solidFill>
                        <a:srgbClr val="E8E0F0"/>
                      </a:solidFill>
                      <a:prstDash val="solid"/>
                      <a:round/>
                      <a:headEnd type="none" w="med" len="med"/>
                      <a:tailEnd type="none" w="med" len="med"/>
                    </a:lnB>
                    <a:solidFill>
                      <a:srgbClr val="F3EDF9"/>
                    </a:solidFill>
                  </a:tcPr>
                </a:tc>
                <a:tc>
                  <a:txBody>
                    <a:bodyPr/>
                    <a:lstStyle/>
                    <a:p>
                      <a:pPr>
                        <a:lnSpc>
                          <a:spcPct val="128000"/>
                        </a:lnSpc>
                      </a:pPr>
                      <a:r>
                        <a:rPr sz="1100" b="0">
                          <a:solidFill>
                            <a:srgbClr val="50017D"/>
                          </a:solidFill>
                          <a:latin typeface="Arial"/>
                        </a:rPr>
                        <a:t>60 days</a:t>
                      </a:r>
                    </a:p>
                  </a:txBody>
                  <a:tcPr marL="72000" marR="88900" marT="76200" marB="76200" anchor="ctr">
                    <a:lnT w="6350" cap="flat" cmpd="sng" algn="ctr">
                      <a:solidFill>
                        <a:srgbClr val="E8E0F0"/>
                      </a:solidFill>
                      <a:prstDash val="solid"/>
                      <a:round/>
                      <a:headEnd type="none" w="med" len="med"/>
                      <a:tailEnd type="none" w="med" len="med"/>
                    </a:lnT>
                    <a:lnB w="6350" cap="flat" cmpd="sng" algn="ctr">
                      <a:solidFill>
                        <a:srgbClr val="E8E0F0"/>
                      </a:solidFill>
                      <a:prstDash val="solid"/>
                      <a:round/>
                      <a:headEnd type="none" w="med" len="med"/>
                      <a:tailEnd type="none" w="med" len="med"/>
                    </a:lnB>
                    <a:solidFill>
                      <a:srgbClr val="F3EDF9"/>
                    </a:solidFill>
                  </a:tcPr>
                </a:tc>
                <a:tc>
                  <a:txBody>
                    <a:bodyPr/>
                    <a:lstStyle/>
                    <a:p>
                      <a:pPr>
                        <a:lnSpc>
                          <a:spcPct val="128000"/>
                        </a:lnSpc>
                      </a:pPr>
                      <a:r>
                        <a:rPr sz="1100" b="1" dirty="0">
                          <a:solidFill>
                            <a:srgbClr val="50017D"/>
                          </a:solidFill>
                          <a:latin typeface="Arial"/>
                        </a:rPr>
                        <a:t>none</a:t>
                      </a:r>
                    </a:p>
                  </a:txBody>
                  <a:tcPr marL="72000" marR="88900" marT="76200" marB="76200" anchor="ctr">
                    <a:lnT w="6350" cap="flat" cmpd="sng" algn="ctr">
                      <a:solidFill>
                        <a:srgbClr val="E8E0F0"/>
                      </a:solidFill>
                      <a:prstDash val="solid"/>
                      <a:round/>
                      <a:headEnd type="none" w="med" len="med"/>
                      <a:tailEnd type="none" w="med" len="med"/>
                    </a:lnT>
                    <a:lnB w="6350" cap="flat" cmpd="sng" algn="ctr">
                      <a:solidFill>
                        <a:srgbClr val="E8E0F0"/>
                      </a:solidFill>
                      <a:prstDash val="solid"/>
                      <a:round/>
                      <a:headEnd type="none" w="med" len="med"/>
                      <a:tailEnd type="none" w="med" len="med"/>
                    </a:lnB>
                    <a:solidFill>
                      <a:srgbClr val="F3EDF9"/>
                    </a:solidFill>
                  </a:tcPr>
                </a:tc>
                <a:tc>
                  <a:txBody>
                    <a:bodyPr/>
                    <a:lstStyle/>
                    <a:p>
                      <a:pPr>
                        <a:lnSpc>
                          <a:spcPct val="128000"/>
                        </a:lnSpc>
                      </a:pPr>
                      <a:r>
                        <a:rPr sz="1100" b="1" dirty="0">
                          <a:solidFill>
                            <a:srgbClr val="50017D"/>
                          </a:solidFill>
                          <a:latin typeface="Arial"/>
                        </a:rPr>
                        <a:t>Preparation lead before the clock opens</a:t>
                      </a:r>
                    </a:p>
                  </a:txBody>
                  <a:tcPr marL="72000" marR="88900" marT="76200" marB="76200" anchor="ctr">
                    <a:lnT w="6350" cap="flat" cmpd="sng" algn="ctr">
                      <a:solidFill>
                        <a:srgbClr val="E8E0F0"/>
                      </a:solidFill>
                      <a:prstDash val="solid"/>
                      <a:round/>
                      <a:headEnd type="none" w="med" len="med"/>
                      <a:tailEnd type="none" w="med" len="med"/>
                    </a:lnT>
                    <a:lnB w="6350" cap="flat" cmpd="sng" algn="ctr">
                      <a:solidFill>
                        <a:srgbClr val="E8E0F0"/>
                      </a:solidFill>
                      <a:prstDash val="solid"/>
                      <a:round/>
                      <a:headEnd type="none" w="med" len="med"/>
                      <a:tailEnd type="none" w="med" len="med"/>
                    </a:lnB>
                    <a:solidFill>
                      <a:srgbClr val="F3EDF9"/>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609600" y="4235383"/>
            <a:ext cx="6985000" cy="1079500"/>
          </a:xfrm>
          <a:prstGeom prst="rect">
            <a:avLst/>
          </a:prstGeom>
          <a:noFill/>
        </p:spPr>
        <p:txBody>
          <a:bodyPr wrap="square" lIns="0" tIns="0" rIns="0" bIns="0" anchor="t">
            <a:spAutoFit/>
          </a:bodyPr>
          <a:lstStyle/>
          <a:p>
            <a:pPr algn="l">
              <a:lnSpc>
                <a:spcPct val="134000"/>
              </a:lnSpc>
            </a:pPr>
            <a:r>
              <a:rPr sz="1100" b="0" dirty="0">
                <a:solidFill>
                  <a:srgbClr val="3F3350"/>
                </a:solidFill>
                <a:latin typeface="Arial"/>
              </a:rPr>
              <a:t>A high-burden study </a:t>
            </a:r>
            <a:r>
              <a:rPr sz="1100" b="1" dirty="0">
                <a:solidFill>
                  <a:srgbClr val="50017D"/>
                </a:solidFill>
                <a:latin typeface="Arial"/>
              </a:rPr>
              <a:t>cannot be rescued by any choice made after the clock starts</a:t>
            </a:r>
            <a:r>
              <a:rPr sz="1100" b="0" dirty="0">
                <a:solidFill>
                  <a:srgbClr val="3F3350"/>
                </a:solidFill>
                <a:latin typeface="Arial"/>
              </a:rPr>
              <a:t>. Against a median 14-day hand-over it arrives with no room, so preparation is not an </a:t>
            </a:r>
            <a:r>
              <a:rPr sz="1100" b="0" dirty="0" err="1">
                <a:solidFill>
                  <a:srgbClr val="3F3350"/>
                </a:solidFill>
                <a:latin typeface="Arial"/>
              </a:rPr>
              <a:t>optimisation</a:t>
            </a:r>
            <a:r>
              <a:rPr sz="1100" b="0" dirty="0">
                <a:solidFill>
                  <a:srgbClr val="3F3350"/>
                </a:solidFill>
                <a:latin typeface="Arial"/>
              </a:rPr>
              <a:t> for these studies — it is the only route by which they can be on time. A moderate study is on time if the hand-over is quick and lost if it is not; that is the band where the pharmacy queue does the work. A low-burden study carries 37 days and needs neither.</a:t>
            </a:r>
          </a:p>
        </p:txBody>
      </p:sp>
      <p:sp>
        <p:nvSpPr>
          <p:cNvPr id="9" name="Rectangle 8"/>
          <p:cNvSpPr/>
          <p:nvPr/>
        </p:nvSpPr>
        <p:spPr>
          <a:xfrm>
            <a:off x="558800" y="5314879"/>
            <a:ext cx="6985000" cy="1270000"/>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85800" y="5441879"/>
            <a:ext cx="6731000" cy="1079500"/>
          </a:xfrm>
          <a:prstGeom prst="rect">
            <a:avLst/>
          </a:prstGeom>
          <a:noFill/>
        </p:spPr>
        <p:txBody>
          <a:bodyPr wrap="square" lIns="0" tIns="0" rIns="0" bIns="0" anchor="t">
            <a:spAutoFit/>
          </a:bodyPr>
          <a:lstStyle/>
          <a:p>
            <a:pPr algn="l">
              <a:lnSpc>
                <a:spcPct val="134000"/>
              </a:lnSpc>
            </a:pPr>
            <a:r>
              <a:rPr sz="1050" b="1">
                <a:solidFill>
                  <a:srgbClr val="50017D"/>
                </a:solidFill>
                <a:latin typeface="Arial"/>
              </a:rPr>
              <a:t>Say it as a floor, not an average. </a:t>
            </a:r>
            <a:r>
              <a:rPr sz="1050" b="0">
                <a:solidFill>
                  <a:srgbClr val="3F3350"/>
                </a:solidFill>
                <a:latin typeface="Arial"/>
              </a:rPr>
              <a:t>What the data supports is not that high-burden studies take longer on average, but that </a:t>
            </a:r>
            <a:r>
              <a:rPr sz="1050" b="1">
                <a:solidFill>
                  <a:srgbClr val="3F3350"/>
                </a:solidFill>
                <a:latin typeface="Arial"/>
              </a:rPr>
              <a:t>none has ever been set up here in under 60 days</a:t>
            </a:r>
            <a:r>
              <a:rPr sz="1050" b="0">
                <a:solidFill>
                  <a:srgbClr val="3F3350"/>
                </a:solidFill>
                <a:latin typeface="Arial"/>
              </a:rPr>
              <a:t>. The identifier is available at notification: all six high-burden studies in the case set are aseptic, so the aseptic requirement catches every one of them, plus five others. It is a risk screen, not a value ranking, and it does not decide which studies are committed.</a:t>
            </a:r>
          </a:p>
        </p:txBody>
      </p:sp>
      <p:graphicFrame>
        <p:nvGraphicFramePr>
          <p:cNvPr id="14" name="Table 13"/>
          <p:cNvGraphicFramePr>
            <a:graphicFrameLocks noGrp="1"/>
          </p:cNvGraphicFramePr>
          <p:nvPr/>
        </p:nvGraphicFramePr>
        <p:xfrm>
          <a:off x="7899400" y="4445000"/>
          <a:ext cx="3683000" cy="1507427"/>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tblGrid>
              <a:tr h="0">
                <a:tc>
                  <a:txBody>
                    <a:bodyPr/>
                    <a:lstStyle/>
                    <a:p>
                      <a:pPr>
                        <a:lnSpc>
                          <a:spcPct val="128000"/>
                        </a:lnSpc>
                      </a:pPr>
                      <a:r>
                        <a:rPr sz="1000" b="1" spc="60">
                          <a:solidFill>
                            <a:srgbClr val="50017D"/>
                          </a:solidFill>
                          <a:latin typeface="Arial"/>
                        </a:rPr>
                        <a:t>LEAD BEFORE THE CLOCK OPENS</a:t>
                      </a:r>
                    </a:p>
                  </a:txBody>
                  <a:tcPr marL="0" marR="88900" marT="69850" marB="69850" anchor="b">
                    <a:lnB w="12700" cap="flat" cmpd="sng" algn="ctr">
                      <a:solidFill>
                        <a:srgbClr val="50017D"/>
                      </a:solidFill>
                    </a:lnB>
                    <a:noFill/>
                  </a:tcPr>
                </a:tc>
                <a:tc>
                  <a:txBody>
                    <a:bodyPr/>
                    <a:lstStyle/>
                    <a:p>
                      <a:pPr>
                        <a:lnSpc>
                          <a:spcPct val="128000"/>
                        </a:lnSpc>
                      </a:pPr>
                      <a:r>
                        <a:rPr sz="1000" b="1" spc="60">
                          <a:solidFill>
                            <a:srgbClr val="50017D"/>
                          </a:solidFill>
                          <a:latin typeface="Arial"/>
                        </a:rPr>
                        <a:t>FINISHES ON TIME</a:t>
                      </a:r>
                    </a:p>
                  </a:txBody>
                  <a:tcPr marL="44450" marR="88900" marT="69850" marB="69850" anchor="b">
                    <a:lnB w="12700" cap="flat" cmpd="sng" algn="ctr">
                      <a:solidFill>
                        <a:srgbClr val="50017D"/>
                      </a:solidFill>
                    </a:lnB>
                    <a:noFill/>
                  </a:tcPr>
                </a:tc>
                <a:extLst>
                  <a:ext uri="{0D108BD9-81ED-4DB2-BD59-A6C34878D82A}">
                    <a16:rowId xmlns:a16="http://schemas.microsoft.com/office/drawing/2014/main" val="10000"/>
                  </a:ext>
                </a:extLst>
              </a:tr>
              <a:tr h="0">
                <a:tc>
                  <a:txBody>
                    <a:bodyPr/>
                    <a:lstStyle/>
                    <a:p>
                      <a:pPr>
                        <a:lnSpc>
                          <a:spcPct val="128000"/>
                        </a:lnSpc>
                      </a:pPr>
                      <a:r>
                        <a:rPr sz="1100" b="0">
                          <a:solidFill>
                            <a:srgbClr val="1F0E33"/>
                          </a:solidFill>
                          <a:latin typeface="Arial"/>
                        </a:rPr>
                        <a:t>None</a:t>
                      </a:r>
                    </a:p>
                  </a:txBody>
                  <a:tcPr marL="0" marR="88900" marT="69850" marB="69850">
                    <a:lnT w="12700" cap="flat" cmpd="sng" algn="ctr">
                      <a:solidFill>
                        <a:srgbClr val="50017D"/>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50 per cent</a:t>
                      </a:r>
                    </a:p>
                  </a:txBody>
                  <a:tcPr marL="44450" marR="88900" marT="69850" marB="69850">
                    <a:lnT w="12700" cap="flat" cmpd="sng" algn="ctr">
                      <a:solidFill>
                        <a:srgbClr val="50017D"/>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1"/>
                  </a:ext>
                </a:extLst>
              </a:tr>
              <a:tr h="0">
                <a:tc>
                  <a:txBody>
                    <a:bodyPr/>
                    <a:lstStyle/>
                    <a:p>
                      <a:pPr>
                        <a:lnSpc>
                          <a:spcPct val="128000"/>
                        </a:lnSpc>
                      </a:pPr>
                      <a:r>
                        <a:rPr sz="1100" b="1">
                          <a:solidFill>
                            <a:srgbClr val="50017D"/>
                          </a:solidFill>
                          <a:latin typeface="Arial"/>
                        </a:rPr>
                        <a:t>28 days</a:t>
                      </a:r>
                    </a:p>
                  </a:txBody>
                  <a:tcPr marL="0" marR="88900" marT="69850" marB="698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1">
                          <a:solidFill>
                            <a:srgbClr val="50017D"/>
                          </a:solidFill>
                          <a:latin typeface="Arial"/>
                        </a:rPr>
                        <a:t>75 per cent</a:t>
                      </a:r>
                    </a:p>
                  </a:txBody>
                  <a:tcPr marL="44450" marR="88900" marT="69850" marB="6985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2"/>
                  </a:ext>
                </a:extLst>
              </a:tr>
              <a:tr h="0">
                <a:tc>
                  <a:txBody>
                    <a:bodyPr/>
                    <a:lstStyle/>
                    <a:p>
                      <a:pPr>
                        <a:lnSpc>
                          <a:spcPct val="128000"/>
                        </a:lnSpc>
                      </a:pPr>
                      <a:r>
                        <a:rPr sz="1100" b="0">
                          <a:solidFill>
                            <a:srgbClr val="1F0E33"/>
                          </a:solidFill>
                          <a:latin typeface="Arial"/>
                        </a:rPr>
                        <a:t>63 days</a:t>
                      </a:r>
                    </a:p>
                  </a:txBody>
                  <a:tcPr marL="0" marR="88900" marT="69850" marB="698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90 per cent</a:t>
                      </a:r>
                    </a:p>
                  </a:txBody>
                  <a:tcPr marL="44450" marR="88900" marT="69850" marB="6985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3"/>
                  </a:ext>
                </a:extLst>
              </a:tr>
            </a:tbl>
          </a:graphicData>
        </a:graphic>
      </p:graphicFrame>
      <p:sp>
        <p:nvSpPr>
          <p:cNvPr id="15" name="TextBox 14"/>
          <p:cNvSpPr txBox="1"/>
          <p:nvPr/>
        </p:nvSpPr>
        <p:spPr>
          <a:xfrm>
            <a:off x="7899400" y="5905500"/>
            <a:ext cx="3683000" cy="508000"/>
          </a:xfrm>
          <a:prstGeom prst="rect">
            <a:avLst/>
          </a:prstGeom>
          <a:noFill/>
        </p:spPr>
        <p:txBody>
          <a:bodyPr wrap="square" lIns="0" tIns="0" rIns="0" bIns="0" anchor="t">
            <a:spAutoFit/>
          </a:bodyPr>
          <a:lstStyle/>
          <a:p>
            <a:pPr algn="l">
              <a:lnSpc>
                <a:spcPct val="132000"/>
              </a:lnSpc>
            </a:pPr>
            <a:r>
              <a:rPr sz="1050" b="0">
                <a:solidFill>
                  <a:srgbClr val="3F3350"/>
                </a:solidFill>
                <a:latin typeface="Arial"/>
              </a:rPr>
              <a:t>Twenty-eight days is the working standard. Sixty-three is a second window on top of the first, and is worth it only for a study that must land.</a:t>
            </a:r>
          </a:p>
        </p:txBody>
      </p:sp>
      <p:pic>
        <p:nvPicPr>
          <p:cNvPr id="16" name="Picture 15" descr="fig5_9_burden_slack.png">
            <a:extLst>
              <a:ext uri="{FF2B5EF4-FFF2-40B4-BE49-F238E27FC236}">
                <a16:creationId xmlns:a16="http://schemas.microsoft.com/office/drawing/2014/main" id="{0364DFB6-C113-EB30-A695-5E990966000E}"/>
              </a:ext>
            </a:extLst>
          </p:cNvPr>
          <p:cNvPicPr>
            <a:picLocks noChangeAspect="1"/>
          </p:cNvPicPr>
          <p:nvPr/>
        </p:nvPicPr>
        <p:blipFill>
          <a:blip r:embed="rId3"/>
          <a:stretch>
            <a:fillRect/>
          </a:stretch>
        </p:blipFill>
        <p:spPr>
          <a:xfrm>
            <a:off x="7899400" y="1790700"/>
            <a:ext cx="3510068" cy="218922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5_9_burden_slack.png">
            <a:extLst>
              <a:ext uri="{FF2B5EF4-FFF2-40B4-BE49-F238E27FC236}">
                <a16:creationId xmlns:a16="http://schemas.microsoft.com/office/drawing/2014/main" id="{F50C8DB2-D594-893B-8E9B-FF98BFE4B6FE}"/>
              </a:ext>
            </a:extLst>
          </p:cNvPr>
          <p:cNvPicPr>
            <a:picLocks noChangeAspect="1"/>
          </p:cNvPicPr>
          <p:nvPr/>
        </p:nvPicPr>
        <p:blipFill>
          <a:blip r:embed="rId2"/>
          <a:stretch>
            <a:fillRect/>
          </a:stretch>
        </p:blipFill>
        <p:spPr>
          <a:xfrm>
            <a:off x="320843" y="244398"/>
            <a:ext cx="10064816" cy="6277419"/>
          </a:xfrm>
          <a:prstGeom prst="rect">
            <a:avLst/>
          </a:prstGeom>
        </p:spPr>
      </p:pic>
    </p:spTree>
    <p:extLst>
      <p:ext uri="{BB962C8B-B14F-4D97-AF65-F5344CB8AC3E}">
        <p14:creationId xmlns:p14="http://schemas.microsoft.com/office/powerpoint/2010/main" val="2663952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ACT 4 · WHAT TO DO</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10</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774700"/>
            <a:ext cx="11049000" cy="1270000"/>
          </a:xfrm>
          <a:prstGeom prst="rect">
            <a:avLst/>
          </a:prstGeom>
          <a:noFill/>
        </p:spPr>
        <p:txBody>
          <a:bodyPr wrap="square" lIns="0" tIns="0" rIns="0" bIns="0" anchor="t">
            <a:spAutoFit/>
          </a:bodyPr>
          <a:lstStyle/>
          <a:p>
            <a:pPr algn="l">
              <a:lnSpc>
                <a:spcPct val="116000"/>
              </a:lnSpc>
            </a:pPr>
            <a:r>
              <a:rPr sz="2200" b="1">
                <a:solidFill>
                  <a:srgbClr val="1F0E33"/>
                </a:solidFill>
                <a:latin typeface="Arial"/>
              </a:rPr>
              <a:t>Score the field the trust already owns, and the rule runs itself</a:t>
            </a:r>
          </a:p>
        </p:txBody>
      </p:sp>
      <p:sp>
        <p:nvSpPr>
          <p:cNvPr id="6" name="Rectangle 5"/>
          <p:cNvSpPr/>
          <p:nvPr/>
        </p:nvSpPr>
        <p:spPr>
          <a:xfrm>
            <a:off x="558800" y="1366117"/>
            <a:ext cx="38100" cy="76200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596900" y="1366117"/>
            <a:ext cx="5676900" cy="762000"/>
          </a:xfrm>
          <a:prstGeom prst="rect">
            <a:avLst/>
          </a:prstGeom>
          <a:solidFill>
            <a:srgbClr val="F3ED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762000" y="1505817"/>
            <a:ext cx="5397500" cy="440955"/>
          </a:xfrm>
          <a:prstGeom prst="rect">
            <a:avLst/>
          </a:prstGeom>
          <a:noFill/>
        </p:spPr>
        <p:txBody>
          <a:bodyPr wrap="square" lIns="0" tIns="0" rIns="0" bIns="0" anchor="t">
            <a:spAutoFit/>
          </a:bodyPr>
          <a:lstStyle/>
          <a:p>
            <a:pPr algn="l">
              <a:lnSpc>
                <a:spcPct val="138000"/>
              </a:lnSpc>
            </a:pPr>
            <a:r>
              <a:rPr sz="1100" b="0" dirty="0">
                <a:solidFill>
                  <a:srgbClr val="1F0E33"/>
                </a:solidFill>
                <a:latin typeface="Arial"/>
              </a:rPr>
              <a:t>Measure 4b of the </a:t>
            </a:r>
            <a:r>
              <a:rPr sz="1100" b="0" dirty="0" err="1">
                <a:solidFill>
                  <a:srgbClr val="1F0E33"/>
                </a:solidFill>
                <a:latin typeface="Arial"/>
              </a:rPr>
              <a:t>Prioritisation</a:t>
            </a:r>
            <a:r>
              <a:rPr sz="1100" b="0" dirty="0">
                <a:solidFill>
                  <a:srgbClr val="1F0E33"/>
                </a:solidFill>
                <a:latin typeface="Arial"/>
              </a:rPr>
              <a:t> Tool is the pharmacy burden score. It reads </a:t>
            </a:r>
            <a:r>
              <a:rPr sz="1100" b="1" dirty="0">
                <a:solidFill>
                  <a:srgbClr val="50017D"/>
                </a:solidFill>
                <a:latin typeface="Arial"/>
              </a:rPr>
              <a:t>0 on every study scored to date</a:t>
            </a:r>
            <a:r>
              <a:rPr sz="1100" b="0" dirty="0">
                <a:solidFill>
                  <a:srgbClr val="1F0E33"/>
                </a:solidFill>
                <a:latin typeface="Arial"/>
              </a:rPr>
              <a:t> — its lowest-burden option.</a:t>
            </a:r>
          </a:p>
        </p:txBody>
      </p:sp>
      <p:sp>
        <p:nvSpPr>
          <p:cNvPr id="9" name="TextBox 8"/>
          <p:cNvSpPr txBox="1"/>
          <p:nvPr/>
        </p:nvSpPr>
        <p:spPr>
          <a:xfrm>
            <a:off x="609599" y="2265345"/>
            <a:ext cx="5549901" cy="837089"/>
          </a:xfrm>
          <a:prstGeom prst="rect">
            <a:avLst/>
          </a:prstGeom>
          <a:noFill/>
        </p:spPr>
        <p:txBody>
          <a:bodyPr wrap="square" lIns="0" tIns="0" rIns="0" bIns="0" anchor="t">
            <a:spAutoFit/>
          </a:bodyPr>
          <a:lstStyle/>
          <a:p>
            <a:pPr>
              <a:lnSpc>
                <a:spcPct val="140000"/>
              </a:lnSpc>
            </a:pPr>
            <a:r>
              <a:rPr sz="1000" b="0" dirty="0">
                <a:solidFill>
                  <a:srgbClr val="3F3350"/>
                </a:solidFill>
                <a:latin typeface="Arial"/>
              </a:rPr>
              <a:t>Zero on every study is not a finding about the portfolio. The scoring group has no pharmacy member, so </a:t>
            </a:r>
            <a:r>
              <a:rPr lang="en-US" sz="1000" dirty="0">
                <a:solidFill>
                  <a:srgbClr val="3F3350"/>
                </a:solidFill>
                <a:latin typeface="Arial"/>
              </a:rPr>
              <a:t>when</a:t>
            </a:r>
            <a:r>
              <a:rPr sz="1000" b="0" dirty="0">
                <a:solidFill>
                  <a:srgbClr val="3F3350"/>
                </a:solidFill>
                <a:latin typeface="Arial"/>
              </a:rPr>
              <a:t> pharmacy is </a:t>
            </a:r>
            <a:r>
              <a:rPr lang="en-US" sz="1000" dirty="0">
                <a:solidFill>
                  <a:srgbClr val="3F3350"/>
                </a:solidFill>
                <a:latin typeface="Arial"/>
              </a:rPr>
              <a:t>involved,</a:t>
            </a:r>
            <a:r>
              <a:rPr sz="1000" b="0" dirty="0">
                <a:solidFill>
                  <a:srgbClr val="3F3350"/>
                </a:solidFill>
                <a:latin typeface="Arial"/>
              </a:rPr>
              <a:t> nobody in the room can judge the burden. </a:t>
            </a:r>
            <a:r>
              <a:rPr sz="1000" b="1" dirty="0">
                <a:solidFill>
                  <a:srgbClr val="50017D"/>
                </a:solidFill>
                <a:latin typeface="Arial"/>
              </a:rPr>
              <a:t>The measure is uncollected rather than flat.</a:t>
            </a:r>
            <a:r>
              <a:rPr sz="1000" b="0" dirty="0">
                <a:solidFill>
                  <a:srgbClr val="3F3350"/>
                </a:solidFill>
                <a:latin typeface="Arial"/>
              </a:rPr>
              <a:t> That is why the study used a burden rank returned separately by pharmacy, and it is the one change that would let the trust run the triage rule itself.</a:t>
            </a:r>
          </a:p>
        </p:txBody>
      </p:sp>
      <p:sp>
        <p:nvSpPr>
          <p:cNvPr id="10" name="TextBox 9"/>
          <p:cNvSpPr txBox="1"/>
          <p:nvPr/>
        </p:nvSpPr>
        <p:spPr>
          <a:xfrm>
            <a:off x="577850" y="3366918"/>
            <a:ext cx="5715000" cy="203517"/>
          </a:xfrm>
          <a:prstGeom prst="rect">
            <a:avLst/>
          </a:prstGeom>
          <a:noFill/>
        </p:spPr>
        <p:txBody>
          <a:bodyPr wrap="square" lIns="0" tIns="0" rIns="0" bIns="0" anchor="t">
            <a:spAutoFit/>
          </a:bodyPr>
          <a:lstStyle/>
          <a:p>
            <a:pPr algn="l">
              <a:lnSpc>
                <a:spcPct val="135000"/>
              </a:lnSpc>
            </a:pPr>
            <a:r>
              <a:rPr sz="1100" b="1" spc="210" dirty="0">
                <a:solidFill>
                  <a:srgbClr val="50017D"/>
                </a:solidFill>
                <a:latin typeface="Arial"/>
              </a:rPr>
              <a:t>TWO CHANGES, NEITHER NEEDING NEW DATA COLLECTION</a:t>
            </a:r>
          </a:p>
        </p:txBody>
      </p:sp>
      <p:sp>
        <p:nvSpPr>
          <p:cNvPr id="11" name="Rectangle 10"/>
          <p:cNvSpPr/>
          <p:nvPr/>
        </p:nvSpPr>
        <p:spPr>
          <a:xfrm>
            <a:off x="558800" y="3802577"/>
            <a:ext cx="5715000" cy="1186582"/>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85800" y="3916877"/>
            <a:ext cx="5461000" cy="814005"/>
          </a:xfrm>
          <a:prstGeom prst="rect">
            <a:avLst/>
          </a:prstGeom>
          <a:noFill/>
        </p:spPr>
        <p:txBody>
          <a:bodyPr wrap="square" lIns="0" tIns="0" rIns="0" bIns="0" anchor="t">
            <a:spAutoFit/>
          </a:bodyPr>
          <a:lstStyle/>
          <a:p>
            <a:pPr algn="l">
              <a:lnSpc>
                <a:spcPct val="136000"/>
              </a:lnSpc>
            </a:pPr>
            <a:r>
              <a:rPr sz="1000" b="1" dirty="0">
                <a:solidFill>
                  <a:srgbClr val="1F0E33"/>
                </a:solidFill>
                <a:latin typeface="Arial"/>
              </a:rPr>
              <a:t>Put a pharmacy clinical trials voice in the scoring group, for measure 4b only.</a:t>
            </a:r>
            <a:r>
              <a:rPr sz="1000" b="0" dirty="0">
                <a:solidFill>
                  <a:srgbClr val="1F0E33"/>
                </a:solidFill>
                <a:latin typeface="Arial"/>
              </a:rPr>
              <a:t> It is the single measure drawing on pharmacy clinical trials, technical services, quality assurance, clinical and supply, and </a:t>
            </a:r>
            <a:r>
              <a:rPr sz="1000" b="0" dirty="0" err="1">
                <a:solidFill>
                  <a:srgbClr val="1F0E33"/>
                </a:solidFill>
                <a:latin typeface="Arial"/>
              </a:rPr>
              <a:t>ePMA</a:t>
            </a:r>
            <a:r>
              <a:rPr sz="1000" b="0" dirty="0">
                <a:solidFill>
                  <a:srgbClr val="1F0E33"/>
                </a:solidFill>
                <a:latin typeface="Arial"/>
              </a:rPr>
              <a:t> together, so nobody else in the room can score it. It costs a standing invitation to one meeting.</a:t>
            </a:r>
          </a:p>
        </p:txBody>
      </p:sp>
      <p:sp>
        <p:nvSpPr>
          <p:cNvPr id="13" name="Rectangle 12"/>
          <p:cNvSpPr/>
          <p:nvPr/>
        </p:nvSpPr>
        <p:spPr>
          <a:xfrm>
            <a:off x="558800" y="5221302"/>
            <a:ext cx="5715000" cy="1186581"/>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85800" y="5335603"/>
            <a:ext cx="5461000" cy="825500"/>
          </a:xfrm>
          <a:prstGeom prst="rect">
            <a:avLst/>
          </a:prstGeom>
          <a:noFill/>
        </p:spPr>
        <p:txBody>
          <a:bodyPr wrap="square" lIns="0" tIns="0" rIns="0" bIns="0" anchor="t">
            <a:spAutoFit/>
          </a:bodyPr>
          <a:lstStyle/>
          <a:p>
            <a:pPr algn="l">
              <a:lnSpc>
                <a:spcPct val="136000"/>
              </a:lnSpc>
            </a:pPr>
            <a:r>
              <a:rPr sz="1000" b="1" dirty="0">
                <a:solidFill>
                  <a:srgbClr val="1F0E33"/>
                </a:solidFill>
                <a:latin typeface="Arial"/>
              </a:rPr>
              <a:t>Adopt the rubric on the leave-behind</a:t>
            </a:r>
            <a:r>
              <a:rPr sz="1000" b="0" dirty="0">
                <a:solidFill>
                  <a:srgbClr val="1F0E33"/>
                </a:solidFill>
                <a:latin typeface="Arial"/>
              </a:rPr>
              <a:t>, which maps what a study asks of pharmacy onto a rank, and the rank onto the preparation it needs. Once 4b is scored at the point the tool is used, the rule runs automatically — the tool already fires before set-up begins, which is exactly when the lead has to be granted.</a:t>
            </a:r>
          </a:p>
        </p:txBody>
      </p:sp>
      <p:sp>
        <p:nvSpPr>
          <p:cNvPr id="15" name="TextBox 14"/>
          <p:cNvSpPr txBox="1"/>
          <p:nvPr/>
        </p:nvSpPr>
        <p:spPr>
          <a:xfrm>
            <a:off x="6578600" y="1346599"/>
            <a:ext cx="5003800" cy="215900"/>
          </a:xfrm>
          <a:prstGeom prst="rect">
            <a:avLst/>
          </a:prstGeom>
          <a:noFill/>
        </p:spPr>
        <p:txBody>
          <a:bodyPr wrap="square" lIns="0" tIns="0" rIns="0" bIns="0" anchor="t">
            <a:spAutoFit/>
          </a:bodyPr>
          <a:lstStyle/>
          <a:p>
            <a:pPr algn="l">
              <a:lnSpc>
                <a:spcPct val="135000"/>
              </a:lnSpc>
            </a:pPr>
            <a:r>
              <a:rPr sz="1050" b="1" spc="210" dirty="0">
                <a:solidFill>
                  <a:srgbClr val="50017D"/>
                </a:solidFill>
                <a:latin typeface="Arial"/>
              </a:rPr>
              <a:t>TARGETING IS WHAT MAKES IT AFFORDABLE</a:t>
            </a:r>
          </a:p>
        </p:txBody>
      </p:sp>
      <p:graphicFrame>
        <p:nvGraphicFramePr>
          <p:cNvPr id="16" name="Table 15"/>
          <p:cNvGraphicFramePr>
            <a:graphicFrameLocks noGrp="1"/>
          </p:cNvGraphicFramePr>
          <p:nvPr>
            <p:extLst>
              <p:ext uri="{D42A27DB-BD31-4B8C-83A1-F6EECF244321}">
                <p14:modId xmlns:p14="http://schemas.microsoft.com/office/powerpoint/2010/main" val="1549927351"/>
              </p:ext>
            </p:extLst>
          </p:nvPr>
        </p:nvGraphicFramePr>
        <p:xfrm>
          <a:off x="6578600" y="1621294"/>
          <a:ext cx="5232399" cy="2210501"/>
        </p:xfrm>
        <a:graphic>
          <a:graphicData uri="http://schemas.openxmlformats.org/drawingml/2006/table">
            <a:tbl>
              <a:tblPr>
                <a:tableStyleId>{5C22544A-7EE6-4342-B048-85BDC9FD1C3A}</a:tableStyleId>
              </a:tblPr>
              <a:tblGrid>
                <a:gridCol w="2401771">
                  <a:extLst>
                    <a:ext uri="{9D8B030D-6E8A-4147-A177-3AD203B41FA5}">
                      <a16:colId xmlns:a16="http://schemas.microsoft.com/office/drawing/2014/main" val="20000"/>
                    </a:ext>
                  </a:extLst>
                </a:gridCol>
                <a:gridCol w="1701811">
                  <a:extLst>
                    <a:ext uri="{9D8B030D-6E8A-4147-A177-3AD203B41FA5}">
                      <a16:colId xmlns:a16="http://schemas.microsoft.com/office/drawing/2014/main" val="20001"/>
                    </a:ext>
                  </a:extLst>
                </a:gridCol>
                <a:gridCol w="1128817">
                  <a:extLst>
                    <a:ext uri="{9D8B030D-6E8A-4147-A177-3AD203B41FA5}">
                      <a16:colId xmlns:a16="http://schemas.microsoft.com/office/drawing/2014/main" val="20002"/>
                    </a:ext>
                  </a:extLst>
                </a:gridCol>
              </a:tblGrid>
              <a:tr h="0">
                <a:tc>
                  <a:txBody>
                    <a:bodyPr/>
                    <a:lstStyle/>
                    <a:p>
                      <a:pPr>
                        <a:lnSpc>
                          <a:spcPct val="128000"/>
                        </a:lnSpc>
                      </a:pPr>
                      <a:r>
                        <a:rPr sz="1000" b="1" spc="60" dirty="0">
                          <a:solidFill>
                            <a:srgbClr val="50017D"/>
                          </a:solidFill>
                          <a:latin typeface="Arial"/>
                        </a:rPr>
                        <a:t>APPROACH</a:t>
                      </a:r>
                    </a:p>
                  </a:txBody>
                  <a:tcPr marL="0" marR="88900" marT="69850" marB="69850" anchor="b">
                    <a:lnB w="12700" cap="flat" cmpd="sng" algn="ctr">
                      <a:solidFill>
                        <a:srgbClr val="50017D"/>
                      </a:solidFill>
                    </a:lnB>
                    <a:noFill/>
                  </a:tcPr>
                </a:tc>
                <a:tc>
                  <a:txBody>
                    <a:bodyPr/>
                    <a:lstStyle/>
                    <a:p>
                      <a:pPr>
                        <a:lnSpc>
                          <a:spcPct val="128000"/>
                        </a:lnSpc>
                      </a:pPr>
                      <a:r>
                        <a:rPr sz="1000" b="1" spc="60" dirty="0">
                          <a:solidFill>
                            <a:srgbClr val="50017D"/>
                          </a:solidFill>
                          <a:latin typeface="Arial"/>
                        </a:rPr>
                        <a:t>MONTHS ON TIME, OF 25</a:t>
                      </a:r>
                    </a:p>
                  </a:txBody>
                  <a:tcPr marL="44450" marR="88900" marT="69850" marB="69850" anchor="b">
                    <a:lnB w="12700" cap="flat" cmpd="sng" algn="ctr">
                      <a:solidFill>
                        <a:srgbClr val="50017D"/>
                      </a:solidFill>
                    </a:lnB>
                    <a:noFill/>
                  </a:tcPr>
                </a:tc>
                <a:tc>
                  <a:txBody>
                    <a:bodyPr/>
                    <a:lstStyle/>
                    <a:p>
                      <a:pPr>
                        <a:lnSpc>
                          <a:spcPct val="128000"/>
                        </a:lnSpc>
                      </a:pPr>
                      <a:r>
                        <a:rPr lang="en-US" sz="1000" b="1" spc="60" dirty="0">
                          <a:solidFill>
                            <a:srgbClr val="50017D"/>
                          </a:solidFill>
                          <a:latin typeface="Arial"/>
                        </a:rPr>
                        <a:t>Preparation (days)</a:t>
                      </a:r>
                      <a:endParaRPr sz="1000" b="1" spc="60" dirty="0">
                        <a:solidFill>
                          <a:srgbClr val="50017D"/>
                        </a:solidFill>
                        <a:latin typeface="Arial"/>
                      </a:endParaRPr>
                    </a:p>
                  </a:txBody>
                  <a:tcPr marL="44450" marR="88900" marT="69850" marB="69850" anchor="b">
                    <a:lnB w="12700" cap="flat" cmpd="sng" algn="ctr">
                      <a:solidFill>
                        <a:srgbClr val="50017D"/>
                      </a:solidFill>
                    </a:lnB>
                    <a:noFill/>
                  </a:tcPr>
                </a:tc>
                <a:extLst>
                  <a:ext uri="{0D108BD9-81ED-4DB2-BD59-A6C34878D82A}">
                    <a16:rowId xmlns:a16="http://schemas.microsoft.com/office/drawing/2014/main" val="10000"/>
                  </a:ext>
                </a:extLst>
              </a:tr>
              <a:tr h="0">
                <a:tc>
                  <a:txBody>
                    <a:bodyPr/>
                    <a:lstStyle/>
                    <a:p>
                      <a:pPr>
                        <a:lnSpc>
                          <a:spcPct val="128000"/>
                        </a:lnSpc>
                      </a:pPr>
                      <a:r>
                        <a:rPr sz="1000" b="0" dirty="0">
                          <a:solidFill>
                            <a:srgbClr val="1F0E33"/>
                          </a:solidFill>
                          <a:latin typeface="Arial"/>
                        </a:rPr>
                        <a:t>No lead, today</a:t>
                      </a:r>
                    </a:p>
                  </a:txBody>
                  <a:tcPr marL="0" marR="88900" marT="76200" marB="76200">
                    <a:lnT w="12700" cap="flat" cmpd="sng" algn="ctr">
                      <a:solidFill>
                        <a:srgbClr val="50017D"/>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000" b="0" dirty="0">
                          <a:solidFill>
                            <a:srgbClr val="1F0E33"/>
                          </a:solidFill>
                          <a:latin typeface="Arial"/>
                        </a:rPr>
                        <a:t>9</a:t>
                      </a:r>
                    </a:p>
                  </a:txBody>
                  <a:tcPr marL="44450" marR="88900" marT="76200" marB="76200">
                    <a:lnT w="12700" cap="flat" cmpd="sng" algn="ctr">
                      <a:solidFill>
                        <a:srgbClr val="50017D"/>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000" b="0">
                          <a:solidFill>
                            <a:srgbClr val="1F0E33"/>
                          </a:solidFill>
                          <a:latin typeface="Arial"/>
                        </a:rPr>
                        <a:t>0</a:t>
                      </a:r>
                    </a:p>
                  </a:txBody>
                  <a:tcPr marL="44450" marR="88900" marT="76200" marB="76200">
                    <a:lnT w="12700" cap="flat" cmpd="sng" algn="ctr">
                      <a:solidFill>
                        <a:srgbClr val="50017D"/>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1"/>
                  </a:ext>
                </a:extLst>
              </a:tr>
              <a:tr h="0">
                <a:tc>
                  <a:txBody>
                    <a:bodyPr/>
                    <a:lstStyle/>
                    <a:p>
                      <a:pPr>
                        <a:lnSpc>
                          <a:spcPct val="128000"/>
                        </a:lnSpc>
                      </a:pPr>
                      <a:r>
                        <a:rPr sz="1000" b="1" dirty="0">
                          <a:solidFill>
                            <a:srgbClr val="50017D"/>
                          </a:solidFill>
                          <a:latin typeface="Arial"/>
                        </a:rPr>
                        <a:t>Targeted, 35-day lead on high-burden studies only</a:t>
                      </a:r>
                    </a:p>
                  </a:txBody>
                  <a:tcPr marL="3600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solidFill>
                      <a:srgbClr val="F3EDF9"/>
                    </a:solidFill>
                  </a:tcPr>
                </a:tc>
                <a:tc>
                  <a:txBody>
                    <a:bodyPr/>
                    <a:lstStyle/>
                    <a:p>
                      <a:pPr>
                        <a:lnSpc>
                          <a:spcPct val="128000"/>
                        </a:lnSpc>
                      </a:pPr>
                      <a:r>
                        <a:rPr sz="1000" b="1" dirty="0">
                          <a:solidFill>
                            <a:srgbClr val="50017D"/>
                          </a:solidFill>
                          <a:latin typeface="Arial"/>
                        </a:rPr>
                        <a:t>14</a:t>
                      </a:r>
                    </a:p>
                  </a:txBody>
                  <a:tcPr marL="4445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solidFill>
                      <a:srgbClr val="F3EDF9"/>
                    </a:solidFill>
                  </a:tcPr>
                </a:tc>
                <a:tc>
                  <a:txBody>
                    <a:bodyPr/>
                    <a:lstStyle/>
                    <a:p>
                      <a:pPr>
                        <a:lnSpc>
                          <a:spcPct val="128000"/>
                        </a:lnSpc>
                      </a:pPr>
                      <a:r>
                        <a:rPr sz="1000" b="1" dirty="0">
                          <a:solidFill>
                            <a:srgbClr val="50017D"/>
                          </a:solidFill>
                          <a:latin typeface="Arial"/>
                        </a:rPr>
                        <a:t>735</a:t>
                      </a:r>
                    </a:p>
                  </a:txBody>
                  <a:tcPr marL="4445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solidFill>
                      <a:srgbClr val="F3EDF9"/>
                    </a:solidFill>
                  </a:tcPr>
                </a:tc>
                <a:extLst>
                  <a:ext uri="{0D108BD9-81ED-4DB2-BD59-A6C34878D82A}">
                    <a16:rowId xmlns:a16="http://schemas.microsoft.com/office/drawing/2014/main" val="10002"/>
                  </a:ext>
                </a:extLst>
              </a:tr>
              <a:tr h="0">
                <a:tc>
                  <a:txBody>
                    <a:bodyPr/>
                    <a:lstStyle/>
                    <a:p>
                      <a:pPr>
                        <a:lnSpc>
                          <a:spcPct val="128000"/>
                        </a:lnSpc>
                      </a:pPr>
                      <a:r>
                        <a:rPr sz="1000" b="0" dirty="0">
                          <a:solidFill>
                            <a:srgbClr val="1F0E33"/>
                          </a:solidFill>
                          <a:latin typeface="Arial"/>
                        </a:rPr>
                        <a:t>Spread, 21-day lead across the queue</a:t>
                      </a:r>
                    </a:p>
                  </a:txBody>
                  <a:tcPr marL="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000" b="0" dirty="0">
                          <a:solidFill>
                            <a:srgbClr val="1F0E33"/>
                          </a:solidFill>
                          <a:latin typeface="Arial"/>
                        </a:rPr>
                        <a:t>14</a:t>
                      </a:r>
                    </a:p>
                  </a:txBody>
                  <a:tcPr marL="4445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000" b="0" dirty="0">
                          <a:solidFill>
                            <a:srgbClr val="1F0E33"/>
                          </a:solidFill>
                          <a:latin typeface="Arial"/>
                        </a:rPr>
                        <a:t>1,407</a:t>
                      </a:r>
                    </a:p>
                  </a:txBody>
                  <a:tcPr marL="4445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3"/>
                  </a:ext>
                </a:extLst>
              </a:tr>
              <a:tr h="0">
                <a:tc>
                  <a:txBody>
                    <a:bodyPr/>
                    <a:lstStyle/>
                    <a:p>
                      <a:pPr>
                        <a:lnSpc>
                          <a:spcPct val="128000"/>
                        </a:lnSpc>
                      </a:pPr>
                      <a:r>
                        <a:rPr sz="1000" b="0" dirty="0">
                          <a:solidFill>
                            <a:srgbClr val="1F0E33"/>
                          </a:solidFill>
                          <a:latin typeface="Arial"/>
                        </a:rPr>
                        <a:t>Targeted, 60-day lead on high-burden studies only</a:t>
                      </a:r>
                    </a:p>
                  </a:txBody>
                  <a:tcPr marL="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000" b="0">
                          <a:solidFill>
                            <a:srgbClr val="1F0E33"/>
                          </a:solidFill>
                          <a:latin typeface="Arial"/>
                        </a:rPr>
                        <a:t>16</a:t>
                      </a:r>
                    </a:p>
                  </a:txBody>
                  <a:tcPr marL="4445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000" b="0" dirty="0">
                          <a:solidFill>
                            <a:srgbClr val="1F0E33"/>
                          </a:solidFill>
                          <a:latin typeface="Arial"/>
                        </a:rPr>
                        <a:t>1,260</a:t>
                      </a:r>
                    </a:p>
                  </a:txBody>
                  <a:tcPr marL="44450" marR="88900" marT="76200" marB="7620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6578600" y="3995724"/>
            <a:ext cx="5232398" cy="613181"/>
          </a:xfrm>
          <a:prstGeom prst="rect">
            <a:avLst/>
          </a:prstGeom>
          <a:noFill/>
        </p:spPr>
        <p:txBody>
          <a:bodyPr wrap="square" lIns="0" tIns="0" rIns="0" bIns="0" anchor="t">
            <a:spAutoFit/>
          </a:bodyPr>
          <a:lstStyle/>
          <a:p>
            <a:pPr algn="l">
              <a:lnSpc>
                <a:spcPct val="138000"/>
              </a:lnSpc>
            </a:pPr>
            <a:r>
              <a:rPr sz="1000" b="1" dirty="0">
                <a:solidFill>
                  <a:srgbClr val="50017D"/>
                </a:solidFill>
                <a:latin typeface="Arial"/>
              </a:rPr>
              <a:t>The same 14 months, for a little over half the R&amp;I effort.</a:t>
            </a:r>
            <a:r>
              <a:rPr sz="1000" b="0" dirty="0">
                <a:solidFill>
                  <a:srgbClr val="1F0E33"/>
                </a:solidFill>
                <a:latin typeface="Arial"/>
              </a:rPr>
              <a:t> Across the whole range, targeting costs about 147 R&amp;I days for each additional month that delivers, against 234 to 365 days when the lead is spread.</a:t>
            </a:r>
          </a:p>
        </p:txBody>
      </p:sp>
      <p:sp>
        <p:nvSpPr>
          <p:cNvPr id="18" name="Rectangle 17"/>
          <p:cNvSpPr/>
          <p:nvPr/>
        </p:nvSpPr>
        <p:spPr>
          <a:xfrm>
            <a:off x="6578600" y="4772834"/>
            <a:ext cx="5232398" cy="802464"/>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6705600" y="4841106"/>
            <a:ext cx="5003800" cy="596253"/>
          </a:xfrm>
          <a:prstGeom prst="rect">
            <a:avLst/>
          </a:prstGeom>
          <a:noFill/>
        </p:spPr>
        <p:txBody>
          <a:bodyPr wrap="square" lIns="0" tIns="0" rIns="0" bIns="0" anchor="t">
            <a:spAutoFit/>
          </a:bodyPr>
          <a:lstStyle/>
          <a:p>
            <a:pPr algn="l">
              <a:lnSpc>
                <a:spcPct val="134000"/>
              </a:lnSpc>
            </a:pPr>
            <a:r>
              <a:rPr sz="1000" b="1" dirty="0">
                <a:solidFill>
                  <a:srgbClr val="50017D"/>
                </a:solidFill>
                <a:latin typeface="Arial"/>
              </a:rPr>
              <a:t>Say the limit plainly. </a:t>
            </a:r>
            <a:r>
              <a:rPr sz="1000" b="0" dirty="0">
                <a:solidFill>
                  <a:srgbClr val="3F3350"/>
                </a:solidFill>
                <a:latin typeface="Arial"/>
              </a:rPr>
              <a:t>Spreading the lead is the only way to reach three on-time trials in a month; targeting reaches two. Targeting is the affordable policy, not the maximum one. It is recommended because it is the version the service can actually run.</a:t>
            </a:r>
          </a:p>
        </p:txBody>
      </p:sp>
      <p:sp>
        <p:nvSpPr>
          <p:cNvPr id="20" name="Rectangle 19"/>
          <p:cNvSpPr/>
          <p:nvPr/>
        </p:nvSpPr>
        <p:spPr>
          <a:xfrm>
            <a:off x="6578600" y="5673342"/>
            <a:ext cx="5232398" cy="730933"/>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705600" y="5733450"/>
            <a:ext cx="5003800" cy="596253"/>
          </a:xfrm>
          <a:prstGeom prst="rect">
            <a:avLst/>
          </a:prstGeom>
          <a:noFill/>
        </p:spPr>
        <p:txBody>
          <a:bodyPr wrap="square" lIns="0" tIns="0" rIns="0" bIns="0" anchor="t">
            <a:spAutoFit/>
          </a:bodyPr>
          <a:lstStyle/>
          <a:p>
            <a:pPr algn="l">
              <a:lnSpc>
                <a:spcPct val="134000"/>
              </a:lnSpc>
            </a:pPr>
            <a:r>
              <a:rPr sz="1000" b="1" dirty="0">
                <a:solidFill>
                  <a:srgbClr val="50017D"/>
                </a:solidFill>
                <a:latin typeface="Arial"/>
              </a:rPr>
              <a:t>On the ranks. </a:t>
            </a:r>
            <a:r>
              <a:rPr sz="1000" b="0" dirty="0">
                <a:solidFill>
                  <a:srgbClr val="3F3350"/>
                </a:solidFill>
                <a:latin typeface="Arial"/>
              </a:rPr>
              <a:t>The burden ranks were given after the outcomes were known. They classify what these twenty studies demanded rather than predict what a new one will, so the rubric is a risk screen to revise as pharmacy scores real studies against 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ACT 4 · WHAT TO DO</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11</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749300"/>
            <a:ext cx="11176000" cy="700256"/>
          </a:xfrm>
          <a:prstGeom prst="rect">
            <a:avLst/>
          </a:prstGeom>
          <a:noFill/>
        </p:spPr>
        <p:txBody>
          <a:bodyPr wrap="square" lIns="0" tIns="0" rIns="0" bIns="0" anchor="t">
            <a:spAutoFit/>
          </a:bodyPr>
          <a:lstStyle/>
          <a:p>
            <a:pPr algn="l">
              <a:lnSpc>
                <a:spcPct val="116000"/>
              </a:lnSpc>
            </a:pPr>
            <a:r>
              <a:rPr sz="2050" b="1" dirty="0">
                <a:solidFill>
                  <a:srgbClr val="1F0E33"/>
                </a:solidFill>
                <a:latin typeface="Arial"/>
              </a:rPr>
              <a:t>Start targeted preparation now, make the score operational next, then measure the process</a:t>
            </a:r>
          </a:p>
        </p:txBody>
      </p:sp>
      <p:sp>
        <p:nvSpPr>
          <p:cNvPr id="6" name="Rectangle 5"/>
          <p:cNvSpPr/>
          <p:nvPr/>
        </p:nvSpPr>
        <p:spPr>
          <a:xfrm>
            <a:off x="609600" y="1612900"/>
            <a:ext cx="3530600" cy="50800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723900" y="1689100"/>
            <a:ext cx="3302000" cy="190500"/>
          </a:xfrm>
          <a:prstGeom prst="rect">
            <a:avLst/>
          </a:prstGeom>
          <a:noFill/>
        </p:spPr>
        <p:txBody>
          <a:bodyPr wrap="square" lIns="0" tIns="0" rIns="0" bIns="0" anchor="t">
            <a:spAutoFit/>
          </a:bodyPr>
          <a:lstStyle/>
          <a:p>
            <a:pPr algn="l">
              <a:lnSpc>
                <a:spcPct val="135000"/>
              </a:lnSpc>
            </a:pPr>
            <a:r>
              <a:rPr sz="1050" b="1" spc="130" dirty="0">
                <a:solidFill>
                  <a:srgbClr val="FFFFFF"/>
                </a:solidFill>
                <a:latin typeface="Arial"/>
              </a:rPr>
              <a:t>NOW · 0 TO 3 MONTHS</a:t>
            </a:r>
          </a:p>
        </p:txBody>
      </p:sp>
      <p:sp>
        <p:nvSpPr>
          <p:cNvPr id="8" name="TextBox 7"/>
          <p:cNvSpPr txBox="1"/>
          <p:nvPr/>
        </p:nvSpPr>
        <p:spPr>
          <a:xfrm>
            <a:off x="723900" y="1905000"/>
            <a:ext cx="3302000" cy="279400"/>
          </a:xfrm>
          <a:prstGeom prst="rect">
            <a:avLst/>
          </a:prstGeom>
          <a:noFill/>
        </p:spPr>
        <p:txBody>
          <a:bodyPr wrap="square" lIns="0" tIns="0" rIns="0" bIns="0" anchor="t">
            <a:spAutoFit/>
          </a:bodyPr>
          <a:lstStyle/>
          <a:p>
            <a:pPr algn="l">
              <a:lnSpc>
                <a:spcPct val="125000"/>
              </a:lnSpc>
            </a:pPr>
            <a:r>
              <a:rPr sz="950" b="0">
                <a:solidFill>
                  <a:srgbClr val="EFE5FB"/>
                </a:solidFill>
                <a:latin typeface="Arial"/>
              </a:rPr>
              <a:t>Create time for studies with no slack</a:t>
            </a:r>
          </a:p>
        </p:txBody>
      </p:sp>
      <p:sp>
        <p:nvSpPr>
          <p:cNvPr id="9" name="TextBox 8"/>
          <p:cNvSpPr txBox="1"/>
          <p:nvPr/>
        </p:nvSpPr>
        <p:spPr>
          <a:xfrm>
            <a:off x="660400" y="2235200"/>
            <a:ext cx="3479800" cy="908134"/>
          </a:xfrm>
          <a:prstGeom prst="rect">
            <a:avLst/>
          </a:prstGeom>
          <a:noFill/>
        </p:spPr>
        <p:txBody>
          <a:bodyPr wrap="square" lIns="0" tIns="0" rIns="0" bIns="0" anchor="t">
            <a:spAutoFit/>
          </a:bodyPr>
          <a:lstStyle/>
          <a:p>
            <a:pPr>
              <a:lnSpc>
                <a:spcPct val="138000"/>
              </a:lnSpc>
            </a:pPr>
            <a:r>
              <a:rPr sz="1100" b="1" dirty="0">
                <a:solidFill>
                  <a:srgbClr val="1F0E33"/>
                </a:solidFill>
                <a:latin typeface="Arial"/>
              </a:rPr>
              <a:t>Give high-burden and aseptic-flagged studies a 28-day preparation lead</a:t>
            </a:r>
            <a:r>
              <a:rPr sz="1100" b="0" dirty="0">
                <a:solidFill>
                  <a:srgbClr val="1F0E33"/>
                </a:solidFill>
                <a:latin typeface="Arial"/>
              </a:rPr>
              <a:t> before the clock opens. The only tested lever that raises the ceiling, and for these studies the only route to on time at all.</a:t>
            </a:r>
          </a:p>
        </p:txBody>
      </p:sp>
      <p:sp>
        <p:nvSpPr>
          <p:cNvPr id="10" name="TextBox 9"/>
          <p:cNvSpPr txBox="1"/>
          <p:nvPr/>
        </p:nvSpPr>
        <p:spPr>
          <a:xfrm>
            <a:off x="660400" y="3260600"/>
            <a:ext cx="3479800" cy="908134"/>
          </a:xfrm>
          <a:prstGeom prst="rect">
            <a:avLst/>
          </a:prstGeom>
          <a:noFill/>
        </p:spPr>
        <p:txBody>
          <a:bodyPr wrap="square" lIns="0" tIns="0" rIns="0" bIns="0" anchor="t">
            <a:spAutoFit/>
          </a:bodyPr>
          <a:lstStyle/>
          <a:p>
            <a:pPr>
              <a:lnSpc>
                <a:spcPct val="138000"/>
              </a:lnSpc>
            </a:pPr>
            <a:r>
              <a:rPr sz="1100" b="1" dirty="0">
                <a:solidFill>
                  <a:srgbClr val="1F0E33"/>
                </a:solidFill>
                <a:latin typeface="Arial"/>
              </a:rPr>
              <a:t>Move moderate-burden studies to the front of the pharmacy queue</a:t>
            </a:r>
            <a:r>
              <a:rPr sz="1100" b="0" dirty="0">
                <a:solidFill>
                  <a:srgbClr val="1F0E33"/>
                </a:solidFill>
                <a:latin typeface="Arial"/>
              </a:rPr>
              <a:t> after notification. That segment never exceeds 23 days and sits inside pharmacy's own control.</a:t>
            </a:r>
          </a:p>
        </p:txBody>
      </p:sp>
      <p:sp>
        <p:nvSpPr>
          <p:cNvPr id="11" name="TextBox 10"/>
          <p:cNvSpPr txBox="1"/>
          <p:nvPr/>
        </p:nvSpPr>
        <p:spPr>
          <a:xfrm>
            <a:off x="660400" y="4291794"/>
            <a:ext cx="3479800" cy="674544"/>
          </a:xfrm>
          <a:prstGeom prst="rect">
            <a:avLst/>
          </a:prstGeom>
          <a:noFill/>
        </p:spPr>
        <p:txBody>
          <a:bodyPr wrap="square" lIns="0" tIns="0" rIns="0" bIns="0" anchor="t">
            <a:spAutoFit/>
          </a:bodyPr>
          <a:lstStyle/>
          <a:p>
            <a:pPr>
              <a:lnSpc>
                <a:spcPct val="138000"/>
              </a:lnSpc>
            </a:pPr>
            <a:r>
              <a:rPr sz="1100" b="1" dirty="0">
                <a:solidFill>
                  <a:srgbClr val="1F0E33"/>
                </a:solidFill>
                <a:latin typeface="Arial"/>
              </a:rPr>
              <a:t>Commit to a count the service can hold</a:t>
            </a:r>
            <a:r>
              <a:rPr sz="1100" b="0" dirty="0">
                <a:solidFill>
                  <a:srgbClr val="1F0E33"/>
                </a:solidFill>
                <a:latin typeface="Arial"/>
              </a:rPr>
              <a:t>, at a stated confidence. It changes what is promised, not what is done.</a:t>
            </a:r>
          </a:p>
        </p:txBody>
      </p:sp>
      <p:sp>
        <p:nvSpPr>
          <p:cNvPr id="12" name="Rectangle 11"/>
          <p:cNvSpPr/>
          <p:nvPr/>
        </p:nvSpPr>
        <p:spPr>
          <a:xfrm>
            <a:off x="4305300" y="1612900"/>
            <a:ext cx="3530600" cy="508000"/>
          </a:xfrm>
          <a:prstGeom prst="rect">
            <a:avLst/>
          </a:prstGeom>
          <a:solidFill>
            <a:srgbClr val="7B2D9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4419600" y="1689100"/>
            <a:ext cx="3302000" cy="190500"/>
          </a:xfrm>
          <a:prstGeom prst="rect">
            <a:avLst/>
          </a:prstGeom>
          <a:noFill/>
        </p:spPr>
        <p:txBody>
          <a:bodyPr wrap="square" lIns="0" tIns="0" rIns="0" bIns="0" anchor="t">
            <a:spAutoFit/>
          </a:bodyPr>
          <a:lstStyle/>
          <a:p>
            <a:pPr algn="l">
              <a:lnSpc>
                <a:spcPct val="135000"/>
              </a:lnSpc>
            </a:pPr>
            <a:r>
              <a:rPr sz="1050" b="1" spc="130">
                <a:solidFill>
                  <a:srgbClr val="FFFFFF"/>
                </a:solidFill>
                <a:latin typeface="Arial"/>
              </a:rPr>
              <a:t>NEXT · 3 TO 6 MONTHS</a:t>
            </a:r>
          </a:p>
        </p:txBody>
      </p:sp>
      <p:sp>
        <p:nvSpPr>
          <p:cNvPr id="14" name="TextBox 13"/>
          <p:cNvSpPr txBox="1"/>
          <p:nvPr/>
        </p:nvSpPr>
        <p:spPr>
          <a:xfrm>
            <a:off x="4419600" y="1905000"/>
            <a:ext cx="3302000" cy="279400"/>
          </a:xfrm>
          <a:prstGeom prst="rect">
            <a:avLst/>
          </a:prstGeom>
          <a:noFill/>
        </p:spPr>
        <p:txBody>
          <a:bodyPr wrap="square" lIns="0" tIns="0" rIns="0" bIns="0" anchor="t">
            <a:spAutoFit/>
          </a:bodyPr>
          <a:lstStyle/>
          <a:p>
            <a:pPr algn="l">
              <a:lnSpc>
                <a:spcPct val="125000"/>
              </a:lnSpc>
            </a:pPr>
            <a:r>
              <a:rPr sz="950" b="0">
                <a:solidFill>
                  <a:srgbClr val="F3E7FB"/>
                </a:solidFill>
                <a:latin typeface="Arial"/>
              </a:rPr>
              <a:t>Make the rule run without an analyst</a:t>
            </a:r>
          </a:p>
        </p:txBody>
      </p:sp>
      <p:sp>
        <p:nvSpPr>
          <p:cNvPr id="15" name="TextBox 14"/>
          <p:cNvSpPr txBox="1"/>
          <p:nvPr/>
        </p:nvSpPr>
        <p:spPr>
          <a:xfrm>
            <a:off x="4356100" y="2235200"/>
            <a:ext cx="3530600" cy="1270000"/>
          </a:xfrm>
          <a:prstGeom prst="rect">
            <a:avLst/>
          </a:prstGeom>
          <a:noFill/>
        </p:spPr>
        <p:txBody>
          <a:bodyPr wrap="square" lIns="0" tIns="0" rIns="0" bIns="0" anchor="t">
            <a:spAutoFit/>
          </a:bodyPr>
          <a:lstStyle/>
          <a:p>
            <a:pPr algn="l">
              <a:lnSpc>
                <a:spcPct val="138000"/>
              </a:lnSpc>
            </a:pPr>
            <a:r>
              <a:rPr sz="1100" b="1" dirty="0">
                <a:solidFill>
                  <a:srgbClr val="1F0E33"/>
                </a:solidFill>
                <a:latin typeface="Arial"/>
              </a:rPr>
              <a:t>Add a pharmacy clinical trials representative to the 4b scoring group.</a:t>
            </a:r>
            <a:r>
              <a:rPr sz="1100" b="0" dirty="0">
                <a:solidFill>
                  <a:srgbClr val="1F0E33"/>
                </a:solidFill>
                <a:latin typeface="Arial"/>
              </a:rPr>
              <a:t> It costs a standing invitation to one meeting.</a:t>
            </a:r>
          </a:p>
        </p:txBody>
      </p:sp>
      <p:sp>
        <p:nvSpPr>
          <p:cNvPr id="16" name="TextBox 15"/>
          <p:cNvSpPr txBox="1"/>
          <p:nvPr/>
        </p:nvSpPr>
        <p:spPr>
          <a:xfrm>
            <a:off x="4356100" y="3007524"/>
            <a:ext cx="3530600" cy="1270000"/>
          </a:xfrm>
          <a:prstGeom prst="rect">
            <a:avLst/>
          </a:prstGeom>
          <a:noFill/>
        </p:spPr>
        <p:txBody>
          <a:bodyPr wrap="square" lIns="0" tIns="0" rIns="0" bIns="0" anchor="t">
            <a:spAutoFit/>
          </a:bodyPr>
          <a:lstStyle/>
          <a:p>
            <a:pPr algn="l">
              <a:lnSpc>
                <a:spcPct val="138000"/>
              </a:lnSpc>
            </a:pPr>
            <a:r>
              <a:rPr sz="1100" b="1" dirty="0">
                <a:solidFill>
                  <a:srgbClr val="1F0E33"/>
                </a:solidFill>
                <a:latin typeface="Arial"/>
              </a:rPr>
              <a:t>Score studies before set-up begins</a:t>
            </a:r>
            <a:r>
              <a:rPr sz="1100" b="0" dirty="0">
                <a:solidFill>
                  <a:srgbClr val="1F0E33"/>
                </a:solidFill>
                <a:latin typeface="Arial"/>
              </a:rPr>
              <a:t>, using the rubric, rather than classifying them retrospectively.</a:t>
            </a:r>
          </a:p>
        </p:txBody>
      </p:sp>
      <p:sp>
        <p:nvSpPr>
          <p:cNvPr id="17" name="TextBox 16"/>
          <p:cNvSpPr txBox="1"/>
          <p:nvPr/>
        </p:nvSpPr>
        <p:spPr>
          <a:xfrm>
            <a:off x="4356100" y="3568700"/>
            <a:ext cx="3530600" cy="1270000"/>
          </a:xfrm>
          <a:prstGeom prst="rect">
            <a:avLst/>
          </a:prstGeom>
          <a:noFill/>
        </p:spPr>
        <p:txBody>
          <a:bodyPr wrap="square" lIns="0" tIns="0" rIns="0" bIns="0" anchor="t">
            <a:spAutoFit/>
          </a:bodyPr>
          <a:lstStyle/>
          <a:p>
            <a:pPr algn="l">
              <a:lnSpc>
                <a:spcPct val="138000"/>
              </a:lnSpc>
            </a:pPr>
            <a:r>
              <a:rPr sz="1100" b="1" dirty="0">
                <a:solidFill>
                  <a:srgbClr val="1F0E33"/>
                </a:solidFill>
                <a:latin typeface="Arial"/>
              </a:rPr>
              <a:t>Link the score to the action rule:</a:t>
            </a:r>
            <a:r>
              <a:rPr sz="1100" b="0" dirty="0">
                <a:solidFill>
                  <a:srgbClr val="1F0E33"/>
                </a:solidFill>
                <a:latin typeface="Arial"/>
              </a:rPr>
              <a:t> high burden takes the lead, moderate takes queue priority, low takes the normal path. The tool already fires before set-up begins, which is when the lead has to be granted.</a:t>
            </a:r>
          </a:p>
        </p:txBody>
      </p:sp>
      <p:sp>
        <p:nvSpPr>
          <p:cNvPr id="18" name="Rectangle 17"/>
          <p:cNvSpPr/>
          <p:nvPr/>
        </p:nvSpPr>
        <p:spPr>
          <a:xfrm>
            <a:off x="8001000" y="1612900"/>
            <a:ext cx="3530600" cy="508000"/>
          </a:xfrm>
          <a:prstGeom prst="rect">
            <a:avLst/>
          </a:prstGeom>
          <a:solidFill>
            <a:srgbClr val="C9A3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8115300" y="1689100"/>
            <a:ext cx="3302000" cy="190500"/>
          </a:xfrm>
          <a:prstGeom prst="rect">
            <a:avLst/>
          </a:prstGeom>
          <a:noFill/>
        </p:spPr>
        <p:txBody>
          <a:bodyPr wrap="square" lIns="0" tIns="0" rIns="0" bIns="0" anchor="t">
            <a:spAutoFit/>
          </a:bodyPr>
          <a:lstStyle/>
          <a:p>
            <a:pPr algn="l">
              <a:lnSpc>
                <a:spcPct val="135000"/>
              </a:lnSpc>
            </a:pPr>
            <a:r>
              <a:rPr sz="1050" b="1" spc="130">
                <a:solidFill>
                  <a:srgbClr val="1F0E33"/>
                </a:solidFill>
                <a:latin typeface="Arial"/>
              </a:rPr>
              <a:t>THEN · 6 TO 12 MONTHS</a:t>
            </a:r>
          </a:p>
        </p:txBody>
      </p:sp>
      <p:sp>
        <p:nvSpPr>
          <p:cNvPr id="20" name="TextBox 19"/>
          <p:cNvSpPr txBox="1"/>
          <p:nvPr/>
        </p:nvSpPr>
        <p:spPr>
          <a:xfrm>
            <a:off x="8115300" y="1905000"/>
            <a:ext cx="3302000" cy="164853"/>
          </a:xfrm>
          <a:prstGeom prst="rect">
            <a:avLst/>
          </a:prstGeom>
          <a:noFill/>
        </p:spPr>
        <p:txBody>
          <a:bodyPr wrap="square" lIns="0" tIns="0" rIns="0" bIns="0" anchor="t">
            <a:spAutoFit/>
          </a:bodyPr>
          <a:lstStyle/>
          <a:p>
            <a:pPr algn="l">
              <a:lnSpc>
                <a:spcPct val="125000"/>
              </a:lnSpc>
            </a:pPr>
            <a:r>
              <a:rPr sz="950" b="0" dirty="0">
                <a:solidFill>
                  <a:srgbClr val="3F3350"/>
                </a:solidFill>
                <a:latin typeface="Arial"/>
              </a:rPr>
              <a:t>Replace estimates with records</a:t>
            </a:r>
          </a:p>
        </p:txBody>
      </p:sp>
      <p:sp>
        <p:nvSpPr>
          <p:cNvPr id="21" name="TextBox 20"/>
          <p:cNvSpPr txBox="1"/>
          <p:nvPr/>
        </p:nvSpPr>
        <p:spPr>
          <a:xfrm>
            <a:off x="8051800" y="2235200"/>
            <a:ext cx="3530600" cy="1270000"/>
          </a:xfrm>
          <a:prstGeom prst="rect">
            <a:avLst/>
          </a:prstGeom>
          <a:noFill/>
        </p:spPr>
        <p:txBody>
          <a:bodyPr wrap="square" lIns="0" tIns="0" rIns="0" bIns="0" anchor="t">
            <a:spAutoFit/>
          </a:bodyPr>
          <a:lstStyle/>
          <a:p>
            <a:pPr algn="l">
              <a:lnSpc>
                <a:spcPct val="138000"/>
              </a:lnSpc>
            </a:pPr>
            <a:r>
              <a:rPr sz="1100" b="1" dirty="0">
                <a:solidFill>
                  <a:srgbClr val="1F0E33"/>
                </a:solidFill>
                <a:latin typeface="Arial"/>
              </a:rPr>
              <a:t>Record four timestamps at the time:</a:t>
            </a:r>
            <a:r>
              <a:rPr sz="1100" b="0" dirty="0">
                <a:solidFill>
                  <a:srgbClr val="1F0E33"/>
                </a:solidFill>
                <a:latin typeface="Arial"/>
              </a:rPr>
              <a:t> pharmacy notified, set-up started, approval-ready, green light issued. Durations become records rather than reconstructions.</a:t>
            </a:r>
          </a:p>
        </p:txBody>
      </p:sp>
      <p:sp>
        <p:nvSpPr>
          <p:cNvPr id="22" name="TextBox 21"/>
          <p:cNvSpPr txBox="1"/>
          <p:nvPr/>
        </p:nvSpPr>
        <p:spPr>
          <a:xfrm>
            <a:off x="8077200" y="3254375"/>
            <a:ext cx="3530600" cy="1270000"/>
          </a:xfrm>
          <a:prstGeom prst="rect">
            <a:avLst/>
          </a:prstGeom>
          <a:noFill/>
        </p:spPr>
        <p:txBody>
          <a:bodyPr wrap="square" lIns="0" tIns="0" rIns="0" bIns="0" anchor="t">
            <a:spAutoFit/>
          </a:bodyPr>
          <a:lstStyle/>
          <a:p>
            <a:pPr algn="l">
              <a:lnSpc>
                <a:spcPct val="138000"/>
              </a:lnSpc>
            </a:pPr>
            <a:r>
              <a:rPr sz="1100" b="1" dirty="0">
                <a:solidFill>
                  <a:srgbClr val="1F0E33"/>
                </a:solidFill>
                <a:latin typeface="Arial"/>
              </a:rPr>
              <a:t>Re-estimate durations, validate the rubric prospectively, and re-run the simulation</a:t>
            </a:r>
            <a:r>
              <a:rPr sz="1100" b="0" dirty="0">
                <a:solidFill>
                  <a:srgbClr val="1F0E33"/>
                </a:solidFill>
                <a:latin typeface="Arial"/>
              </a:rPr>
              <a:t> on observed data. The approval-ready timestamp is the one input measured nowhere: the assumption holds below 1.5 hands-on days and breaks sharply above it.</a:t>
            </a:r>
          </a:p>
        </p:txBody>
      </p:sp>
      <p:sp>
        <p:nvSpPr>
          <p:cNvPr id="23" name="TextBox 22"/>
          <p:cNvSpPr txBox="1"/>
          <p:nvPr/>
        </p:nvSpPr>
        <p:spPr>
          <a:xfrm>
            <a:off x="8051800" y="4524375"/>
            <a:ext cx="3530600" cy="451149"/>
          </a:xfrm>
          <a:prstGeom prst="rect">
            <a:avLst/>
          </a:prstGeom>
          <a:noFill/>
        </p:spPr>
        <p:txBody>
          <a:bodyPr wrap="square" lIns="0" tIns="0" rIns="0" bIns="0" anchor="t">
            <a:spAutoFit/>
          </a:bodyPr>
          <a:lstStyle/>
          <a:p>
            <a:pPr algn="l">
              <a:lnSpc>
                <a:spcPct val="138000"/>
              </a:lnSpc>
            </a:pPr>
            <a:r>
              <a:rPr sz="1100" b="1" dirty="0">
                <a:solidFill>
                  <a:srgbClr val="1F0E33"/>
                </a:solidFill>
                <a:latin typeface="Arial"/>
              </a:rPr>
              <a:t>Build the planner only once data quality is sufficient</a:t>
            </a:r>
            <a:r>
              <a:rPr sz="1100" b="0" dirty="0">
                <a:solidFill>
                  <a:srgbClr val="1F0E33"/>
                </a:solidFill>
                <a:latin typeface="Arial"/>
              </a:rPr>
              <a:t> — before that it would compute on reconstructed dates.</a:t>
            </a:r>
            <a:r>
              <a:rPr lang="th-TH" sz="1100" b="0" dirty="0">
                <a:solidFill>
                  <a:srgbClr val="1F0E33"/>
                </a:solidFill>
                <a:latin typeface="Arial"/>
              </a:rPr>
              <a:t> </a:t>
            </a:r>
            <a:endParaRPr sz="1100" b="0" dirty="0">
              <a:solidFill>
                <a:srgbClr val="1F0E33"/>
              </a:solidFill>
              <a:latin typeface="Arial"/>
            </a:endParaRPr>
          </a:p>
        </p:txBody>
      </p:sp>
      <p:sp>
        <p:nvSpPr>
          <p:cNvPr id="24" name="Rectangle 23"/>
          <p:cNvSpPr/>
          <p:nvPr/>
        </p:nvSpPr>
        <p:spPr>
          <a:xfrm>
            <a:off x="622300" y="5266222"/>
            <a:ext cx="7213600" cy="1270000"/>
          </a:xfrm>
          <a:prstGeom prst="rect">
            <a:avLst/>
          </a:prstGeom>
          <a:noFill/>
          <a:ln w="12700">
            <a:solidFill>
              <a:srgbClr val="9D8FB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749300" y="5380522"/>
            <a:ext cx="7239000" cy="190500"/>
          </a:xfrm>
          <a:prstGeom prst="rect">
            <a:avLst/>
          </a:prstGeom>
          <a:noFill/>
        </p:spPr>
        <p:txBody>
          <a:bodyPr wrap="square" lIns="0" tIns="0" rIns="0" bIns="0" anchor="t">
            <a:spAutoFit/>
          </a:bodyPr>
          <a:lstStyle/>
          <a:p>
            <a:pPr algn="l">
              <a:lnSpc>
                <a:spcPct val="135000"/>
              </a:lnSpc>
            </a:pPr>
            <a:r>
              <a:rPr sz="950" b="1" spc="190" dirty="0">
                <a:solidFill>
                  <a:srgbClr val="6B5B7E"/>
                </a:solidFill>
                <a:latin typeface="Arial"/>
              </a:rPr>
              <a:t>NOT RECOMMENDED — AND NOT A FOURTH STAGE</a:t>
            </a:r>
          </a:p>
        </p:txBody>
      </p:sp>
      <p:sp>
        <p:nvSpPr>
          <p:cNvPr id="26" name="TextBox 25"/>
          <p:cNvSpPr txBox="1"/>
          <p:nvPr/>
        </p:nvSpPr>
        <p:spPr>
          <a:xfrm>
            <a:off x="723900" y="5682826"/>
            <a:ext cx="3467100" cy="381000"/>
          </a:xfrm>
          <a:prstGeom prst="rect">
            <a:avLst/>
          </a:prstGeom>
          <a:noFill/>
        </p:spPr>
        <p:txBody>
          <a:bodyPr wrap="square" lIns="0" tIns="0" rIns="0" bIns="0" anchor="t">
            <a:spAutoFit/>
          </a:bodyPr>
          <a:lstStyle/>
          <a:p>
            <a:pPr algn="l">
              <a:lnSpc>
                <a:spcPct val="128000"/>
              </a:lnSpc>
            </a:pPr>
            <a:r>
              <a:rPr sz="950" b="0">
                <a:solidFill>
                  <a:srgbClr val="3F3350"/>
                </a:solidFill>
                <a:latin typeface="Arial"/>
              </a:rPr>
              <a:t>× Opening more set-ups per month to chase the target. It changed the on-time count at none of the 25 decision points.</a:t>
            </a:r>
          </a:p>
        </p:txBody>
      </p:sp>
      <p:sp>
        <p:nvSpPr>
          <p:cNvPr id="27" name="TextBox 26"/>
          <p:cNvSpPr txBox="1"/>
          <p:nvPr/>
        </p:nvSpPr>
        <p:spPr>
          <a:xfrm>
            <a:off x="4254500" y="5689212"/>
            <a:ext cx="3467100" cy="381000"/>
          </a:xfrm>
          <a:prstGeom prst="rect">
            <a:avLst/>
          </a:prstGeom>
          <a:noFill/>
        </p:spPr>
        <p:txBody>
          <a:bodyPr wrap="square" lIns="0" tIns="0" rIns="0" bIns="0" anchor="t">
            <a:spAutoFit/>
          </a:bodyPr>
          <a:lstStyle/>
          <a:p>
            <a:pPr algn="l">
              <a:lnSpc>
                <a:spcPct val="128000"/>
              </a:lnSpc>
            </a:pPr>
            <a:r>
              <a:rPr sz="950" b="0" dirty="0">
                <a:solidFill>
                  <a:srgbClr val="3F3350"/>
                </a:solidFill>
                <a:latin typeface="Arial"/>
              </a:rPr>
              <a:t>× Changing the selection rule on its own. From three set-ups upwards it selects the same trials as arrival order.</a:t>
            </a:r>
          </a:p>
        </p:txBody>
      </p:sp>
      <p:sp>
        <p:nvSpPr>
          <p:cNvPr id="28" name="TextBox 27"/>
          <p:cNvSpPr txBox="1"/>
          <p:nvPr/>
        </p:nvSpPr>
        <p:spPr>
          <a:xfrm>
            <a:off x="723900" y="6013026"/>
            <a:ext cx="3467100" cy="381000"/>
          </a:xfrm>
          <a:prstGeom prst="rect">
            <a:avLst/>
          </a:prstGeom>
          <a:noFill/>
        </p:spPr>
        <p:txBody>
          <a:bodyPr wrap="square" lIns="0" tIns="0" rIns="0" bIns="0" anchor="t">
            <a:spAutoFit/>
          </a:bodyPr>
          <a:lstStyle/>
          <a:p>
            <a:pPr algn="l">
              <a:lnSpc>
                <a:spcPct val="128000"/>
              </a:lnSpc>
            </a:pPr>
            <a:r>
              <a:rPr sz="950" b="0" dirty="0">
                <a:solidFill>
                  <a:srgbClr val="3F3350"/>
                </a:solidFill>
                <a:latin typeface="Arial"/>
              </a:rPr>
              <a:t>× Closing the hand-over gap entirely. It runs to 210 days and is not wholly inside anyone's control.</a:t>
            </a:r>
          </a:p>
        </p:txBody>
      </p:sp>
      <p:sp>
        <p:nvSpPr>
          <p:cNvPr id="29" name="TextBox 28"/>
          <p:cNvSpPr txBox="1"/>
          <p:nvPr/>
        </p:nvSpPr>
        <p:spPr>
          <a:xfrm>
            <a:off x="4254500" y="6019412"/>
            <a:ext cx="3467100" cy="381000"/>
          </a:xfrm>
          <a:prstGeom prst="rect">
            <a:avLst/>
          </a:prstGeom>
          <a:noFill/>
        </p:spPr>
        <p:txBody>
          <a:bodyPr wrap="square" lIns="0" tIns="0" rIns="0" bIns="0" anchor="t">
            <a:spAutoFit/>
          </a:bodyPr>
          <a:lstStyle/>
          <a:p>
            <a:pPr algn="l">
              <a:lnSpc>
                <a:spcPct val="128000"/>
              </a:lnSpc>
            </a:pPr>
            <a:r>
              <a:rPr sz="950" b="0">
                <a:solidFill>
                  <a:srgbClr val="3F3350"/>
                </a:solidFill>
                <a:latin typeface="Arial"/>
              </a:rPr>
              <a:t>× Building the planner first. It belongs after the measurement stage, not before it.</a:t>
            </a:r>
          </a:p>
        </p:txBody>
      </p:sp>
      <p:sp>
        <p:nvSpPr>
          <p:cNvPr id="30" name="Rectangle 29"/>
          <p:cNvSpPr/>
          <p:nvPr/>
        </p:nvSpPr>
        <p:spPr>
          <a:xfrm>
            <a:off x="8001000" y="5270500"/>
            <a:ext cx="3606800" cy="1265722"/>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8077200" y="5380522"/>
            <a:ext cx="3505200" cy="1120563"/>
          </a:xfrm>
          <a:prstGeom prst="rect">
            <a:avLst/>
          </a:prstGeom>
          <a:noFill/>
        </p:spPr>
        <p:txBody>
          <a:bodyPr wrap="square" lIns="0" tIns="0" rIns="0" bIns="0" anchor="t">
            <a:spAutoFit/>
          </a:bodyPr>
          <a:lstStyle/>
          <a:p>
            <a:pPr>
              <a:lnSpc>
                <a:spcPct val="130000"/>
              </a:lnSpc>
            </a:pPr>
            <a:r>
              <a:rPr sz="950" b="1" dirty="0">
                <a:solidFill>
                  <a:srgbClr val="50017D"/>
                </a:solidFill>
                <a:latin typeface="Arial"/>
              </a:rPr>
              <a:t>Staffing is held constant throughout the analysis</a:t>
            </a:r>
            <a:r>
              <a:rPr sz="950" b="0" dirty="0">
                <a:solidFill>
                  <a:srgbClr val="3F3350"/>
                </a:solidFill>
                <a:latin typeface="Arial"/>
              </a:rPr>
              <a:t>, so </a:t>
            </a:r>
            <a:r>
              <a:rPr sz="950" b="0" u="sng" dirty="0">
                <a:solidFill>
                  <a:srgbClr val="3F3350"/>
                </a:solidFill>
                <a:latin typeface="Arial"/>
              </a:rPr>
              <a:t>every gain above comes from the establishment the </a:t>
            </a:r>
            <a:r>
              <a:rPr lang="en-US" sz="950" u="sng" dirty="0">
                <a:solidFill>
                  <a:srgbClr val="3F3350"/>
                </a:solidFill>
                <a:latin typeface="Arial"/>
              </a:rPr>
              <a:t>establishment</a:t>
            </a:r>
            <a:r>
              <a:rPr sz="950" b="0" u="sng" dirty="0">
                <a:solidFill>
                  <a:srgbClr val="3F3350"/>
                </a:solidFill>
                <a:latin typeface="Arial"/>
              </a:rPr>
              <a:t> already has</a:t>
            </a:r>
            <a:r>
              <a:rPr sz="950" b="0" dirty="0">
                <a:solidFill>
                  <a:srgbClr val="3F3350"/>
                </a:solidFill>
                <a:latin typeface="Arial"/>
              </a:rPr>
              <a:t>. What it is worth in money the study cannot say, because commercial income per trial and the cost of a set-up day are not in the data. The table converts directly once the trust puts those two figures against 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ACT 4 · WHAT TO DO</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12</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825500"/>
            <a:ext cx="11049000" cy="1270000"/>
          </a:xfrm>
          <a:prstGeom prst="rect">
            <a:avLst/>
          </a:prstGeom>
          <a:noFill/>
        </p:spPr>
        <p:txBody>
          <a:bodyPr wrap="square" lIns="0" tIns="0" rIns="0" bIns="0" anchor="t">
            <a:spAutoFit/>
          </a:bodyPr>
          <a:lstStyle/>
          <a:p>
            <a:pPr algn="l">
              <a:lnSpc>
                <a:spcPct val="116000"/>
              </a:lnSpc>
            </a:pPr>
            <a:r>
              <a:rPr sz="2200" b="1">
                <a:solidFill>
                  <a:srgbClr val="1F0E33"/>
                </a:solidFill>
                <a:latin typeface="Arial"/>
              </a:rPr>
              <a:t>Four sentences to take away</a:t>
            </a:r>
          </a:p>
        </p:txBody>
      </p:sp>
      <p:sp>
        <p:nvSpPr>
          <p:cNvPr id="6" name="TextBox 5"/>
          <p:cNvSpPr txBox="1"/>
          <p:nvPr/>
        </p:nvSpPr>
        <p:spPr>
          <a:xfrm>
            <a:off x="609600" y="1778000"/>
            <a:ext cx="381000" cy="317500"/>
          </a:xfrm>
          <a:prstGeom prst="rect">
            <a:avLst/>
          </a:prstGeom>
          <a:noFill/>
        </p:spPr>
        <p:txBody>
          <a:bodyPr wrap="square" lIns="0" tIns="0" rIns="0" bIns="0" anchor="t">
            <a:spAutoFit/>
          </a:bodyPr>
          <a:lstStyle/>
          <a:p>
            <a:pPr algn="l">
              <a:lnSpc>
                <a:spcPct val="100000"/>
              </a:lnSpc>
            </a:pPr>
            <a:r>
              <a:rPr sz="1600" b="1">
                <a:solidFill>
                  <a:srgbClr val="C9A3E8"/>
                </a:solidFill>
                <a:latin typeface="Arial"/>
              </a:rPr>
              <a:t>01</a:t>
            </a:r>
          </a:p>
        </p:txBody>
      </p:sp>
      <p:sp>
        <p:nvSpPr>
          <p:cNvPr id="7" name="TextBox 6"/>
          <p:cNvSpPr txBox="1"/>
          <p:nvPr/>
        </p:nvSpPr>
        <p:spPr>
          <a:xfrm>
            <a:off x="1041400" y="1752600"/>
            <a:ext cx="10287000" cy="762000"/>
          </a:xfrm>
          <a:prstGeom prst="rect">
            <a:avLst/>
          </a:prstGeom>
          <a:noFill/>
        </p:spPr>
        <p:txBody>
          <a:bodyPr wrap="square" lIns="0" tIns="0" rIns="0" bIns="0" anchor="t">
            <a:spAutoFit/>
          </a:bodyPr>
          <a:lstStyle/>
          <a:p>
            <a:pPr algn="l">
              <a:lnSpc>
                <a:spcPct val="140000"/>
              </a:lnSpc>
            </a:pPr>
            <a:r>
              <a:rPr sz="1400" b="1">
                <a:solidFill>
                  <a:srgbClr val="1F0E33"/>
                </a:solidFill>
                <a:latin typeface="Arial"/>
              </a:rPr>
              <a:t>The problem is not how many studies pharmacy opens each month. It is the usable time remaining when the study reaches pharmacy.</a:t>
            </a:r>
          </a:p>
        </p:txBody>
      </p:sp>
      <p:sp>
        <p:nvSpPr>
          <p:cNvPr id="8" name="TextBox 7"/>
          <p:cNvSpPr txBox="1"/>
          <p:nvPr/>
        </p:nvSpPr>
        <p:spPr>
          <a:xfrm>
            <a:off x="609600" y="2438400"/>
            <a:ext cx="381000" cy="317500"/>
          </a:xfrm>
          <a:prstGeom prst="rect">
            <a:avLst/>
          </a:prstGeom>
          <a:noFill/>
        </p:spPr>
        <p:txBody>
          <a:bodyPr wrap="square" lIns="0" tIns="0" rIns="0" bIns="0" anchor="t">
            <a:spAutoFit/>
          </a:bodyPr>
          <a:lstStyle/>
          <a:p>
            <a:pPr algn="l">
              <a:lnSpc>
                <a:spcPct val="100000"/>
              </a:lnSpc>
            </a:pPr>
            <a:r>
              <a:rPr sz="1600" b="1">
                <a:solidFill>
                  <a:srgbClr val="C9A3E8"/>
                </a:solidFill>
                <a:latin typeface="Arial"/>
              </a:rPr>
              <a:t>02</a:t>
            </a:r>
          </a:p>
        </p:txBody>
      </p:sp>
      <p:sp>
        <p:nvSpPr>
          <p:cNvPr id="9" name="TextBox 8"/>
          <p:cNvSpPr txBox="1"/>
          <p:nvPr/>
        </p:nvSpPr>
        <p:spPr>
          <a:xfrm>
            <a:off x="1041400" y="2413000"/>
            <a:ext cx="10287000" cy="762000"/>
          </a:xfrm>
          <a:prstGeom prst="rect">
            <a:avLst/>
          </a:prstGeom>
          <a:noFill/>
        </p:spPr>
        <p:txBody>
          <a:bodyPr wrap="square" lIns="0" tIns="0" rIns="0" bIns="0" anchor="t">
            <a:spAutoFit/>
          </a:bodyPr>
          <a:lstStyle/>
          <a:p>
            <a:pPr algn="l">
              <a:lnSpc>
                <a:spcPct val="140000"/>
              </a:lnSpc>
            </a:pPr>
            <a:r>
              <a:rPr sz="1400" b="1">
                <a:solidFill>
                  <a:srgbClr val="1F0E33"/>
                </a:solidFill>
                <a:latin typeface="Arial"/>
              </a:rPr>
              <a:t>Optimisation tells us the best possible portfolio within that time. Simulation tells us what the service can responsibly promise.</a:t>
            </a:r>
          </a:p>
        </p:txBody>
      </p:sp>
      <p:sp>
        <p:nvSpPr>
          <p:cNvPr id="10" name="TextBox 9"/>
          <p:cNvSpPr txBox="1"/>
          <p:nvPr/>
        </p:nvSpPr>
        <p:spPr>
          <a:xfrm>
            <a:off x="609600" y="3098800"/>
            <a:ext cx="381000" cy="317500"/>
          </a:xfrm>
          <a:prstGeom prst="rect">
            <a:avLst/>
          </a:prstGeom>
          <a:noFill/>
        </p:spPr>
        <p:txBody>
          <a:bodyPr wrap="square" lIns="0" tIns="0" rIns="0" bIns="0" anchor="t">
            <a:spAutoFit/>
          </a:bodyPr>
          <a:lstStyle/>
          <a:p>
            <a:pPr algn="l">
              <a:lnSpc>
                <a:spcPct val="100000"/>
              </a:lnSpc>
            </a:pPr>
            <a:r>
              <a:rPr sz="1600" b="1">
                <a:solidFill>
                  <a:srgbClr val="C9A3E8"/>
                </a:solidFill>
                <a:latin typeface="Arial"/>
              </a:rPr>
              <a:t>03</a:t>
            </a:r>
          </a:p>
        </p:txBody>
      </p:sp>
      <p:sp>
        <p:nvSpPr>
          <p:cNvPr id="11" name="TextBox 10"/>
          <p:cNvSpPr txBox="1"/>
          <p:nvPr/>
        </p:nvSpPr>
        <p:spPr>
          <a:xfrm>
            <a:off x="1041400" y="3073400"/>
            <a:ext cx="10287000" cy="762000"/>
          </a:xfrm>
          <a:prstGeom prst="rect">
            <a:avLst/>
          </a:prstGeom>
          <a:noFill/>
        </p:spPr>
        <p:txBody>
          <a:bodyPr wrap="square" lIns="0" tIns="0" rIns="0" bIns="0" anchor="t">
            <a:spAutoFit/>
          </a:bodyPr>
          <a:lstStyle/>
          <a:p>
            <a:pPr algn="l">
              <a:lnSpc>
                <a:spcPct val="140000"/>
              </a:lnSpc>
            </a:pPr>
            <a:r>
              <a:rPr sz="1400" b="1">
                <a:solidFill>
                  <a:srgbClr val="1F0E33"/>
                </a:solidFill>
                <a:latin typeface="Arial"/>
              </a:rPr>
              <a:t>More capacity and better selection reduce lateness, but only earlier preparation raises the on-time ceiling.</a:t>
            </a:r>
          </a:p>
        </p:txBody>
      </p:sp>
      <p:sp>
        <p:nvSpPr>
          <p:cNvPr id="12" name="TextBox 11"/>
          <p:cNvSpPr txBox="1"/>
          <p:nvPr/>
        </p:nvSpPr>
        <p:spPr>
          <a:xfrm>
            <a:off x="609600" y="3511550"/>
            <a:ext cx="381000" cy="317500"/>
          </a:xfrm>
          <a:prstGeom prst="rect">
            <a:avLst/>
          </a:prstGeom>
          <a:noFill/>
        </p:spPr>
        <p:txBody>
          <a:bodyPr wrap="square" lIns="0" tIns="0" rIns="0" bIns="0" anchor="t">
            <a:spAutoFit/>
          </a:bodyPr>
          <a:lstStyle/>
          <a:p>
            <a:pPr algn="l">
              <a:lnSpc>
                <a:spcPct val="100000"/>
              </a:lnSpc>
            </a:pPr>
            <a:r>
              <a:rPr sz="1600" b="1">
                <a:solidFill>
                  <a:srgbClr val="50017D"/>
                </a:solidFill>
                <a:latin typeface="Arial"/>
              </a:rPr>
              <a:t>04</a:t>
            </a:r>
          </a:p>
        </p:txBody>
      </p:sp>
      <p:sp>
        <p:nvSpPr>
          <p:cNvPr id="13" name="TextBox 12"/>
          <p:cNvSpPr txBox="1"/>
          <p:nvPr/>
        </p:nvSpPr>
        <p:spPr>
          <a:xfrm>
            <a:off x="1041400" y="3486150"/>
            <a:ext cx="10287000" cy="762000"/>
          </a:xfrm>
          <a:prstGeom prst="rect">
            <a:avLst/>
          </a:prstGeom>
          <a:noFill/>
        </p:spPr>
        <p:txBody>
          <a:bodyPr wrap="square" lIns="0" tIns="0" rIns="0" bIns="0" anchor="t">
            <a:spAutoFit/>
          </a:bodyPr>
          <a:lstStyle/>
          <a:p>
            <a:pPr algn="l">
              <a:lnSpc>
                <a:spcPct val="140000"/>
              </a:lnSpc>
            </a:pPr>
            <a:r>
              <a:rPr sz="1400" b="1">
                <a:solidFill>
                  <a:srgbClr val="50017D"/>
                </a:solidFill>
                <a:latin typeface="Arial"/>
              </a:rPr>
              <a:t>Start with targeted preparation for high-burden studies, operationalise the burden score, then measure the timestamps that make the rule precise.</a:t>
            </a:r>
          </a:p>
        </p:txBody>
      </p:sp>
      <p:sp>
        <p:nvSpPr>
          <p:cNvPr id="14" name="Rectangle 13"/>
          <p:cNvSpPr/>
          <p:nvPr/>
        </p:nvSpPr>
        <p:spPr>
          <a:xfrm>
            <a:off x="609600" y="4559300"/>
            <a:ext cx="76200" cy="166370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647700" y="4559300"/>
            <a:ext cx="6883400" cy="1663700"/>
          </a:xfrm>
          <a:prstGeom prst="rect">
            <a:avLst/>
          </a:prstGeom>
          <a:solidFill>
            <a:srgbClr val="F3ED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838200" y="5175250"/>
            <a:ext cx="6540500" cy="546047"/>
          </a:xfrm>
          <a:prstGeom prst="rect">
            <a:avLst/>
          </a:prstGeom>
          <a:noFill/>
        </p:spPr>
        <p:txBody>
          <a:bodyPr wrap="square" lIns="0" tIns="0" rIns="0" bIns="0" anchor="t">
            <a:spAutoFit/>
          </a:bodyPr>
          <a:lstStyle/>
          <a:p>
            <a:pPr algn="l">
              <a:lnSpc>
                <a:spcPct val="134000"/>
              </a:lnSpc>
            </a:pPr>
            <a:r>
              <a:rPr sz="1400" b="1" dirty="0">
                <a:solidFill>
                  <a:srgbClr val="1F0E33"/>
                </a:solidFill>
                <a:latin typeface="Arial"/>
              </a:rPr>
              <a:t>Do not add slots to chase on-time performance. Create earlier preparation for the studies that arrive with no slack, then measure the process properly.</a:t>
            </a:r>
          </a:p>
        </p:txBody>
      </p:sp>
      <p:sp>
        <p:nvSpPr>
          <p:cNvPr id="17" name="Rectangle 16"/>
          <p:cNvSpPr/>
          <p:nvPr/>
        </p:nvSpPr>
        <p:spPr>
          <a:xfrm>
            <a:off x="7772400" y="4559300"/>
            <a:ext cx="3810000" cy="1663700"/>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7912100" y="4752607"/>
            <a:ext cx="3530600" cy="1275734"/>
          </a:xfrm>
          <a:prstGeom prst="rect">
            <a:avLst/>
          </a:prstGeom>
          <a:noFill/>
        </p:spPr>
        <p:txBody>
          <a:bodyPr wrap="square" lIns="0" tIns="0" rIns="0" bIns="0" anchor="t">
            <a:spAutoFit/>
          </a:bodyPr>
          <a:lstStyle/>
          <a:p>
            <a:pPr algn="l">
              <a:lnSpc>
                <a:spcPct val="134000"/>
              </a:lnSpc>
            </a:pPr>
            <a:r>
              <a:rPr sz="1050" b="0" dirty="0">
                <a:solidFill>
                  <a:srgbClr val="3F3350"/>
                </a:solidFill>
                <a:latin typeface="Arial"/>
              </a:rPr>
              <a:t>These results describe </a:t>
            </a:r>
            <a:r>
              <a:rPr sz="1050" b="1" dirty="0">
                <a:solidFill>
                  <a:srgbClr val="3F3350"/>
                </a:solidFill>
                <a:latin typeface="Arial"/>
              </a:rPr>
              <a:t>demonstrated-achievable conditions</a:t>
            </a:r>
            <a:r>
              <a:rPr sz="1050" b="0" dirty="0">
                <a:solidFill>
                  <a:srgbClr val="3F3350"/>
                </a:solidFill>
                <a:latin typeface="Arial"/>
              </a:rPr>
              <a:t>, not average expected performance, on twenty case studies with reconstructed set-up dates. The next phase is to replace those estimates with recorded operational timestamps. </a:t>
            </a:r>
            <a:r>
              <a:rPr sz="1050" b="1" dirty="0">
                <a:solidFill>
                  <a:srgbClr val="50017D"/>
                </a:solidFill>
                <a:latin typeface="Arial"/>
              </a:rPr>
              <a:t>The one-page rule follows as a leave-behind.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3ED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609600" y="101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THE GUIDELINE — LEAVE-BEHIND, A4</a:t>
            </a:r>
          </a:p>
        </p:txBody>
      </p:sp>
      <p:sp>
        <p:nvSpPr>
          <p:cNvPr id="4" name="TextBox 3"/>
          <p:cNvSpPr txBox="1"/>
          <p:nvPr/>
        </p:nvSpPr>
        <p:spPr>
          <a:xfrm>
            <a:off x="10160000" y="101600"/>
            <a:ext cx="1422400" cy="190500"/>
          </a:xfrm>
          <a:prstGeom prst="rect">
            <a:avLst/>
          </a:prstGeom>
          <a:noFill/>
        </p:spPr>
        <p:txBody>
          <a:bodyPr wrap="square" lIns="0" tIns="0" rIns="0" bIns="0" anchor="t">
            <a:spAutoFit/>
          </a:bodyPr>
          <a:lstStyle/>
          <a:p>
            <a:pPr algn="r">
              <a:lnSpc>
                <a:spcPct val="135000"/>
              </a:lnSpc>
            </a:pPr>
            <a:r>
              <a:rPr sz="1100" b="0">
                <a:solidFill>
                  <a:srgbClr val="8C7BA0"/>
                </a:solidFill>
                <a:latin typeface="Arial"/>
              </a:rPr>
              <a:t>A4</a:t>
            </a:r>
          </a:p>
        </p:txBody>
      </p:sp>
      <p:sp>
        <p:nvSpPr>
          <p:cNvPr id="5" name="Rectangle 4"/>
          <p:cNvSpPr/>
          <p:nvPr/>
        </p:nvSpPr>
        <p:spPr>
          <a:xfrm>
            <a:off x="1778000" y="381000"/>
            <a:ext cx="8636000" cy="6350000"/>
          </a:xfrm>
          <a:prstGeom prst="rect">
            <a:avLst/>
          </a:prstGeom>
          <a:solidFill>
            <a:srgbClr val="FFFFFF"/>
          </a:solidFill>
          <a:ln w="6350">
            <a:solidFill>
              <a:srgbClr val="DC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2019300" y="533400"/>
            <a:ext cx="5715000" cy="190500"/>
          </a:xfrm>
          <a:prstGeom prst="rect">
            <a:avLst/>
          </a:prstGeom>
          <a:noFill/>
        </p:spPr>
        <p:txBody>
          <a:bodyPr wrap="square" lIns="0" tIns="0" rIns="0" bIns="0" anchor="t">
            <a:spAutoFit/>
          </a:bodyPr>
          <a:lstStyle/>
          <a:p>
            <a:pPr algn="l">
              <a:lnSpc>
                <a:spcPct val="135000"/>
              </a:lnSpc>
            </a:pPr>
            <a:r>
              <a:rPr sz="1100" b="1" spc="260">
                <a:solidFill>
                  <a:srgbClr val="50017D"/>
                </a:solidFill>
                <a:latin typeface="Arial"/>
              </a:rPr>
              <a:t>PHARMACY CLINICAL TRIALS SET-UP · LTHTR</a:t>
            </a:r>
          </a:p>
        </p:txBody>
      </p:sp>
      <p:sp>
        <p:nvSpPr>
          <p:cNvPr id="7" name="TextBox 6"/>
          <p:cNvSpPr txBox="1"/>
          <p:nvPr/>
        </p:nvSpPr>
        <p:spPr>
          <a:xfrm>
            <a:off x="2019300" y="749300"/>
            <a:ext cx="6350000" cy="317500"/>
          </a:xfrm>
          <a:prstGeom prst="rect">
            <a:avLst/>
          </a:prstGeom>
          <a:noFill/>
        </p:spPr>
        <p:txBody>
          <a:bodyPr wrap="square" lIns="0" tIns="0" rIns="0" bIns="0" anchor="t">
            <a:spAutoFit/>
          </a:bodyPr>
          <a:lstStyle/>
          <a:p>
            <a:pPr algn="l">
              <a:lnSpc>
                <a:spcPct val="115000"/>
              </a:lnSpc>
            </a:pPr>
            <a:r>
              <a:rPr sz="1650" b="1">
                <a:solidFill>
                  <a:srgbClr val="1F0E33"/>
                </a:solidFill>
                <a:latin typeface="Arial"/>
              </a:rPr>
              <a:t>The rule, small enough to put on the wall</a:t>
            </a:r>
          </a:p>
        </p:txBody>
      </p:sp>
      <p:pic>
        <p:nvPicPr>
          <p:cNvPr id="8" name="Picture 7" descr="manchester-logo.png"/>
          <p:cNvPicPr>
            <a:picLocks noChangeAspect="1"/>
          </p:cNvPicPr>
          <p:nvPr/>
        </p:nvPicPr>
        <p:blipFill>
          <a:blip r:embed="rId3"/>
          <a:stretch>
            <a:fillRect/>
          </a:stretch>
        </p:blipFill>
        <p:spPr>
          <a:xfrm>
            <a:off x="9525000" y="762000"/>
            <a:ext cx="612080" cy="190500"/>
          </a:xfrm>
          <a:prstGeom prst="rect">
            <a:avLst/>
          </a:prstGeom>
        </p:spPr>
      </p:pic>
      <p:sp>
        <p:nvSpPr>
          <p:cNvPr id="9" name="Rectangle 8"/>
          <p:cNvSpPr/>
          <p:nvPr/>
        </p:nvSpPr>
        <p:spPr>
          <a:xfrm>
            <a:off x="2019300" y="1130300"/>
            <a:ext cx="8153400" cy="1270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2019300" y="1257300"/>
            <a:ext cx="2387600" cy="1905000"/>
          </a:xfrm>
          <a:prstGeom prst="rect">
            <a:avLst/>
          </a:prstGeom>
          <a:noFill/>
        </p:spPr>
        <p:txBody>
          <a:bodyPr wrap="square" lIns="0" tIns="0" rIns="0" bIns="0" anchor="t">
            <a:spAutoFit/>
          </a:bodyPr>
          <a:lstStyle/>
          <a:p>
            <a:pPr algn="l">
              <a:lnSpc>
                <a:spcPct val="128000"/>
              </a:lnSpc>
            </a:pPr>
            <a:r>
              <a:rPr sz="1050" b="1">
                <a:solidFill>
                  <a:srgbClr val="50017D"/>
                </a:solidFill>
                <a:latin typeface="Arial"/>
              </a:rPr>
              <a:t>Step 1. At notification, ask three questions</a:t>
            </a:r>
          </a:p>
        </p:txBody>
      </p:sp>
      <p:sp>
        <p:nvSpPr>
          <p:cNvPr id="11" name="TextBox 10"/>
          <p:cNvSpPr txBox="1"/>
          <p:nvPr/>
        </p:nvSpPr>
        <p:spPr>
          <a:xfrm>
            <a:off x="2019300" y="1701800"/>
            <a:ext cx="2387600" cy="1905000"/>
          </a:xfrm>
          <a:prstGeom prst="rect">
            <a:avLst/>
          </a:prstGeom>
          <a:noFill/>
        </p:spPr>
        <p:txBody>
          <a:bodyPr wrap="square" lIns="0" tIns="0" rIns="0" bIns="0" anchor="t">
            <a:spAutoFit/>
          </a:bodyPr>
          <a:lstStyle/>
          <a:p>
            <a:pPr algn="l">
              <a:lnSpc>
                <a:spcPct val="128000"/>
              </a:lnSpc>
            </a:pPr>
            <a:r>
              <a:rPr sz="950" b="0">
                <a:solidFill>
                  <a:srgbClr val="6B5B7E"/>
                </a:solidFill>
                <a:latin typeface="Arial"/>
              </a:rPr>
              <a:t>All three are answerable from what R&amp;I already holds.</a:t>
            </a:r>
          </a:p>
        </p:txBody>
      </p:sp>
      <p:sp>
        <p:nvSpPr>
          <p:cNvPr id="12" name="TextBox 11"/>
          <p:cNvSpPr txBox="1"/>
          <p:nvPr/>
        </p:nvSpPr>
        <p:spPr>
          <a:xfrm>
            <a:off x="2019300" y="2127250"/>
            <a:ext cx="2387600" cy="1905000"/>
          </a:xfrm>
          <a:prstGeom prst="rect">
            <a:avLst/>
          </a:prstGeom>
          <a:noFill/>
        </p:spPr>
        <p:txBody>
          <a:bodyPr wrap="square" lIns="0" tIns="0" rIns="0" bIns="0" anchor="t">
            <a:spAutoFit/>
          </a:bodyPr>
          <a:lstStyle/>
          <a:p>
            <a:pPr algn="l">
              <a:lnSpc>
                <a:spcPct val="128000"/>
              </a:lnSpc>
            </a:pPr>
            <a:r>
              <a:rPr sz="950" b="0">
                <a:solidFill>
                  <a:srgbClr val="1F0E33"/>
                </a:solidFill>
                <a:latin typeface="Arial"/>
              </a:rPr>
              <a:t>1  Does the study need aseptic preparation?</a:t>
            </a:r>
          </a:p>
        </p:txBody>
      </p:sp>
      <p:sp>
        <p:nvSpPr>
          <p:cNvPr id="13" name="TextBox 12"/>
          <p:cNvSpPr txBox="1"/>
          <p:nvPr/>
        </p:nvSpPr>
        <p:spPr>
          <a:xfrm>
            <a:off x="2019300" y="2514600"/>
            <a:ext cx="2387600" cy="1905000"/>
          </a:xfrm>
          <a:prstGeom prst="rect">
            <a:avLst/>
          </a:prstGeom>
          <a:noFill/>
        </p:spPr>
        <p:txBody>
          <a:bodyPr wrap="square" lIns="0" tIns="0" rIns="0" bIns="0" anchor="t">
            <a:spAutoFit/>
          </a:bodyPr>
          <a:lstStyle/>
          <a:p>
            <a:pPr algn="l">
              <a:lnSpc>
                <a:spcPct val="128000"/>
              </a:lnSpc>
            </a:pPr>
            <a:r>
              <a:rPr sz="950" b="0">
                <a:solidFill>
                  <a:srgbClr val="1F0E33"/>
                </a:solidFill>
                <a:latin typeface="Arial"/>
              </a:rPr>
              <a:t>2  What is the later of HRA approval and site selection? That day is when the 60-day clock opens.</a:t>
            </a:r>
          </a:p>
        </p:txBody>
      </p:sp>
      <p:sp>
        <p:nvSpPr>
          <p:cNvPr id="14" name="TextBox 13"/>
          <p:cNvSpPr txBox="1"/>
          <p:nvPr/>
        </p:nvSpPr>
        <p:spPr>
          <a:xfrm>
            <a:off x="2019300" y="3067050"/>
            <a:ext cx="2387600" cy="1905000"/>
          </a:xfrm>
          <a:prstGeom prst="rect">
            <a:avLst/>
          </a:prstGeom>
          <a:noFill/>
        </p:spPr>
        <p:txBody>
          <a:bodyPr wrap="square" lIns="0" tIns="0" rIns="0" bIns="0" anchor="t">
            <a:spAutoFit/>
          </a:bodyPr>
          <a:lstStyle/>
          <a:p>
            <a:pPr algn="l">
              <a:lnSpc>
                <a:spcPct val="128000"/>
              </a:lnSpc>
            </a:pPr>
            <a:r>
              <a:rPr sz="950" b="0">
                <a:solidFill>
                  <a:srgbClr val="1F0E33"/>
                </a:solidFill>
                <a:latin typeface="Arial"/>
              </a:rPr>
              <a:t>3  Has pharmacy been told before that day?</a:t>
            </a:r>
          </a:p>
        </p:txBody>
      </p:sp>
      <p:sp>
        <p:nvSpPr>
          <p:cNvPr id="15" name="TextBox 14"/>
          <p:cNvSpPr txBox="1"/>
          <p:nvPr/>
        </p:nvSpPr>
        <p:spPr>
          <a:xfrm>
            <a:off x="2019300" y="3568700"/>
            <a:ext cx="2387600" cy="1905000"/>
          </a:xfrm>
          <a:prstGeom prst="rect">
            <a:avLst/>
          </a:prstGeom>
          <a:noFill/>
        </p:spPr>
        <p:txBody>
          <a:bodyPr wrap="square" lIns="0" tIns="0" rIns="0" bIns="0" anchor="t">
            <a:spAutoFit/>
          </a:bodyPr>
          <a:lstStyle/>
          <a:p>
            <a:pPr algn="l">
              <a:lnSpc>
                <a:spcPct val="128000"/>
              </a:lnSpc>
            </a:pPr>
            <a:r>
              <a:rPr sz="1050" b="1">
                <a:solidFill>
                  <a:srgbClr val="50017D"/>
                </a:solidFill>
                <a:latin typeface="Arial"/>
              </a:rPr>
              <a:t>Step 4. When committing the month, state a count the service can hold</a:t>
            </a:r>
          </a:p>
        </p:txBody>
      </p:sp>
      <p:sp>
        <p:nvSpPr>
          <p:cNvPr id="16" name="TextBox 15"/>
          <p:cNvSpPr txBox="1"/>
          <p:nvPr/>
        </p:nvSpPr>
        <p:spPr>
          <a:xfrm>
            <a:off x="2019300" y="4013200"/>
            <a:ext cx="2387600" cy="1905000"/>
          </a:xfrm>
          <a:prstGeom prst="rect">
            <a:avLst/>
          </a:prstGeom>
          <a:noFill/>
        </p:spPr>
        <p:txBody>
          <a:bodyPr wrap="square" lIns="0" tIns="0" rIns="0" bIns="0" anchor="t">
            <a:spAutoFit/>
          </a:bodyPr>
          <a:lstStyle/>
          <a:p>
            <a:pPr algn="l">
              <a:lnSpc>
                <a:spcPct val="128000"/>
              </a:lnSpc>
            </a:pPr>
            <a:r>
              <a:rPr sz="950" b="0">
                <a:solidFill>
                  <a:srgbClr val="1F0E33"/>
                </a:solidFill>
                <a:latin typeface="Arial"/>
              </a:rPr>
              <a:t>A plan promising three on-time completions delivers three in about a third of runs and two in about half. Commit to the count that holds at the confidence the service has agreed, not to the maximum the plan reports.</a:t>
            </a:r>
          </a:p>
        </p:txBody>
      </p:sp>
      <p:sp>
        <p:nvSpPr>
          <p:cNvPr id="17" name="TextBox 16"/>
          <p:cNvSpPr txBox="1"/>
          <p:nvPr/>
        </p:nvSpPr>
        <p:spPr>
          <a:xfrm>
            <a:off x="2019300" y="5187950"/>
            <a:ext cx="2387600" cy="1905000"/>
          </a:xfrm>
          <a:prstGeom prst="rect">
            <a:avLst/>
          </a:prstGeom>
          <a:noFill/>
        </p:spPr>
        <p:txBody>
          <a:bodyPr wrap="square" lIns="0" tIns="0" rIns="0" bIns="0" anchor="t">
            <a:spAutoFit/>
          </a:bodyPr>
          <a:lstStyle/>
          <a:p>
            <a:pPr algn="l">
              <a:lnSpc>
                <a:spcPct val="128000"/>
              </a:lnSpc>
            </a:pPr>
            <a:r>
              <a:rPr sz="1050" b="1">
                <a:solidFill>
                  <a:srgbClr val="50017D"/>
                </a:solidFill>
                <a:latin typeface="Arial"/>
              </a:rPr>
              <a:t>Step 5. Review it at the meeting that already happens</a:t>
            </a:r>
          </a:p>
        </p:txBody>
      </p:sp>
      <p:sp>
        <p:nvSpPr>
          <p:cNvPr id="18" name="TextBox 17"/>
          <p:cNvSpPr txBox="1"/>
          <p:nvPr/>
        </p:nvSpPr>
        <p:spPr>
          <a:xfrm>
            <a:off x="2019300" y="5632450"/>
            <a:ext cx="2387600" cy="1905000"/>
          </a:xfrm>
          <a:prstGeom prst="rect">
            <a:avLst/>
          </a:prstGeom>
          <a:noFill/>
        </p:spPr>
        <p:txBody>
          <a:bodyPr wrap="square" lIns="0" tIns="0" rIns="0" bIns="0" anchor="t">
            <a:spAutoFit/>
          </a:bodyPr>
          <a:lstStyle/>
          <a:p>
            <a:pPr algn="l">
              <a:lnSpc>
                <a:spcPct val="128000"/>
              </a:lnSpc>
            </a:pPr>
            <a:r>
              <a:rPr sz="950" b="0">
                <a:solidFill>
                  <a:srgbClr val="1F0E33"/>
                </a:solidFill>
                <a:latin typeface="Arial"/>
              </a:rPr>
              <a:t>The screen needs the study name, the two approval dates, the pathway and the band. It supports judgement and does not replace governance.</a:t>
            </a:r>
          </a:p>
        </p:txBody>
      </p:sp>
      <p:sp>
        <p:nvSpPr>
          <p:cNvPr id="19" name="TextBox 18"/>
          <p:cNvSpPr txBox="1"/>
          <p:nvPr/>
        </p:nvSpPr>
        <p:spPr>
          <a:xfrm>
            <a:off x="4635500" y="1257300"/>
            <a:ext cx="2844800" cy="254000"/>
          </a:xfrm>
          <a:prstGeom prst="rect">
            <a:avLst/>
          </a:prstGeom>
          <a:noFill/>
        </p:spPr>
        <p:txBody>
          <a:bodyPr wrap="square" lIns="0" tIns="0" rIns="0" bIns="0" anchor="t">
            <a:spAutoFit/>
          </a:bodyPr>
          <a:lstStyle/>
          <a:p>
            <a:pPr algn="l">
              <a:lnSpc>
                <a:spcPct val="120000"/>
              </a:lnSpc>
            </a:pPr>
            <a:r>
              <a:rPr sz="1050" b="1">
                <a:solidFill>
                  <a:srgbClr val="50017D"/>
                </a:solidFill>
                <a:latin typeface="Arial"/>
              </a:rPr>
              <a:t>Step 2. Score measure 4b using this rubric</a:t>
            </a:r>
          </a:p>
        </p:txBody>
      </p:sp>
      <p:graphicFrame>
        <p:nvGraphicFramePr>
          <p:cNvPr id="20" name="Table 19"/>
          <p:cNvGraphicFramePr>
            <a:graphicFrameLocks noGrp="1"/>
          </p:cNvGraphicFramePr>
          <p:nvPr/>
        </p:nvGraphicFramePr>
        <p:xfrm>
          <a:off x="4635500" y="1574800"/>
          <a:ext cx="2844800" cy="3090801"/>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0000"/>
                    </a:ext>
                  </a:extLst>
                </a:gridCol>
                <a:gridCol w="18161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tblGrid>
              <a:tr h="0">
                <a:tc>
                  <a:txBody>
                    <a:bodyPr/>
                    <a:lstStyle/>
                    <a:p>
                      <a:pPr>
                        <a:lnSpc>
                          <a:spcPct val="128000"/>
                        </a:lnSpc>
                      </a:pPr>
                      <a:r>
                        <a:rPr sz="1000" b="1" spc="60">
                          <a:solidFill>
                            <a:srgbClr val="50017D"/>
                          </a:solidFill>
                          <a:latin typeface="Arial"/>
                        </a:rPr>
                        <a:t>RANK</a:t>
                      </a:r>
                    </a:p>
                  </a:txBody>
                  <a:tcPr marL="0" marR="88900" marT="50800" marB="50800" anchor="b">
                    <a:lnB w="12700" cap="flat" cmpd="sng" algn="ctr">
                      <a:solidFill>
                        <a:srgbClr val="50017D"/>
                      </a:solidFill>
                    </a:lnB>
                    <a:noFill/>
                  </a:tcPr>
                </a:tc>
                <a:tc>
                  <a:txBody>
                    <a:bodyPr/>
                    <a:lstStyle/>
                    <a:p>
                      <a:pPr>
                        <a:lnSpc>
                          <a:spcPct val="128000"/>
                        </a:lnSpc>
                      </a:pPr>
                      <a:r>
                        <a:rPr sz="1000" b="1" spc="60">
                          <a:solidFill>
                            <a:srgbClr val="50017D"/>
                          </a:solidFill>
                          <a:latin typeface="Arial"/>
                        </a:rPr>
                        <a:t>WHAT THE STUDY ASKS OF PHARMACY</a:t>
                      </a:r>
                    </a:p>
                  </a:txBody>
                  <a:tcPr marL="44450" marR="88900" marT="50800" marB="50800" anchor="b">
                    <a:lnB w="12700" cap="flat" cmpd="sng" algn="ctr">
                      <a:solidFill>
                        <a:srgbClr val="50017D"/>
                      </a:solidFill>
                    </a:lnB>
                    <a:noFill/>
                  </a:tcPr>
                </a:tc>
                <a:tc>
                  <a:txBody>
                    <a:bodyPr/>
                    <a:lstStyle/>
                    <a:p>
                      <a:pPr>
                        <a:lnSpc>
                          <a:spcPct val="128000"/>
                        </a:lnSpc>
                      </a:pPr>
                      <a:r>
                        <a:rPr sz="1000" b="1" spc="60">
                          <a:solidFill>
                            <a:srgbClr val="50017D"/>
                          </a:solidFill>
                          <a:latin typeface="Arial"/>
                        </a:rPr>
                        <a:t>BAND</a:t>
                      </a:r>
                    </a:p>
                  </a:txBody>
                  <a:tcPr marL="44450" marR="88900" marT="50800" marB="50800" anchor="b">
                    <a:lnB w="12700" cap="flat" cmpd="sng" algn="ctr">
                      <a:solidFill>
                        <a:srgbClr val="50017D"/>
                      </a:solidFill>
                    </a:lnB>
                    <a:noFill/>
                  </a:tcPr>
                </a:tc>
                <a:extLst>
                  <a:ext uri="{0D108BD9-81ED-4DB2-BD59-A6C34878D82A}">
                    <a16:rowId xmlns:a16="http://schemas.microsoft.com/office/drawing/2014/main" val="10000"/>
                  </a:ext>
                </a:extLst>
              </a:tr>
              <a:tr h="127000">
                <a:tc>
                  <a:txBody>
                    <a:bodyPr/>
                    <a:lstStyle/>
                    <a:p>
                      <a:pPr>
                        <a:lnSpc>
                          <a:spcPct val="128000"/>
                        </a:lnSpc>
                      </a:pPr>
                      <a:r>
                        <a:rPr sz="950" b="1">
                          <a:solidFill>
                            <a:srgbClr val="1F0E33"/>
                          </a:solidFill>
                          <a:latin typeface="Arial"/>
                        </a:rPr>
                        <a:t>2</a:t>
                      </a:r>
                    </a:p>
                  </a:txBody>
                  <a:tcPr marL="0" marR="88900" marT="44450" marB="44450">
                    <a:lnT w="12700" cap="flat" cmpd="sng" algn="ctr">
                      <a:solidFill>
                        <a:srgbClr val="50017D"/>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950" b="0">
                          <a:solidFill>
                            <a:srgbClr val="1F0E33"/>
                          </a:solidFill>
                          <a:latin typeface="Arial"/>
                        </a:rPr>
                        <a:t>Dispensary-led, low-complexity IMP, no aseptic work, no new prescribing build</a:t>
                      </a:r>
                    </a:p>
                  </a:txBody>
                  <a:tcPr marL="44450" marR="88900" marT="44450" marB="44450">
                    <a:lnT w="12700" cap="flat" cmpd="sng" algn="ctr">
                      <a:solidFill>
                        <a:srgbClr val="50017D"/>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950" b="0">
                          <a:solidFill>
                            <a:srgbClr val="1F0E33"/>
                          </a:solidFill>
                          <a:latin typeface="Arial"/>
                        </a:rPr>
                        <a:t>Low</a:t>
                      </a:r>
                    </a:p>
                  </a:txBody>
                  <a:tcPr marL="44450" marR="88900" marT="44450" marB="44450">
                    <a:lnT w="12700" cap="flat" cmpd="sng" algn="ctr">
                      <a:solidFill>
                        <a:srgbClr val="50017D"/>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1"/>
                  </a:ext>
                </a:extLst>
              </a:tr>
              <a:tr h="127000">
                <a:tc>
                  <a:txBody>
                    <a:bodyPr/>
                    <a:lstStyle/>
                    <a:p>
                      <a:pPr>
                        <a:lnSpc>
                          <a:spcPct val="128000"/>
                        </a:lnSpc>
                      </a:pPr>
                      <a:r>
                        <a:rPr sz="950" b="1">
                          <a:solidFill>
                            <a:srgbClr val="1F0E33"/>
                          </a:solidFill>
                          <a:latin typeface="Arial"/>
                        </a:rPr>
                        <a:t>3 to 4</a:t>
                      </a:r>
                    </a:p>
                  </a:txBody>
                  <a:tcPr marL="0" marR="88900" marT="44450" marB="444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950" b="0">
                          <a:solidFill>
                            <a:srgbClr val="1F0E33"/>
                          </a:solidFill>
                          <a:latin typeface="Arial"/>
                        </a:rPr>
                        <a:t>Either aseptic preparation or an electronic prescribing build, but not both; standard supply arrangements</a:t>
                      </a:r>
                    </a:p>
                  </a:txBody>
                  <a:tcPr marL="44450" marR="88900" marT="44450" marB="444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950" b="0">
                          <a:solidFill>
                            <a:srgbClr val="1F0E33"/>
                          </a:solidFill>
                          <a:latin typeface="Arial"/>
                        </a:rPr>
                        <a:t>Moderate</a:t>
                      </a:r>
                    </a:p>
                  </a:txBody>
                  <a:tcPr marL="44450" marR="88900" marT="44450" marB="4445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2"/>
                  </a:ext>
                </a:extLst>
              </a:tr>
              <a:tr h="127000">
                <a:tc>
                  <a:txBody>
                    <a:bodyPr/>
                    <a:lstStyle/>
                    <a:p>
                      <a:pPr>
                        <a:lnSpc>
                          <a:spcPct val="128000"/>
                        </a:lnSpc>
                      </a:pPr>
                      <a:r>
                        <a:rPr sz="950" b="1">
                          <a:solidFill>
                            <a:srgbClr val="1F0E33"/>
                          </a:solidFill>
                          <a:latin typeface="Arial"/>
                        </a:rPr>
                        <a:t>5 to 6</a:t>
                      </a:r>
                    </a:p>
                  </a:txBody>
                  <a:tcPr marL="0" marR="88900" marT="44450" marB="444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950" b="0">
                          <a:solidFill>
                            <a:srgbClr val="1F0E33"/>
                          </a:solidFill>
                          <a:latin typeface="Arial"/>
                        </a:rPr>
                        <a:t>Aseptic preparation with a prescribing build, non-standard supply, or a technical services or quality assurance requirement the unit has not run before</a:t>
                      </a:r>
                    </a:p>
                  </a:txBody>
                  <a:tcPr marL="44450" marR="88900" marT="44450" marB="444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950" b="0">
                          <a:solidFill>
                            <a:srgbClr val="1F0E33"/>
                          </a:solidFill>
                          <a:latin typeface="Arial"/>
                        </a:rPr>
                        <a:t>High</a:t>
                      </a:r>
                    </a:p>
                  </a:txBody>
                  <a:tcPr marL="44450" marR="88900" marT="44450" marB="4445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3"/>
                  </a:ext>
                </a:extLst>
              </a:tr>
            </a:tbl>
          </a:graphicData>
        </a:graphic>
      </p:graphicFrame>
      <p:sp>
        <p:nvSpPr>
          <p:cNvPr id="21" name="TextBox 20"/>
          <p:cNvSpPr txBox="1"/>
          <p:nvPr/>
        </p:nvSpPr>
        <p:spPr>
          <a:xfrm>
            <a:off x="4635500" y="4686300"/>
            <a:ext cx="2844800" cy="1651000"/>
          </a:xfrm>
          <a:prstGeom prst="rect">
            <a:avLst/>
          </a:prstGeom>
          <a:noFill/>
        </p:spPr>
        <p:txBody>
          <a:bodyPr wrap="square" lIns="0" tIns="0" rIns="0" bIns="0" anchor="t">
            <a:spAutoFit/>
          </a:bodyPr>
          <a:lstStyle/>
          <a:p>
            <a:pPr algn="l">
              <a:lnSpc>
                <a:spcPct val="126000"/>
              </a:lnSpc>
            </a:pPr>
            <a:r>
              <a:rPr sz="900" b="0">
                <a:solidFill>
                  <a:srgbClr val="6B5B7E"/>
                </a:solidFill>
                <a:latin typeface="Arial"/>
              </a:rPr>
              <a:t>Note for the room: this rubric is the study's ranks 2 to 6 written as descriptions. The ranks were given after the outcomes were known, so they classify what these twenty studies demanded rather than predict what a new one will. Use it as a risk screen and revise the wording as pharmacy scores real studies against it.</a:t>
            </a:r>
          </a:p>
        </p:txBody>
      </p:sp>
      <p:sp>
        <p:nvSpPr>
          <p:cNvPr id="22" name="TextBox 21"/>
          <p:cNvSpPr txBox="1"/>
          <p:nvPr/>
        </p:nvSpPr>
        <p:spPr>
          <a:xfrm>
            <a:off x="7708900" y="1257300"/>
            <a:ext cx="2463800" cy="254000"/>
          </a:xfrm>
          <a:prstGeom prst="rect">
            <a:avLst/>
          </a:prstGeom>
          <a:noFill/>
        </p:spPr>
        <p:txBody>
          <a:bodyPr wrap="square" lIns="0" tIns="0" rIns="0" bIns="0" anchor="t">
            <a:spAutoFit/>
          </a:bodyPr>
          <a:lstStyle/>
          <a:p>
            <a:pPr algn="l">
              <a:lnSpc>
                <a:spcPct val="120000"/>
              </a:lnSpc>
            </a:pPr>
            <a:r>
              <a:rPr sz="1050" b="1">
                <a:solidFill>
                  <a:srgbClr val="50017D"/>
                </a:solidFill>
                <a:latin typeface="Arial"/>
              </a:rPr>
              <a:t>Step 3. Act on the band</a:t>
            </a:r>
          </a:p>
        </p:txBody>
      </p:sp>
      <p:sp>
        <p:nvSpPr>
          <p:cNvPr id="23" name="Rectangle 22"/>
          <p:cNvSpPr/>
          <p:nvPr/>
        </p:nvSpPr>
        <p:spPr>
          <a:xfrm>
            <a:off x="7708900" y="1600200"/>
            <a:ext cx="246380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7708900" y="1676400"/>
            <a:ext cx="2463800" cy="215900"/>
          </a:xfrm>
          <a:prstGeom prst="rect">
            <a:avLst/>
          </a:prstGeom>
          <a:noFill/>
        </p:spPr>
        <p:txBody>
          <a:bodyPr wrap="square" lIns="0" tIns="0" rIns="0" bIns="0" anchor="t">
            <a:spAutoFit/>
          </a:bodyPr>
          <a:lstStyle/>
          <a:p>
            <a:pPr algn="l">
              <a:lnSpc>
                <a:spcPct val="135000"/>
              </a:lnSpc>
            </a:pPr>
            <a:r>
              <a:rPr sz="1050" b="1">
                <a:solidFill>
                  <a:srgbClr val="1F0E33"/>
                </a:solidFill>
                <a:latin typeface="Arial"/>
              </a:rPr>
              <a:t>High, 5 to 6</a:t>
            </a:r>
          </a:p>
        </p:txBody>
      </p:sp>
      <p:sp>
        <p:nvSpPr>
          <p:cNvPr id="25" name="TextBox 24"/>
          <p:cNvSpPr txBox="1"/>
          <p:nvPr/>
        </p:nvSpPr>
        <p:spPr>
          <a:xfrm>
            <a:off x="7708900" y="1898650"/>
            <a:ext cx="2463800" cy="1016000"/>
          </a:xfrm>
          <a:prstGeom prst="rect">
            <a:avLst/>
          </a:prstGeom>
          <a:noFill/>
        </p:spPr>
        <p:txBody>
          <a:bodyPr wrap="square" lIns="0" tIns="0" rIns="0" bIns="0" anchor="t">
            <a:spAutoFit/>
          </a:bodyPr>
          <a:lstStyle/>
          <a:p>
            <a:pPr algn="l">
              <a:lnSpc>
                <a:spcPct val="126000"/>
              </a:lnSpc>
            </a:pPr>
            <a:r>
              <a:rPr sz="950" b="0">
                <a:solidFill>
                  <a:srgbClr val="1F0E33"/>
                </a:solidFill>
                <a:latin typeface="Arial"/>
              </a:rPr>
              <a:t>Begin pharmacy preparation as soon as the study is known, targeting 28 days before the clock opens. Do not wait for the hand-over meeting.</a:t>
            </a:r>
          </a:p>
        </p:txBody>
      </p:sp>
      <p:sp>
        <p:nvSpPr>
          <p:cNvPr id="26" name="TextBox 25"/>
          <p:cNvSpPr txBox="1"/>
          <p:nvPr/>
        </p:nvSpPr>
        <p:spPr>
          <a:xfrm>
            <a:off x="7708900" y="2622550"/>
            <a:ext cx="2463800" cy="1016000"/>
          </a:xfrm>
          <a:prstGeom prst="rect">
            <a:avLst/>
          </a:prstGeom>
          <a:noFill/>
        </p:spPr>
        <p:txBody>
          <a:bodyPr wrap="square" lIns="0" tIns="0" rIns="0" bIns="0" anchor="t">
            <a:spAutoFit/>
          </a:bodyPr>
          <a:lstStyle/>
          <a:p>
            <a:pPr algn="l">
              <a:lnSpc>
                <a:spcPct val="126000"/>
              </a:lnSpc>
            </a:pPr>
            <a:r>
              <a:rPr sz="900" b="0">
                <a:solidFill>
                  <a:srgbClr val="6B5B7E"/>
                </a:solidFill>
                <a:latin typeface="Arial"/>
              </a:rPr>
              <a:t>No slack inside the window. Without a lead the study is on time half the time; with 28 days, three times in four.</a:t>
            </a:r>
          </a:p>
        </p:txBody>
      </p:sp>
      <p:sp>
        <p:nvSpPr>
          <p:cNvPr id="27" name="Rectangle 26"/>
          <p:cNvSpPr/>
          <p:nvPr/>
        </p:nvSpPr>
        <p:spPr>
          <a:xfrm>
            <a:off x="7708900" y="3263900"/>
            <a:ext cx="2463800" cy="19050"/>
          </a:xfrm>
          <a:prstGeom prst="rect">
            <a:avLst/>
          </a:prstGeom>
          <a:solidFill>
            <a:srgbClr val="C9A3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7708900" y="3340100"/>
            <a:ext cx="2463800" cy="215900"/>
          </a:xfrm>
          <a:prstGeom prst="rect">
            <a:avLst/>
          </a:prstGeom>
          <a:noFill/>
        </p:spPr>
        <p:txBody>
          <a:bodyPr wrap="square" lIns="0" tIns="0" rIns="0" bIns="0" anchor="t">
            <a:spAutoFit/>
          </a:bodyPr>
          <a:lstStyle/>
          <a:p>
            <a:pPr algn="l">
              <a:lnSpc>
                <a:spcPct val="135000"/>
              </a:lnSpc>
            </a:pPr>
            <a:r>
              <a:rPr sz="1050" b="1">
                <a:solidFill>
                  <a:srgbClr val="1F0E33"/>
                </a:solidFill>
                <a:latin typeface="Arial"/>
              </a:rPr>
              <a:t>Moderate, 3 to 4</a:t>
            </a:r>
          </a:p>
        </p:txBody>
      </p:sp>
      <p:sp>
        <p:nvSpPr>
          <p:cNvPr id="29" name="TextBox 28"/>
          <p:cNvSpPr txBox="1"/>
          <p:nvPr/>
        </p:nvSpPr>
        <p:spPr>
          <a:xfrm>
            <a:off x="7708900" y="3562350"/>
            <a:ext cx="2463800" cy="1016000"/>
          </a:xfrm>
          <a:prstGeom prst="rect">
            <a:avLst/>
          </a:prstGeom>
          <a:noFill/>
        </p:spPr>
        <p:txBody>
          <a:bodyPr wrap="square" lIns="0" tIns="0" rIns="0" bIns="0" anchor="t">
            <a:spAutoFit/>
          </a:bodyPr>
          <a:lstStyle/>
          <a:p>
            <a:pPr algn="l">
              <a:lnSpc>
                <a:spcPct val="126000"/>
              </a:lnSpc>
            </a:pPr>
            <a:r>
              <a:rPr sz="950" b="0">
                <a:solidFill>
                  <a:srgbClr val="1F0E33"/>
                </a:solidFill>
                <a:latin typeface="Arial"/>
              </a:rPr>
              <a:t>Normal path, but move it to the front of the pharmacy queue after notification.</a:t>
            </a:r>
          </a:p>
        </p:txBody>
      </p:sp>
      <p:sp>
        <p:nvSpPr>
          <p:cNvPr id="30" name="TextBox 29"/>
          <p:cNvSpPr txBox="1"/>
          <p:nvPr/>
        </p:nvSpPr>
        <p:spPr>
          <a:xfrm>
            <a:off x="7708900" y="3949700"/>
            <a:ext cx="2463800" cy="1016000"/>
          </a:xfrm>
          <a:prstGeom prst="rect">
            <a:avLst/>
          </a:prstGeom>
          <a:noFill/>
        </p:spPr>
        <p:txBody>
          <a:bodyPr wrap="square" lIns="0" tIns="0" rIns="0" bIns="0" anchor="t">
            <a:spAutoFit/>
          </a:bodyPr>
          <a:lstStyle/>
          <a:p>
            <a:pPr algn="l">
              <a:lnSpc>
                <a:spcPct val="126000"/>
              </a:lnSpc>
            </a:pPr>
            <a:r>
              <a:rPr sz="900" b="0">
                <a:solidFill>
                  <a:srgbClr val="6B5B7E"/>
                </a:solidFill>
                <a:latin typeface="Arial"/>
              </a:rPr>
              <a:t>Twenty days of slack against a median 14-day hand-over. The queue is what decides it.</a:t>
            </a:r>
          </a:p>
        </p:txBody>
      </p:sp>
      <p:sp>
        <p:nvSpPr>
          <p:cNvPr id="31" name="Rectangle 30"/>
          <p:cNvSpPr/>
          <p:nvPr/>
        </p:nvSpPr>
        <p:spPr>
          <a:xfrm>
            <a:off x="7708900" y="4432300"/>
            <a:ext cx="2463800" cy="19050"/>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7708900" y="4508500"/>
            <a:ext cx="2463800" cy="215900"/>
          </a:xfrm>
          <a:prstGeom prst="rect">
            <a:avLst/>
          </a:prstGeom>
          <a:noFill/>
        </p:spPr>
        <p:txBody>
          <a:bodyPr wrap="square" lIns="0" tIns="0" rIns="0" bIns="0" anchor="t">
            <a:spAutoFit/>
          </a:bodyPr>
          <a:lstStyle/>
          <a:p>
            <a:pPr algn="l">
              <a:lnSpc>
                <a:spcPct val="135000"/>
              </a:lnSpc>
            </a:pPr>
            <a:r>
              <a:rPr sz="1050" b="1">
                <a:solidFill>
                  <a:srgbClr val="1F0E33"/>
                </a:solidFill>
                <a:latin typeface="Arial"/>
              </a:rPr>
              <a:t>Low, 2</a:t>
            </a:r>
          </a:p>
        </p:txBody>
      </p:sp>
      <p:sp>
        <p:nvSpPr>
          <p:cNvPr id="33" name="TextBox 32"/>
          <p:cNvSpPr txBox="1"/>
          <p:nvPr/>
        </p:nvSpPr>
        <p:spPr>
          <a:xfrm>
            <a:off x="7708900" y="4730750"/>
            <a:ext cx="2463800" cy="1016000"/>
          </a:xfrm>
          <a:prstGeom prst="rect">
            <a:avLst/>
          </a:prstGeom>
          <a:noFill/>
        </p:spPr>
        <p:txBody>
          <a:bodyPr wrap="square" lIns="0" tIns="0" rIns="0" bIns="0" anchor="t">
            <a:spAutoFit/>
          </a:bodyPr>
          <a:lstStyle/>
          <a:p>
            <a:pPr algn="l">
              <a:lnSpc>
                <a:spcPct val="126000"/>
              </a:lnSpc>
            </a:pPr>
            <a:r>
              <a:rPr sz="950" b="0">
                <a:solidFill>
                  <a:srgbClr val="1F0E33"/>
                </a:solidFill>
                <a:latin typeface="Arial"/>
              </a:rPr>
              <a:t>Normal path.</a:t>
            </a:r>
          </a:p>
        </p:txBody>
      </p:sp>
      <p:sp>
        <p:nvSpPr>
          <p:cNvPr id="34" name="TextBox 33"/>
          <p:cNvSpPr txBox="1"/>
          <p:nvPr/>
        </p:nvSpPr>
        <p:spPr>
          <a:xfrm>
            <a:off x="7708900" y="4946650"/>
            <a:ext cx="2463800" cy="1016000"/>
          </a:xfrm>
          <a:prstGeom prst="rect">
            <a:avLst/>
          </a:prstGeom>
          <a:noFill/>
        </p:spPr>
        <p:txBody>
          <a:bodyPr wrap="square" lIns="0" tIns="0" rIns="0" bIns="0" anchor="t">
            <a:spAutoFit/>
          </a:bodyPr>
          <a:lstStyle/>
          <a:p>
            <a:pPr algn="l">
              <a:lnSpc>
                <a:spcPct val="126000"/>
              </a:lnSpc>
            </a:pPr>
            <a:r>
              <a:rPr sz="900" b="0">
                <a:solidFill>
                  <a:srgbClr val="6B5B7E"/>
                </a:solidFill>
                <a:latin typeface="Arial"/>
              </a:rPr>
              <a:t>Thirty-seven days of slack. Neither intervention changes the outcome.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EFE5FB"/>
                </a:solidFill>
                <a:latin typeface="Arial"/>
              </a:rPr>
              <a:t>END OF THE MAIN DECK</a:t>
            </a:r>
          </a:p>
        </p:txBody>
      </p:sp>
      <p:sp>
        <p:nvSpPr>
          <p:cNvPr id="4" name="TextBox 3"/>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C9A3E8"/>
                </a:solidFill>
                <a:latin typeface="Arial"/>
              </a:rPr>
              <a:t>B0</a:t>
            </a:r>
          </a:p>
        </p:txBody>
      </p:sp>
      <p:sp>
        <p:nvSpPr>
          <p:cNvPr id="5" name="Rectangle 4"/>
          <p:cNvSpPr/>
          <p:nvPr/>
        </p:nvSpPr>
        <p:spPr>
          <a:xfrm>
            <a:off x="609600" y="635000"/>
            <a:ext cx="1097280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609600" y="2540000"/>
            <a:ext cx="9017000" cy="571500"/>
          </a:xfrm>
          <a:prstGeom prst="rect">
            <a:avLst/>
          </a:prstGeom>
          <a:noFill/>
        </p:spPr>
        <p:txBody>
          <a:bodyPr wrap="square" lIns="0" tIns="0" rIns="0" bIns="0" anchor="t">
            <a:spAutoFit/>
          </a:bodyPr>
          <a:lstStyle/>
          <a:p>
            <a:pPr algn="l">
              <a:lnSpc>
                <a:spcPct val="110000"/>
              </a:lnSpc>
            </a:pPr>
            <a:r>
              <a:rPr sz="3000" b="1">
                <a:solidFill>
                  <a:srgbClr val="FFFFFF"/>
                </a:solidFill>
                <a:latin typeface="Arial"/>
              </a:rPr>
              <a:t>Back-up slides</a:t>
            </a:r>
          </a:p>
        </p:txBody>
      </p:sp>
      <p:sp>
        <p:nvSpPr>
          <p:cNvPr id="7" name="TextBox 6"/>
          <p:cNvSpPr txBox="1"/>
          <p:nvPr/>
        </p:nvSpPr>
        <p:spPr>
          <a:xfrm>
            <a:off x="609600" y="3302000"/>
            <a:ext cx="9017000" cy="1016000"/>
          </a:xfrm>
          <a:prstGeom prst="rect">
            <a:avLst/>
          </a:prstGeom>
          <a:noFill/>
        </p:spPr>
        <p:txBody>
          <a:bodyPr wrap="square" lIns="0" tIns="0" rIns="0" bIns="0" anchor="t">
            <a:spAutoFit/>
          </a:bodyPr>
          <a:lstStyle/>
          <a:p>
            <a:pPr algn="l">
              <a:lnSpc>
                <a:spcPct val="145000"/>
              </a:lnSpc>
            </a:pPr>
            <a:r>
              <a:rPr sz="1450" b="0">
                <a:solidFill>
                  <a:srgbClr val="EFE5FB"/>
                </a:solidFill>
                <a:latin typeface="Arial"/>
              </a:rPr>
              <a:t>Seven items held in reserve: the model parameters and duration floors, the full lever table, the approval surface, the statistical tests, what a rescue costs, the robustness sweep and burden weights, and the planner interface.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BACK-UP · B1</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B1</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787400"/>
            <a:ext cx="11049000" cy="1270000"/>
          </a:xfrm>
          <a:prstGeom prst="rect">
            <a:avLst/>
          </a:prstGeom>
          <a:noFill/>
        </p:spPr>
        <p:txBody>
          <a:bodyPr wrap="square" lIns="0" tIns="0" rIns="0" bIns="0" anchor="t">
            <a:spAutoFit/>
          </a:bodyPr>
          <a:lstStyle/>
          <a:p>
            <a:pPr algn="l">
              <a:lnSpc>
                <a:spcPct val="116000"/>
              </a:lnSpc>
            </a:pPr>
            <a:r>
              <a:rPr sz="2200" b="1">
                <a:solidFill>
                  <a:srgbClr val="1F0E33"/>
                </a:solidFill>
                <a:latin typeface="Arial"/>
              </a:rPr>
              <a:t>The model parameters, and the pathway duration floors</a:t>
            </a:r>
          </a:p>
        </p:txBody>
      </p:sp>
      <p:graphicFrame>
        <p:nvGraphicFramePr>
          <p:cNvPr id="6" name="Table 5"/>
          <p:cNvGraphicFramePr>
            <a:graphicFrameLocks noGrp="1"/>
          </p:cNvGraphicFramePr>
          <p:nvPr/>
        </p:nvGraphicFramePr>
        <p:xfrm>
          <a:off x="609600" y="1701800"/>
          <a:ext cx="10972800" cy="3196274"/>
        </p:xfrm>
        <a:graphic>
          <a:graphicData uri="http://schemas.openxmlformats.org/drawingml/2006/table">
            <a:tbl>
              <a:tblPr>
                <a:tableStyleId>{5C22544A-7EE6-4342-B048-85BDC9FD1C3A}</a:tableStyleId>
              </a:tblPr>
              <a:tblGrid>
                <a:gridCol w="2197100">
                  <a:extLst>
                    <a:ext uri="{9D8B030D-6E8A-4147-A177-3AD203B41FA5}">
                      <a16:colId xmlns:a16="http://schemas.microsoft.com/office/drawing/2014/main" val="20000"/>
                    </a:ext>
                  </a:extLst>
                </a:gridCol>
                <a:gridCol w="4940300">
                  <a:extLst>
                    <a:ext uri="{9D8B030D-6E8A-4147-A177-3AD203B41FA5}">
                      <a16:colId xmlns:a16="http://schemas.microsoft.com/office/drawing/2014/main" val="20001"/>
                    </a:ext>
                  </a:extLst>
                </a:gridCol>
                <a:gridCol w="3835400">
                  <a:extLst>
                    <a:ext uri="{9D8B030D-6E8A-4147-A177-3AD203B41FA5}">
                      <a16:colId xmlns:a16="http://schemas.microsoft.com/office/drawing/2014/main" val="20002"/>
                    </a:ext>
                  </a:extLst>
                </a:gridCol>
              </a:tblGrid>
              <a:tr h="0">
                <a:tc>
                  <a:txBody>
                    <a:bodyPr/>
                    <a:lstStyle/>
                    <a:p>
                      <a:pPr>
                        <a:lnSpc>
                          <a:spcPct val="128000"/>
                        </a:lnSpc>
                      </a:pPr>
                      <a:r>
                        <a:rPr sz="1050" b="1" spc="60">
                          <a:solidFill>
                            <a:srgbClr val="50017D"/>
                          </a:solidFill>
                          <a:latin typeface="Arial"/>
                        </a:rPr>
                        <a:t>INPUT</a:t>
                      </a:r>
                    </a:p>
                  </a:txBody>
                  <a:tcPr marL="0" marR="88900" marT="69850" marB="69850" anchor="b">
                    <a:lnB w="12700" cap="flat" cmpd="sng" algn="ctr">
                      <a:solidFill>
                        <a:srgbClr val="50017D"/>
                      </a:solidFill>
                    </a:lnB>
                    <a:noFill/>
                  </a:tcPr>
                </a:tc>
                <a:tc>
                  <a:txBody>
                    <a:bodyPr/>
                    <a:lstStyle/>
                    <a:p>
                      <a:pPr>
                        <a:lnSpc>
                          <a:spcPct val="128000"/>
                        </a:lnSpc>
                      </a:pPr>
                      <a:r>
                        <a:rPr sz="1050" b="1" spc="60">
                          <a:solidFill>
                            <a:srgbClr val="50017D"/>
                          </a:solidFill>
                          <a:latin typeface="Arial"/>
                        </a:rPr>
                        <a:t>VALUE USED</a:t>
                      </a:r>
                    </a:p>
                  </a:txBody>
                  <a:tcPr marL="44450" marR="88900" marT="69850" marB="69850" anchor="b">
                    <a:lnB w="12700" cap="flat" cmpd="sng" algn="ctr">
                      <a:solidFill>
                        <a:srgbClr val="50017D"/>
                      </a:solidFill>
                    </a:lnB>
                    <a:noFill/>
                  </a:tcPr>
                </a:tc>
                <a:tc>
                  <a:txBody>
                    <a:bodyPr/>
                    <a:lstStyle/>
                    <a:p>
                      <a:pPr>
                        <a:lnSpc>
                          <a:spcPct val="128000"/>
                        </a:lnSpc>
                      </a:pPr>
                      <a:r>
                        <a:rPr sz="1050" b="1" spc="60">
                          <a:solidFill>
                            <a:srgbClr val="50017D"/>
                          </a:solidFill>
                          <a:latin typeface="Arial"/>
                        </a:rPr>
                        <a:t>WHERE IT COMES FROM</a:t>
                      </a:r>
                    </a:p>
                  </a:txBody>
                  <a:tcPr marL="44450" marR="88900" marT="69850" marB="69850" anchor="b">
                    <a:lnB w="12700" cap="flat" cmpd="sng" algn="ctr">
                      <a:solidFill>
                        <a:srgbClr val="50017D"/>
                      </a:solidFill>
                    </a:lnB>
                    <a:noFill/>
                  </a:tcPr>
                </a:tc>
                <a:extLst>
                  <a:ext uri="{0D108BD9-81ED-4DB2-BD59-A6C34878D82A}">
                    <a16:rowId xmlns:a16="http://schemas.microsoft.com/office/drawing/2014/main" val="10000"/>
                  </a:ext>
                </a:extLst>
              </a:tr>
              <a:tr h="0">
                <a:tc>
                  <a:txBody>
                    <a:bodyPr/>
                    <a:lstStyle/>
                    <a:p>
                      <a:pPr>
                        <a:lnSpc>
                          <a:spcPct val="128000"/>
                        </a:lnSpc>
                      </a:pPr>
                      <a:r>
                        <a:rPr sz="1150" b="1">
                          <a:solidFill>
                            <a:srgbClr val="1F0E33"/>
                          </a:solidFill>
                          <a:latin typeface="Arial"/>
                        </a:rPr>
                        <a:t>Target window</a:t>
                      </a:r>
                    </a:p>
                  </a:txBody>
                  <a:tcPr marL="0" marR="88900" marT="82550" marB="82550">
                    <a:lnT w="12700" cap="flat" cmpd="sng" algn="ctr">
                      <a:solidFill>
                        <a:srgbClr val="50017D"/>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60 days from the later of HRA approval and site selection</a:t>
                      </a:r>
                    </a:p>
                  </a:txBody>
                  <a:tcPr marL="44450" marR="88900" marT="82550" marB="82550">
                    <a:lnT w="12700" cap="flat" cmpd="sng" algn="ctr">
                      <a:solidFill>
                        <a:srgbClr val="50017D"/>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The national 150-day definition</a:t>
                      </a:r>
                    </a:p>
                  </a:txBody>
                  <a:tcPr marL="44450" marR="88900" marT="82550" marB="82550">
                    <a:lnT w="12700" cap="flat" cmpd="sng" algn="ctr">
                      <a:solidFill>
                        <a:srgbClr val="50017D"/>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1"/>
                  </a:ext>
                </a:extLst>
              </a:tr>
              <a:tr h="0">
                <a:tc>
                  <a:txBody>
                    <a:bodyPr/>
                    <a:lstStyle/>
                    <a:p>
                      <a:pPr>
                        <a:lnSpc>
                          <a:spcPct val="128000"/>
                        </a:lnSpc>
                      </a:pPr>
                      <a:r>
                        <a:rPr sz="1150" b="1">
                          <a:solidFill>
                            <a:srgbClr val="1F0E33"/>
                          </a:solidFill>
                          <a:latin typeface="Arial"/>
                        </a:rPr>
                        <a:t>Time available</a:t>
                      </a:r>
                    </a:p>
                  </a:txBody>
                  <a:tcPr marL="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Due date less the later of today and the date pharmacy can begin</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Calculated per trial; delay still ahead is subtracted, delay already served is not</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2"/>
                  </a:ext>
                </a:extLst>
              </a:tr>
              <a:tr h="0">
                <a:tc>
                  <a:txBody>
                    <a:bodyPr/>
                    <a:lstStyle/>
                    <a:p>
                      <a:pPr>
                        <a:lnSpc>
                          <a:spcPct val="128000"/>
                        </a:lnSpc>
                      </a:pPr>
                      <a:r>
                        <a:rPr sz="1150" b="1">
                          <a:solidFill>
                            <a:srgbClr val="50017D"/>
                          </a:solidFill>
                          <a:latin typeface="Arial"/>
                        </a:rPr>
                        <a:t>Set-up duration floors</a:t>
                      </a:r>
                    </a:p>
                  </a:txBody>
                  <a:tcPr marL="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solidFill>
                      <a:srgbClr val="F3EDF9"/>
                    </a:solidFill>
                  </a:tcPr>
                </a:tc>
                <a:tc>
                  <a:txBody>
                    <a:bodyPr/>
                    <a:lstStyle/>
                    <a:p>
                      <a:pPr>
                        <a:lnSpc>
                          <a:spcPct val="128000"/>
                        </a:lnSpc>
                      </a:pPr>
                      <a:r>
                        <a:rPr sz="1150" b="0">
                          <a:solidFill>
                            <a:srgbClr val="50017D"/>
                          </a:solidFill>
                          <a:latin typeface="Arial"/>
                        </a:rPr>
                        <a:t>30 days prescription-only, 50 routine, 60 both, 72 aseptic-only, with a 63-day overlay where a trial is both high burden and on the Both pathway</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solidFill>
                      <a:srgbClr val="F3EDF9"/>
                    </a:solidFill>
                  </a:tcPr>
                </a:tc>
                <a:tc>
                  <a:txBody>
                    <a:bodyPr/>
                    <a:lstStyle/>
                    <a:p>
                      <a:pPr>
                        <a:lnSpc>
                          <a:spcPct val="128000"/>
                        </a:lnSpc>
                      </a:pPr>
                      <a:r>
                        <a:rPr sz="1150" b="0">
                          <a:solidFill>
                            <a:srgbClr val="50017D"/>
                          </a:solidFill>
                          <a:latin typeface="Arial"/>
                        </a:rPr>
                        <a:t>The demonstrated work floors, audited in Appendix F</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solidFill>
                      <a:srgbClr val="F3EDF9"/>
                    </a:solidFill>
                  </a:tcPr>
                </a:tc>
                <a:extLst>
                  <a:ext uri="{0D108BD9-81ED-4DB2-BD59-A6C34878D82A}">
                    <a16:rowId xmlns:a16="http://schemas.microsoft.com/office/drawing/2014/main" val="10003"/>
                  </a:ext>
                </a:extLst>
              </a:tr>
              <a:tr h="0">
                <a:tc>
                  <a:txBody>
                    <a:bodyPr/>
                    <a:lstStyle/>
                    <a:p>
                      <a:pPr>
                        <a:lnSpc>
                          <a:spcPct val="128000"/>
                        </a:lnSpc>
                      </a:pPr>
                      <a:r>
                        <a:rPr sz="1150" b="1">
                          <a:solidFill>
                            <a:srgbClr val="1F0E33"/>
                          </a:solidFill>
                          <a:latin typeface="Arial"/>
                        </a:rPr>
                        <a:t>Preparation lead</a:t>
                      </a:r>
                    </a:p>
                  </a:txBody>
                  <a:tcPr marL="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Tested at 0, 7, 14, 21, 35 and 60 days; zero in the base case</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Tested as a range, not assumed</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4"/>
                  </a:ext>
                </a:extLst>
              </a:tr>
              <a:tr h="0">
                <a:tc>
                  <a:txBody>
                    <a:bodyPr/>
                    <a:lstStyle/>
                    <a:p>
                      <a:pPr>
                        <a:lnSpc>
                          <a:spcPct val="128000"/>
                        </a:lnSpc>
                      </a:pPr>
                      <a:r>
                        <a:rPr sz="1150" b="1">
                          <a:solidFill>
                            <a:srgbClr val="1F0E33"/>
                          </a:solidFill>
                          <a:latin typeface="Arial"/>
                        </a:rPr>
                        <a:t>Approval wait</a:t>
                      </a:r>
                    </a:p>
                  </a:txBody>
                  <a:tcPr marL="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Rises with the number of trials committed at once</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A single-server queue formula. The only input in the results that is not measured</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5"/>
                  </a:ext>
                </a:extLst>
              </a:tr>
              <a:tr h="0">
                <a:tc>
                  <a:txBody>
                    <a:bodyPr/>
                    <a:lstStyle/>
                    <a:p>
                      <a:pPr>
                        <a:lnSpc>
                          <a:spcPct val="128000"/>
                        </a:lnSpc>
                      </a:pPr>
                      <a:r>
                        <a:rPr sz="1150" b="1">
                          <a:solidFill>
                            <a:srgbClr val="1F0E33"/>
                          </a:solidFill>
                          <a:latin typeface="Arial"/>
                        </a:rPr>
                        <a:t>Set-ups per cycle</a:t>
                      </a:r>
                    </a:p>
                  </a:txBody>
                  <a:tcPr marL="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Tested at 1 to 6, against a stated limit of two</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50" b="0">
                          <a:solidFill>
                            <a:srgbClr val="1F0E33"/>
                          </a:solidFill>
                          <a:latin typeface="Arial"/>
                        </a:rPr>
                        <a:t>The service-level agreement</a:t>
                      </a:r>
                    </a:p>
                  </a:txBody>
                  <a:tcPr marL="44450" marR="88900" marT="82550" marB="8255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6"/>
                  </a:ext>
                </a:extLst>
              </a:tr>
            </a:tbl>
          </a:graphicData>
        </a:graphic>
      </p:graphicFrame>
      <p:sp>
        <p:nvSpPr>
          <p:cNvPr id="7" name="Rectangle 6"/>
          <p:cNvSpPr/>
          <p:nvPr/>
        </p:nvSpPr>
        <p:spPr>
          <a:xfrm>
            <a:off x="609600" y="5435600"/>
            <a:ext cx="10972800" cy="1003300"/>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774700" y="5562600"/>
            <a:ext cx="10642600" cy="825500"/>
          </a:xfrm>
          <a:prstGeom prst="rect">
            <a:avLst/>
          </a:prstGeom>
          <a:noFill/>
        </p:spPr>
        <p:txBody>
          <a:bodyPr wrap="square" lIns="0" tIns="0" rIns="0" bIns="0" anchor="t">
            <a:spAutoFit/>
          </a:bodyPr>
          <a:lstStyle/>
          <a:p>
            <a:pPr algn="l">
              <a:lnSpc>
                <a:spcPct val="140000"/>
              </a:lnSpc>
            </a:pPr>
            <a:r>
              <a:rPr sz="1150" b="1">
                <a:solidFill>
                  <a:srgbClr val="50017D"/>
                </a:solidFill>
                <a:latin typeface="Arial"/>
              </a:rPr>
              <a:t>The three hand-over medians, and why they differ. </a:t>
            </a:r>
            <a:r>
              <a:rPr sz="1150" b="0">
                <a:solidFill>
                  <a:srgbClr val="3F3350"/>
                </a:solidFill>
                <a:latin typeface="Arial"/>
              </a:rPr>
              <a:t>The CTIMP tracker gives a median 8-day hand-over across 104 trials. The case-study return gives a median of 35 days before pharmacy began, on the 14 of 19 usable studies where the hand-over was positive, running as high as 210. The triage rule uses the median 14 days between the clock starting and pharmacy receiving the study. Each is valid for its own source and definition; only the 14-day figure is used in the rule.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BACK-UP · B2</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B2</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787400"/>
            <a:ext cx="11049000" cy="1270000"/>
          </a:xfrm>
          <a:prstGeom prst="rect">
            <a:avLst/>
          </a:prstGeom>
          <a:noFill/>
        </p:spPr>
        <p:txBody>
          <a:bodyPr wrap="square" lIns="0" tIns="0" rIns="0" bIns="0" anchor="t">
            <a:spAutoFit/>
          </a:bodyPr>
          <a:lstStyle/>
          <a:p>
            <a:pPr algn="l">
              <a:lnSpc>
                <a:spcPct val="116000"/>
              </a:lnSpc>
            </a:pPr>
            <a:r>
              <a:rPr sz="2200" b="1">
                <a:solidFill>
                  <a:srgbClr val="1F0E33"/>
                </a:solidFill>
                <a:latin typeface="Arial"/>
              </a:rPr>
              <a:t>Table G.2 in full: each setting's tested range and what it moves</a:t>
            </a:r>
          </a:p>
        </p:txBody>
      </p:sp>
      <p:graphicFrame>
        <p:nvGraphicFramePr>
          <p:cNvPr id="6" name="Table 5"/>
          <p:cNvGraphicFramePr>
            <a:graphicFrameLocks noGrp="1"/>
          </p:cNvGraphicFramePr>
          <p:nvPr/>
        </p:nvGraphicFramePr>
        <p:xfrm>
          <a:off x="609600" y="1701800"/>
          <a:ext cx="10972800" cy="3806320"/>
        </p:xfrm>
        <a:graphic>
          <a:graphicData uri="http://schemas.openxmlformats.org/drawingml/2006/table">
            <a:tbl>
              <a:tblPr>
                <a:tableStyleId>{5C22544A-7EE6-4342-B048-85BDC9FD1C3A}</a:tableStyleId>
              </a:tblPr>
              <a:tblGrid>
                <a:gridCol w="2197100">
                  <a:extLst>
                    <a:ext uri="{9D8B030D-6E8A-4147-A177-3AD203B41FA5}">
                      <a16:colId xmlns:a16="http://schemas.microsoft.com/office/drawing/2014/main" val="20000"/>
                    </a:ext>
                  </a:extLst>
                </a:gridCol>
                <a:gridCol w="2197100">
                  <a:extLst>
                    <a:ext uri="{9D8B030D-6E8A-4147-A177-3AD203B41FA5}">
                      <a16:colId xmlns:a16="http://schemas.microsoft.com/office/drawing/2014/main" val="20001"/>
                    </a:ext>
                  </a:extLst>
                </a:gridCol>
                <a:gridCol w="1320800">
                  <a:extLst>
                    <a:ext uri="{9D8B030D-6E8A-4147-A177-3AD203B41FA5}">
                      <a16:colId xmlns:a16="http://schemas.microsoft.com/office/drawing/2014/main" val="20002"/>
                    </a:ext>
                  </a:extLst>
                </a:gridCol>
                <a:gridCol w="1098550">
                  <a:extLst>
                    <a:ext uri="{9D8B030D-6E8A-4147-A177-3AD203B41FA5}">
                      <a16:colId xmlns:a16="http://schemas.microsoft.com/office/drawing/2014/main" val="20003"/>
                    </a:ext>
                  </a:extLst>
                </a:gridCol>
                <a:gridCol w="4159250">
                  <a:extLst>
                    <a:ext uri="{9D8B030D-6E8A-4147-A177-3AD203B41FA5}">
                      <a16:colId xmlns:a16="http://schemas.microsoft.com/office/drawing/2014/main" val="20004"/>
                    </a:ext>
                  </a:extLst>
                </a:gridCol>
              </a:tblGrid>
              <a:tr h="0">
                <a:tc>
                  <a:txBody>
                    <a:bodyPr/>
                    <a:lstStyle/>
                    <a:p>
                      <a:pPr>
                        <a:lnSpc>
                          <a:spcPct val="128000"/>
                        </a:lnSpc>
                      </a:pPr>
                      <a:r>
                        <a:rPr sz="1000" b="1" spc="60">
                          <a:solidFill>
                            <a:srgbClr val="50017D"/>
                          </a:solidFill>
                          <a:latin typeface="Arial"/>
                        </a:rPr>
                        <a:t>SETTING</a:t>
                      </a:r>
                    </a:p>
                  </a:txBody>
                  <a:tcPr marL="0" marR="88900" marT="69850" marB="69850" anchor="b">
                    <a:lnB w="12700" cap="flat" cmpd="sng" algn="ctr">
                      <a:solidFill>
                        <a:srgbClr val="50017D"/>
                      </a:solidFill>
                    </a:lnB>
                    <a:noFill/>
                  </a:tcPr>
                </a:tc>
                <a:tc>
                  <a:txBody>
                    <a:bodyPr/>
                    <a:lstStyle/>
                    <a:p>
                      <a:pPr>
                        <a:lnSpc>
                          <a:spcPct val="128000"/>
                        </a:lnSpc>
                      </a:pPr>
                      <a:r>
                        <a:rPr sz="1000" b="1" spc="60">
                          <a:solidFill>
                            <a:srgbClr val="50017D"/>
                          </a:solidFill>
                          <a:latin typeface="Arial"/>
                        </a:rPr>
                        <a:t>TESTED RANGE</a:t>
                      </a:r>
                    </a:p>
                  </a:txBody>
                  <a:tcPr marL="44450" marR="88900" marT="69850" marB="69850" anchor="b">
                    <a:lnB w="12700" cap="flat" cmpd="sng" algn="ctr">
                      <a:solidFill>
                        <a:srgbClr val="50017D"/>
                      </a:solidFill>
                    </a:lnB>
                    <a:noFill/>
                  </a:tcPr>
                </a:tc>
                <a:tc>
                  <a:txBody>
                    <a:bodyPr/>
                    <a:lstStyle/>
                    <a:p>
                      <a:pPr>
                        <a:lnSpc>
                          <a:spcPct val="128000"/>
                        </a:lnSpc>
                      </a:pPr>
                      <a:r>
                        <a:rPr sz="1000" b="1" spc="60">
                          <a:solidFill>
                            <a:srgbClr val="50017D"/>
                          </a:solidFill>
                          <a:latin typeface="Arial"/>
                        </a:rPr>
                        <a:t>MONTHS ON TIME, OF 25</a:t>
                      </a:r>
                    </a:p>
                  </a:txBody>
                  <a:tcPr marL="44450" marR="88900" marT="69850" marB="69850" anchor="b">
                    <a:lnB w="12700" cap="flat" cmpd="sng" algn="ctr">
                      <a:solidFill>
                        <a:srgbClr val="50017D"/>
                      </a:solidFill>
                    </a:lnB>
                    <a:noFill/>
                  </a:tcPr>
                </a:tc>
                <a:tc>
                  <a:txBody>
                    <a:bodyPr/>
                    <a:lstStyle/>
                    <a:p>
                      <a:pPr>
                        <a:lnSpc>
                          <a:spcPct val="128000"/>
                        </a:lnSpc>
                      </a:pPr>
                      <a:r>
                        <a:rPr sz="1000" b="1" spc="60">
                          <a:solidFill>
                            <a:srgbClr val="50017D"/>
                          </a:solidFill>
                          <a:latin typeface="Arial"/>
                        </a:rPr>
                        <a:t>BEST COUNT</a:t>
                      </a:r>
                    </a:p>
                  </a:txBody>
                  <a:tcPr marL="44450" marR="88900" marT="69850" marB="69850" anchor="b">
                    <a:lnB w="12700" cap="flat" cmpd="sng" algn="ctr">
                      <a:solidFill>
                        <a:srgbClr val="50017D"/>
                      </a:solidFill>
                    </a:lnB>
                    <a:noFill/>
                  </a:tcPr>
                </a:tc>
                <a:tc>
                  <a:txBody>
                    <a:bodyPr/>
                    <a:lstStyle/>
                    <a:p>
                      <a:pPr>
                        <a:lnSpc>
                          <a:spcPct val="128000"/>
                        </a:lnSpc>
                      </a:pPr>
                      <a:r>
                        <a:rPr sz="1000" b="1" spc="60">
                          <a:solidFill>
                            <a:srgbClr val="50017D"/>
                          </a:solidFill>
                          <a:latin typeface="Arial"/>
                        </a:rPr>
                        <a:t>LARGEST SINGLE-DATE REDUCTION IN WEIGHTED LATENESS</a:t>
                      </a:r>
                    </a:p>
                  </a:txBody>
                  <a:tcPr marL="44450" marR="88900" marT="69850" marB="69850" anchor="b">
                    <a:lnB w="12700" cap="flat" cmpd="sng" algn="ctr">
                      <a:solidFill>
                        <a:srgbClr val="50017D"/>
                      </a:solidFill>
                    </a:lnB>
                    <a:noFill/>
                  </a:tcPr>
                </a:tc>
                <a:extLst>
                  <a:ext uri="{0D108BD9-81ED-4DB2-BD59-A6C34878D82A}">
                    <a16:rowId xmlns:a16="http://schemas.microsoft.com/office/drawing/2014/main" val="10000"/>
                  </a:ext>
                </a:extLst>
              </a:tr>
              <a:tr h="0">
                <a:tc>
                  <a:txBody>
                    <a:bodyPr/>
                    <a:lstStyle/>
                    <a:p>
                      <a:pPr>
                        <a:lnSpc>
                          <a:spcPct val="128000"/>
                        </a:lnSpc>
                      </a:pPr>
                      <a:r>
                        <a:rPr sz="1100" b="1">
                          <a:solidFill>
                            <a:srgbClr val="50017D"/>
                          </a:solidFill>
                          <a:latin typeface="Arial"/>
                        </a:rPr>
                        <a:t>Preparation lead on committed trials</a:t>
                      </a:r>
                    </a:p>
                  </a:txBody>
                  <a:tcPr marL="0" marR="88900" marT="88900" marB="88900">
                    <a:lnT w="12700" cap="flat" cmpd="sng" algn="ctr">
                      <a:solidFill>
                        <a:srgbClr val="50017D"/>
                      </a:solidFill>
                      <a:prstDash val="solid"/>
                      <a:round/>
                      <a:headEnd type="none" w="med" len="med"/>
                      <a:tailEnd type="none" w="med" len="med"/>
                    </a:lnT>
                    <a:lnB w="6350" cap="flat" cmpd="sng" algn="ctr">
                      <a:solidFill>
                        <a:srgbClr val="E8E0F0"/>
                      </a:solidFill>
                    </a:lnB>
                    <a:solidFill>
                      <a:srgbClr val="F3EDF9"/>
                    </a:solidFill>
                  </a:tcPr>
                </a:tc>
                <a:tc>
                  <a:txBody>
                    <a:bodyPr/>
                    <a:lstStyle/>
                    <a:p>
                      <a:pPr>
                        <a:lnSpc>
                          <a:spcPct val="128000"/>
                        </a:lnSpc>
                      </a:pPr>
                      <a:r>
                        <a:rPr sz="1100" b="0">
                          <a:solidFill>
                            <a:srgbClr val="50017D"/>
                          </a:solidFill>
                          <a:latin typeface="Arial"/>
                        </a:rPr>
                        <a:t>0, 7, 14, 21, 35 and 60 days</a:t>
                      </a:r>
                    </a:p>
                  </a:txBody>
                  <a:tcPr marL="44450" marR="88900" marT="88900" marB="88900">
                    <a:lnT w="12700" cap="flat" cmpd="sng" algn="ctr">
                      <a:solidFill>
                        <a:srgbClr val="50017D"/>
                      </a:solidFill>
                      <a:prstDash val="solid"/>
                      <a:round/>
                      <a:headEnd type="none" w="med" len="med"/>
                      <a:tailEnd type="none" w="med" len="med"/>
                    </a:lnT>
                    <a:lnB w="6350" cap="flat" cmpd="sng" algn="ctr">
                      <a:solidFill>
                        <a:srgbClr val="E8E0F0"/>
                      </a:solidFill>
                    </a:lnB>
                    <a:solidFill>
                      <a:srgbClr val="F3EDF9"/>
                    </a:solidFill>
                  </a:tcPr>
                </a:tc>
                <a:tc>
                  <a:txBody>
                    <a:bodyPr/>
                    <a:lstStyle/>
                    <a:p>
                      <a:pPr>
                        <a:lnSpc>
                          <a:spcPct val="128000"/>
                        </a:lnSpc>
                      </a:pPr>
                      <a:r>
                        <a:rPr sz="1100" b="1">
                          <a:solidFill>
                            <a:srgbClr val="50017D"/>
                          </a:solidFill>
                          <a:latin typeface="Arial"/>
                        </a:rPr>
                        <a:t>20</a:t>
                      </a:r>
                    </a:p>
                  </a:txBody>
                  <a:tcPr marL="44450" marR="88900" marT="88900" marB="88900">
                    <a:lnT w="12700" cap="flat" cmpd="sng" algn="ctr">
                      <a:solidFill>
                        <a:srgbClr val="50017D"/>
                      </a:solidFill>
                      <a:prstDash val="solid"/>
                      <a:round/>
                      <a:headEnd type="none" w="med" len="med"/>
                      <a:tailEnd type="none" w="med" len="med"/>
                    </a:lnT>
                    <a:lnB w="6350" cap="flat" cmpd="sng" algn="ctr">
                      <a:solidFill>
                        <a:srgbClr val="E8E0F0"/>
                      </a:solidFill>
                    </a:lnB>
                    <a:solidFill>
                      <a:srgbClr val="F3EDF9"/>
                    </a:solidFill>
                  </a:tcPr>
                </a:tc>
                <a:tc>
                  <a:txBody>
                    <a:bodyPr/>
                    <a:lstStyle/>
                    <a:p>
                      <a:pPr>
                        <a:lnSpc>
                          <a:spcPct val="128000"/>
                        </a:lnSpc>
                      </a:pPr>
                      <a:r>
                        <a:rPr sz="1100" b="1">
                          <a:solidFill>
                            <a:srgbClr val="50017D"/>
                          </a:solidFill>
                          <a:latin typeface="Arial"/>
                        </a:rPr>
                        <a:t>3</a:t>
                      </a:r>
                    </a:p>
                  </a:txBody>
                  <a:tcPr marL="44450" marR="88900" marT="88900" marB="88900">
                    <a:lnT w="12700" cap="flat" cmpd="sng" algn="ctr">
                      <a:solidFill>
                        <a:srgbClr val="50017D"/>
                      </a:solidFill>
                      <a:prstDash val="solid"/>
                      <a:round/>
                      <a:headEnd type="none" w="med" len="med"/>
                      <a:tailEnd type="none" w="med" len="med"/>
                    </a:lnT>
                    <a:lnB w="6350" cap="flat" cmpd="sng" algn="ctr">
                      <a:solidFill>
                        <a:srgbClr val="E8E0F0"/>
                      </a:solidFill>
                    </a:lnB>
                    <a:solidFill>
                      <a:srgbClr val="F3EDF9"/>
                    </a:solidFill>
                  </a:tcPr>
                </a:tc>
                <a:tc>
                  <a:txBody>
                    <a:bodyPr/>
                    <a:lstStyle/>
                    <a:p>
                      <a:pPr>
                        <a:lnSpc>
                          <a:spcPct val="128000"/>
                        </a:lnSpc>
                      </a:pPr>
                      <a:r>
                        <a:rPr sz="1100" b="0">
                          <a:solidFill>
                            <a:srgbClr val="50017D"/>
                          </a:solidFill>
                          <a:latin typeface="Arial"/>
                        </a:rPr>
                        <a:t>The only setting that raises the on-time ceiling</a:t>
                      </a:r>
                    </a:p>
                  </a:txBody>
                  <a:tcPr marL="44450" marR="88900" marT="88900" marB="88900">
                    <a:lnT w="12700" cap="flat" cmpd="sng" algn="ctr">
                      <a:solidFill>
                        <a:srgbClr val="50017D"/>
                      </a:solidFill>
                      <a:prstDash val="solid"/>
                      <a:round/>
                      <a:headEnd type="none" w="med" len="med"/>
                      <a:tailEnd type="none" w="med" len="med"/>
                    </a:lnT>
                    <a:lnB w="6350" cap="flat" cmpd="sng" algn="ctr">
                      <a:solidFill>
                        <a:srgbClr val="E8E0F0"/>
                      </a:solidFill>
                    </a:lnB>
                    <a:solidFill>
                      <a:srgbClr val="F3EDF9"/>
                    </a:solidFill>
                  </a:tcPr>
                </a:tc>
                <a:extLst>
                  <a:ext uri="{0D108BD9-81ED-4DB2-BD59-A6C34878D82A}">
                    <a16:rowId xmlns:a16="http://schemas.microsoft.com/office/drawing/2014/main" val="10001"/>
                  </a:ext>
                </a:extLst>
              </a:tr>
              <a:tr h="0">
                <a:tc>
                  <a:txBody>
                    <a:bodyPr/>
                    <a:lstStyle/>
                    <a:p>
                      <a:pPr>
                        <a:lnSpc>
                          <a:spcPct val="128000"/>
                        </a:lnSpc>
                      </a:pPr>
                      <a:r>
                        <a:rPr sz="1100" b="1">
                          <a:solidFill>
                            <a:srgbClr val="1F0E33"/>
                          </a:solidFill>
                          <a:latin typeface="Arial"/>
                        </a:rPr>
                        <a:t>Pharmacy queue, notification to start</a:t>
                      </a:r>
                    </a:p>
                  </a:txBody>
                  <a:tcPr marL="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Never exceeds 23 days in the records</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14</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2</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About one-seventh of the hand-over gap's reduction, but adds on-time completions at five further decision points</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2"/>
                  </a:ext>
                </a:extLst>
              </a:tr>
              <a:tr h="0">
                <a:tc>
                  <a:txBody>
                    <a:bodyPr/>
                    <a:lstStyle/>
                    <a:p>
                      <a:pPr>
                        <a:lnSpc>
                          <a:spcPct val="128000"/>
                        </a:lnSpc>
                      </a:pPr>
                      <a:r>
                        <a:rPr sz="1100" b="1">
                          <a:solidFill>
                            <a:srgbClr val="1F0E33"/>
                          </a:solidFill>
                          <a:latin typeface="Arial"/>
                        </a:rPr>
                        <a:t>Hand-over gap, clock to notification</a:t>
                      </a:r>
                    </a:p>
                  </a:txBody>
                  <a:tcPr marL="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Swept to 120 days; recorded gaps run to 210</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11</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2</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498 days, the largest of any setting, but only two further on-time decision points</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3"/>
                  </a:ext>
                </a:extLst>
              </a:tr>
              <a:tr h="0">
                <a:tc>
                  <a:txBody>
                    <a:bodyPr/>
                    <a:lstStyle/>
                    <a:p>
                      <a:pPr>
                        <a:lnSpc>
                          <a:spcPct val="128000"/>
                        </a:lnSpc>
                      </a:pPr>
                      <a:r>
                        <a:rPr sz="1100" b="1">
                          <a:solidFill>
                            <a:srgbClr val="1F0E33"/>
                          </a:solidFill>
                          <a:latin typeface="Arial"/>
                        </a:rPr>
                        <a:t>Target window</a:t>
                      </a:r>
                    </a:p>
                  </a:txBody>
                  <a:tcPr marL="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55 to 70 days</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11</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2</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Held by national policy, not by the trust</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4"/>
                  </a:ext>
                </a:extLst>
              </a:tr>
              <a:tr h="0">
                <a:tc>
                  <a:txBody>
                    <a:bodyPr/>
                    <a:lstStyle/>
                    <a:p>
                      <a:pPr>
                        <a:lnSpc>
                          <a:spcPct val="128000"/>
                        </a:lnSpc>
                      </a:pPr>
                      <a:r>
                        <a:rPr sz="1100" b="1">
                          <a:solidFill>
                            <a:srgbClr val="1F0E33"/>
                          </a:solidFill>
                          <a:latin typeface="Arial"/>
                        </a:rPr>
                        <a:t>Set-ups opened per month</a:t>
                      </a:r>
                    </a:p>
                  </a:txBody>
                  <a:tcPr marL="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1 to 6, against a stated limit of two</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9</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1</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Lowers weighted lateness at every on-time count, changes the on-time count at none</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5"/>
                  </a:ext>
                </a:extLst>
              </a:tr>
              <a:tr h="0">
                <a:tc>
                  <a:txBody>
                    <a:bodyPr/>
                    <a:lstStyle/>
                    <a:p>
                      <a:pPr>
                        <a:lnSpc>
                          <a:spcPct val="128000"/>
                        </a:lnSpc>
                      </a:pPr>
                      <a:r>
                        <a:rPr sz="1100" b="1">
                          <a:solidFill>
                            <a:srgbClr val="1F0E33"/>
                          </a:solidFill>
                          <a:latin typeface="Arial"/>
                        </a:rPr>
                        <a:t>Hands-on days per approval</a:t>
                      </a:r>
                    </a:p>
                  </a:txBody>
                  <a:tcPr marL="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0.5 to 3 days</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9</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1</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tc>
                  <a:txBody>
                    <a:bodyPr/>
                    <a:lstStyle/>
                    <a:p>
                      <a:pPr>
                        <a:lnSpc>
                          <a:spcPct val="128000"/>
                        </a:lnSpc>
                      </a:pPr>
                      <a:r>
                        <a:rPr sz="1100" b="0">
                          <a:solidFill>
                            <a:srgbClr val="1F0E33"/>
                          </a:solidFill>
                          <a:latin typeface="Arial"/>
                        </a:rPr>
                        <a:t>Flat across the range at the assumed workload; measured nowhere</a:t>
                      </a:r>
                    </a:p>
                  </a:txBody>
                  <a:tcPr marL="44450" marR="88900" marT="88900" marB="88900">
                    <a:lnT w="6350" cap="flat" cmpd="sng" algn="ctr">
                      <a:solidFill>
                        <a:srgbClr val="E8E0F0"/>
                      </a:solidFill>
                      <a:prstDash val="solid"/>
                      <a:round/>
                      <a:headEnd type="none" w="med" len="med"/>
                      <a:tailEnd type="none" w="med" len="med"/>
                    </a:lnT>
                    <a:lnB w="6350" cap="flat" cmpd="sng" algn="ctr">
                      <a:solidFill>
                        <a:srgbClr val="E8E0F0"/>
                      </a:solidFill>
                    </a:lnB>
                    <a:noFill/>
                  </a:tcPr>
                </a:tc>
                <a:extLst>
                  <a:ext uri="{0D108BD9-81ED-4DB2-BD59-A6C34878D82A}">
                    <a16:rowId xmlns:a16="http://schemas.microsoft.com/office/drawing/2014/main" val="10006"/>
                  </a:ext>
                </a:extLst>
              </a:tr>
            </a:tbl>
          </a:graphicData>
        </a:graphic>
      </p:graphicFrame>
      <p:sp>
        <p:nvSpPr>
          <p:cNvPr id="7" name="TextBox 6"/>
          <p:cNvSpPr txBox="1"/>
          <p:nvPr/>
        </p:nvSpPr>
        <p:spPr>
          <a:xfrm>
            <a:off x="609600" y="5969000"/>
            <a:ext cx="10972800" cy="444500"/>
          </a:xfrm>
          <a:prstGeom prst="rect">
            <a:avLst/>
          </a:prstGeom>
          <a:noFill/>
        </p:spPr>
        <p:txBody>
          <a:bodyPr wrap="square" lIns="0" tIns="0" rIns="0" bIns="0" anchor="t">
            <a:spAutoFit/>
          </a:bodyPr>
          <a:lstStyle/>
          <a:p>
            <a:pPr algn="l">
              <a:lnSpc>
                <a:spcPct val="140000"/>
              </a:lnSpc>
            </a:pPr>
            <a:r>
              <a:rPr sz="1150" b="0">
                <a:solidFill>
                  <a:srgbClr val="3F3350"/>
                </a:solidFill>
                <a:latin typeface="Arial"/>
              </a:rPr>
              <a:t>The baseline is nine months. On-time completion is a threshold measure while lateness accumulates, which is why the two outcome columns rank the settings differently.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BACK-UP · B3</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B3</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787400"/>
            <a:ext cx="11049000" cy="1270000"/>
          </a:xfrm>
          <a:prstGeom prst="rect">
            <a:avLst/>
          </a:prstGeom>
          <a:noFill/>
        </p:spPr>
        <p:txBody>
          <a:bodyPr wrap="square" lIns="0" tIns="0" rIns="0" bIns="0" anchor="t">
            <a:spAutoFit/>
          </a:bodyPr>
          <a:lstStyle/>
          <a:p>
            <a:pPr algn="l">
              <a:lnSpc>
                <a:spcPct val="116000"/>
              </a:lnSpc>
            </a:pPr>
            <a:r>
              <a:rPr sz="2200" b="1">
                <a:solidFill>
                  <a:srgbClr val="1F0E33"/>
                </a:solidFill>
                <a:latin typeface="Arial"/>
              </a:rPr>
              <a:t>What if the signature takes longer than a day</a:t>
            </a:r>
          </a:p>
        </p:txBody>
      </p:sp>
      <p:sp>
        <p:nvSpPr>
          <p:cNvPr id="6" name="TextBox 5"/>
          <p:cNvSpPr txBox="1"/>
          <p:nvPr/>
        </p:nvSpPr>
        <p:spPr>
          <a:xfrm>
            <a:off x="609600" y="2032000"/>
            <a:ext cx="165100" cy="254000"/>
          </a:xfrm>
          <a:prstGeom prst="rect">
            <a:avLst/>
          </a:prstGeom>
          <a:noFill/>
        </p:spPr>
        <p:txBody>
          <a:bodyPr wrap="square" lIns="0" tIns="0" rIns="0" bIns="0" anchor="t">
            <a:spAutoFit/>
          </a:bodyPr>
          <a:lstStyle/>
          <a:p>
            <a:pPr algn="l">
              <a:lnSpc>
                <a:spcPct val="135000"/>
              </a:lnSpc>
            </a:pPr>
            <a:r>
              <a:rPr sz="1300" b="0">
                <a:solidFill>
                  <a:srgbClr val="50017D"/>
                </a:solidFill>
                <a:latin typeface="Arial"/>
              </a:rPr>
              <a:t>—</a:t>
            </a:r>
          </a:p>
        </p:txBody>
      </p:sp>
      <p:sp>
        <p:nvSpPr>
          <p:cNvPr id="7" name="TextBox 6"/>
          <p:cNvSpPr txBox="1"/>
          <p:nvPr/>
        </p:nvSpPr>
        <p:spPr>
          <a:xfrm>
            <a:off x="825500" y="2032000"/>
            <a:ext cx="3975100" cy="1905000"/>
          </a:xfrm>
          <a:prstGeom prst="rect">
            <a:avLst/>
          </a:prstGeom>
          <a:noFill/>
        </p:spPr>
        <p:txBody>
          <a:bodyPr wrap="square" lIns="0" tIns="0" rIns="0" bIns="0" anchor="t">
            <a:spAutoFit/>
          </a:bodyPr>
          <a:lstStyle/>
          <a:p>
            <a:pPr algn="l">
              <a:lnSpc>
                <a:spcPct val="140000"/>
              </a:lnSpc>
            </a:pPr>
            <a:r>
              <a:rPr sz="1300" b="0">
                <a:solidFill>
                  <a:srgbClr val="1F0E33"/>
                </a:solidFill>
                <a:latin typeface="Arial"/>
              </a:rPr>
              <a:t>Below 1.5 hands-on days all six set-ups are worth opening.</a:t>
            </a:r>
          </a:p>
        </p:txBody>
      </p:sp>
      <p:sp>
        <p:nvSpPr>
          <p:cNvPr id="8" name="TextBox 7"/>
          <p:cNvSpPr txBox="1"/>
          <p:nvPr/>
        </p:nvSpPr>
        <p:spPr>
          <a:xfrm>
            <a:off x="609600" y="2628900"/>
            <a:ext cx="165100" cy="254000"/>
          </a:xfrm>
          <a:prstGeom prst="rect">
            <a:avLst/>
          </a:prstGeom>
          <a:noFill/>
        </p:spPr>
        <p:txBody>
          <a:bodyPr wrap="square" lIns="0" tIns="0" rIns="0" bIns="0" anchor="t">
            <a:spAutoFit/>
          </a:bodyPr>
          <a:lstStyle/>
          <a:p>
            <a:pPr algn="l">
              <a:lnSpc>
                <a:spcPct val="135000"/>
              </a:lnSpc>
            </a:pPr>
            <a:r>
              <a:rPr sz="1300" b="0">
                <a:solidFill>
                  <a:srgbClr val="50017D"/>
                </a:solidFill>
                <a:latin typeface="Arial"/>
              </a:rPr>
              <a:t>—</a:t>
            </a:r>
          </a:p>
        </p:txBody>
      </p:sp>
      <p:sp>
        <p:nvSpPr>
          <p:cNvPr id="9" name="TextBox 8"/>
          <p:cNvSpPr txBox="1"/>
          <p:nvPr/>
        </p:nvSpPr>
        <p:spPr>
          <a:xfrm>
            <a:off x="825500" y="2628900"/>
            <a:ext cx="3975100" cy="1905000"/>
          </a:xfrm>
          <a:prstGeom prst="rect">
            <a:avLst/>
          </a:prstGeom>
          <a:noFill/>
        </p:spPr>
        <p:txBody>
          <a:bodyPr wrap="square" lIns="0" tIns="0" rIns="0" bIns="0" anchor="t">
            <a:spAutoFit/>
          </a:bodyPr>
          <a:lstStyle/>
          <a:p>
            <a:pPr algn="l">
              <a:lnSpc>
                <a:spcPct val="140000"/>
              </a:lnSpc>
            </a:pPr>
            <a:r>
              <a:rPr sz="1300" b="0">
                <a:solidFill>
                  <a:srgbClr val="1F0E33"/>
                </a:solidFill>
                <a:latin typeface="Arial"/>
              </a:rPr>
              <a:t>At two days about four are worth opening.</a:t>
            </a:r>
          </a:p>
        </p:txBody>
      </p:sp>
      <p:sp>
        <p:nvSpPr>
          <p:cNvPr id="10" name="TextBox 9"/>
          <p:cNvSpPr txBox="1"/>
          <p:nvPr/>
        </p:nvSpPr>
        <p:spPr>
          <a:xfrm>
            <a:off x="609600" y="2997200"/>
            <a:ext cx="165100" cy="254000"/>
          </a:xfrm>
          <a:prstGeom prst="rect">
            <a:avLst/>
          </a:prstGeom>
          <a:noFill/>
        </p:spPr>
        <p:txBody>
          <a:bodyPr wrap="square" lIns="0" tIns="0" rIns="0" bIns="0" anchor="t">
            <a:spAutoFit/>
          </a:bodyPr>
          <a:lstStyle/>
          <a:p>
            <a:pPr algn="l">
              <a:lnSpc>
                <a:spcPct val="135000"/>
              </a:lnSpc>
            </a:pPr>
            <a:r>
              <a:rPr sz="1300" b="0">
                <a:solidFill>
                  <a:srgbClr val="50017D"/>
                </a:solidFill>
                <a:latin typeface="Arial"/>
              </a:rPr>
              <a:t>—</a:t>
            </a:r>
          </a:p>
        </p:txBody>
      </p:sp>
      <p:sp>
        <p:nvSpPr>
          <p:cNvPr id="11" name="TextBox 10"/>
          <p:cNvSpPr txBox="1"/>
          <p:nvPr/>
        </p:nvSpPr>
        <p:spPr>
          <a:xfrm>
            <a:off x="825500" y="2997200"/>
            <a:ext cx="3975100" cy="1905000"/>
          </a:xfrm>
          <a:prstGeom prst="rect">
            <a:avLst/>
          </a:prstGeom>
          <a:noFill/>
        </p:spPr>
        <p:txBody>
          <a:bodyPr wrap="square" lIns="0" tIns="0" rIns="0" bIns="0" anchor="t">
            <a:spAutoFit/>
          </a:bodyPr>
          <a:lstStyle/>
          <a:p>
            <a:pPr algn="l">
              <a:lnSpc>
                <a:spcPct val="140000"/>
              </a:lnSpc>
            </a:pPr>
            <a:r>
              <a:rPr sz="1300" b="0">
                <a:solidFill>
                  <a:srgbClr val="1F0E33"/>
                </a:solidFill>
                <a:latin typeface="Arial"/>
              </a:rPr>
              <a:t>At three days only two are worth opening.</a:t>
            </a:r>
          </a:p>
        </p:txBody>
      </p:sp>
      <p:sp>
        <p:nvSpPr>
          <p:cNvPr id="12" name="TextBox 11"/>
          <p:cNvSpPr txBox="1"/>
          <p:nvPr/>
        </p:nvSpPr>
        <p:spPr>
          <a:xfrm>
            <a:off x="609600" y="3556000"/>
            <a:ext cx="165100" cy="254000"/>
          </a:xfrm>
          <a:prstGeom prst="rect">
            <a:avLst/>
          </a:prstGeom>
          <a:noFill/>
        </p:spPr>
        <p:txBody>
          <a:bodyPr wrap="square" lIns="0" tIns="0" rIns="0" bIns="0" anchor="t">
            <a:spAutoFit/>
          </a:bodyPr>
          <a:lstStyle/>
          <a:p>
            <a:pPr algn="l">
              <a:lnSpc>
                <a:spcPct val="135000"/>
              </a:lnSpc>
            </a:pPr>
            <a:r>
              <a:rPr sz="1300" b="0">
                <a:solidFill>
                  <a:srgbClr val="50017D"/>
                </a:solidFill>
                <a:latin typeface="Arial"/>
              </a:rPr>
              <a:t>—</a:t>
            </a:r>
          </a:p>
        </p:txBody>
      </p:sp>
      <p:sp>
        <p:nvSpPr>
          <p:cNvPr id="13" name="TextBox 12"/>
          <p:cNvSpPr txBox="1"/>
          <p:nvPr/>
        </p:nvSpPr>
        <p:spPr>
          <a:xfrm>
            <a:off x="825500" y="3556000"/>
            <a:ext cx="3975100" cy="1270000"/>
          </a:xfrm>
          <a:prstGeom prst="rect">
            <a:avLst/>
          </a:prstGeom>
          <a:noFill/>
        </p:spPr>
        <p:txBody>
          <a:bodyPr wrap="square" lIns="0" tIns="0" rIns="0" bIns="0" anchor="t">
            <a:spAutoFit/>
          </a:bodyPr>
          <a:lstStyle/>
          <a:p>
            <a:pPr algn="l">
              <a:lnSpc>
                <a:spcPct val="142000"/>
              </a:lnSpc>
            </a:pPr>
            <a:r>
              <a:rPr sz="1300" b="0">
                <a:solidFill>
                  <a:srgbClr val="6B5B7E"/>
                </a:solidFill>
                <a:latin typeface="Arial"/>
              </a:rPr>
              <a:t>This is where the approval assumption breaks, which is why it sits in back-up, and why the approval-ready timestamp is in the measurement stage of the roadmap.</a:t>
            </a:r>
          </a:p>
        </p:txBody>
      </p:sp>
      <p:pic>
        <p:nvPicPr>
          <p:cNvPr id="14" name="Picture 13" descr="fig5_8_approval_surface.png"/>
          <p:cNvPicPr>
            <a:picLocks noChangeAspect="1"/>
          </p:cNvPicPr>
          <p:nvPr/>
        </p:nvPicPr>
        <p:blipFill>
          <a:blip r:embed="rId3"/>
          <a:stretch>
            <a:fillRect/>
          </a:stretch>
        </p:blipFill>
        <p:spPr>
          <a:xfrm>
            <a:off x="5156200" y="1587500"/>
            <a:ext cx="6426200" cy="4323755"/>
          </a:xfrm>
          <a:prstGeom prst="rect">
            <a:avLst/>
          </a:prstGeom>
        </p:spPr>
      </p:pic>
      <p:sp>
        <p:nvSpPr>
          <p:cNvPr id="15" name="TextBox 14"/>
          <p:cNvSpPr txBox="1"/>
          <p:nvPr/>
        </p:nvSpPr>
        <p:spPr>
          <a:xfrm>
            <a:off x="6670766" y="5969000"/>
            <a:ext cx="4911634" cy="203517"/>
          </a:xfrm>
          <a:prstGeom prst="rect">
            <a:avLst/>
          </a:prstGeom>
          <a:noFill/>
        </p:spPr>
        <p:txBody>
          <a:bodyPr wrap="square" lIns="0" tIns="0" rIns="0" bIns="0" anchor="t">
            <a:spAutoFit/>
          </a:bodyPr>
          <a:lstStyle/>
          <a:p>
            <a:pPr algn="l">
              <a:lnSpc>
                <a:spcPct val="135000"/>
              </a:lnSpc>
            </a:pPr>
            <a:r>
              <a:rPr sz="1100" b="0" dirty="0">
                <a:solidFill>
                  <a:srgbClr val="9D8FB0"/>
                </a:solidFill>
                <a:latin typeface="Arial"/>
              </a:rPr>
              <a:t>Figure G.3 — the approval surface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BACK-UP · B4</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B4</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787400"/>
            <a:ext cx="11049000" cy="1270000"/>
          </a:xfrm>
          <a:prstGeom prst="rect">
            <a:avLst/>
          </a:prstGeom>
          <a:noFill/>
        </p:spPr>
        <p:txBody>
          <a:bodyPr wrap="square" lIns="0" tIns="0" rIns="0" bIns="0" anchor="t">
            <a:spAutoFit/>
          </a:bodyPr>
          <a:lstStyle/>
          <a:p>
            <a:pPr algn="l">
              <a:lnSpc>
                <a:spcPct val="116000"/>
              </a:lnSpc>
            </a:pPr>
            <a:r>
              <a:rPr sz="2200" b="1">
                <a:solidFill>
                  <a:srgbClr val="1F0E33"/>
                </a:solidFill>
                <a:latin typeface="Arial"/>
              </a:rPr>
              <a:t>The statistical tests, and what each does and does not establish</a:t>
            </a:r>
          </a:p>
        </p:txBody>
      </p:sp>
      <p:sp>
        <p:nvSpPr>
          <p:cNvPr id="6" name="Rectangle 5"/>
          <p:cNvSpPr/>
          <p:nvPr/>
        </p:nvSpPr>
        <p:spPr>
          <a:xfrm>
            <a:off x="609600" y="1905000"/>
            <a:ext cx="348615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9600" y="2032000"/>
            <a:ext cx="3486150" cy="317500"/>
          </a:xfrm>
          <a:prstGeom prst="rect">
            <a:avLst/>
          </a:prstGeom>
          <a:noFill/>
        </p:spPr>
        <p:txBody>
          <a:bodyPr wrap="square" lIns="0" tIns="0" rIns="0" bIns="0" anchor="t">
            <a:spAutoFit/>
          </a:bodyPr>
          <a:lstStyle/>
          <a:p>
            <a:pPr algn="l">
              <a:lnSpc>
                <a:spcPct val="100000"/>
              </a:lnSpc>
            </a:pPr>
            <a:r>
              <a:rPr sz="1600" b="1">
                <a:solidFill>
                  <a:srgbClr val="50017D"/>
                </a:solidFill>
                <a:latin typeface="Arial"/>
              </a:rPr>
              <a:t>p = 0.557</a:t>
            </a:r>
          </a:p>
        </p:txBody>
      </p:sp>
      <p:sp>
        <p:nvSpPr>
          <p:cNvPr id="8" name="TextBox 7"/>
          <p:cNvSpPr txBox="1"/>
          <p:nvPr/>
        </p:nvSpPr>
        <p:spPr>
          <a:xfrm>
            <a:off x="609600" y="2387600"/>
            <a:ext cx="3486150" cy="444500"/>
          </a:xfrm>
          <a:prstGeom prst="rect">
            <a:avLst/>
          </a:prstGeom>
          <a:noFill/>
        </p:spPr>
        <p:txBody>
          <a:bodyPr wrap="square" lIns="0" tIns="0" rIns="0" bIns="0" anchor="t">
            <a:spAutoFit/>
          </a:bodyPr>
          <a:lstStyle/>
          <a:p>
            <a:pPr algn="l">
              <a:lnSpc>
                <a:spcPct val="125000"/>
              </a:lnSpc>
            </a:pPr>
            <a:r>
              <a:rPr sz="1150" b="1">
                <a:solidFill>
                  <a:srgbClr val="1F0E33"/>
                </a:solidFill>
                <a:latin typeface="Arial"/>
              </a:rPr>
              <a:t>Kruskal–Wallis, across the three burden bands</a:t>
            </a:r>
          </a:p>
        </p:txBody>
      </p:sp>
      <p:sp>
        <p:nvSpPr>
          <p:cNvPr id="9" name="TextBox 8"/>
          <p:cNvSpPr txBox="1"/>
          <p:nvPr/>
        </p:nvSpPr>
        <p:spPr>
          <a:xfrm>
            <a:off x="609600" y="2870200"/>
            <a:ext cx="3486150" cy="1524000"/>
          </a:xfrm>
          <a:prstGeom prst="rect">
            <a:avLst/>
          </a:prstGeom>
          <a:noFill/>
        </p:spPr>
        <p:txBody>
          <a:bodyPr wrap="square" lIns="0" tIns="0" rIns="0" bIns="0" anchor="t">
            <a:spAutoFit/>
          </a:bodyPr>
          <a:lstStyle/>
          <a:p>
            <a:pPr algn="l">
              <a:lnSpc>
                <a:spcPct val="138000"/>
              </a:lnSpc>
            </a:pPr>
            <a:r>
              <a:rPr sz="1150" b="0">
                <a:solidFill>
                  <a:srgbClr val="3F3350"/>
                </a:solidFill>
                <a:latin typeface="Arial"/>
              </a:rPr>
              <a:t>The bands showed no detectable difference in median duration, although groups this small would not reveal a moderate one. What separates them is the fastest each has achieved, which is what sets the slack.</a:t>
            </a:r>
          </a:p>
        </p:txBody>
      </p:sp>
      <p:sp>
        <p:nvSpPr>
          <p:cNvPr id="10" name="Rectangle 9"/>
          <p:cNvSpPr/>
          <p:nvPr/>
        </p:nvSpPr>
        <p:spPr>
          <a:xfrm>
            <a:off x="4349750" y="1905000"/>
            <a:ext cx="348615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4349750" y="2032000"/>
            <a:ext cx="3486150" cy="317500"/>
          </a:xfrm>
          <a:prstGeom prst="rect">
            <a:avLst/>
          </a:prstGeom>
          <a:noFill/>
        </p:spPr>
        <p:txBody>
          <a:bodyPr wrap="square" lIns="0" tIns="0" rIns="0" bIns="0" anchor="t">
            <a:spAutoFit/>
          </a:bodyPr>
          <a:lstStyle/>
          <a:p>
            <a:pPr algn="l">
              <a:lnSpc>
                <a:spcPct val="100000"/>
              </a:lnSpc>
            </a:pPr>
            <a:r>
              <a:rPr sz="1600" b="1">
                <a:solidFill>
                  <a:srgbClr val="50017D"/>
                </a:solidFill>
                <a:latin typeface="Arial"/>
              </a:rPr>
              <a:t>p = 0.067</a:t>
            </a:r>
          </a:p>
        </p:txBody>
      </p:sp>
      <p:sp>
        <p:nvSpPr>
          <p:cNvPr id="12" name="TextBox 11"/>
          <p:cNvSpPr txBox="1"/>
          <p:nvPr/>
        </p:nvSpPr>
        <p:spPr>
          <a:xfrm>
            <a:off x="4349750" y="2387600"/>
            <a:ext cx="3486150" cy="444500"/>
          </a:xfrm>
          <a:prstGeom prst="rect">
            <a:avLst/>
          </a:prstGeom>
          <a:noFill/>
        </p:spPr>
        <p:txBody>
          <a:bodyPr wrap="square" lIns="0" tIns="0" rIns="0" bIns="0" anchor="t">
            <a:spAutoFit/>
          </a:bodyPr>
          <a:lstStyle/>
          <a:p>
            <a:pPr algn="l">
              <a:lnSpc>
                <a:spcPct val="125000"/>
              </a:lnSpc>
            </a:pPr>
            <a:r>
              <a:rPr sz="1150" b="1">
                <a:solidFill>
                  <a:srgbClr val="1F0E33"/>
                </a:solidFill>
                <a:latin typeface="Arial"/>
              </a:rPr>
              <a:t>Fisher's exact, on the six high-burden trials</a:t>
            </a:r>
          </a:p>
        </p:txBody>
      </p:sp>
      <p:sp>
        <p:nvSpPr>
          <p:cNvPr id="13" name="TextBox 12"/>
          <p:cNvSpPr txBox="1"/>
          <p:nvPr/>
        </p:nvSpPr>
        <p:spPr>
          <a:xfrm>
            <a:off x="4349750" y="2870200"/>
            <a:ext cx="3486150" cy="1524000"/>
          </a:xfrm>
          <a:prstGeom prst="rect">
            <a:avLst/>
          </a:prstGeom>
          <a:noFill/>
        </p:spPr>
        <p:txBody>
          <a:bodyPr wrap="square" lIns="0" tIns="0" rIns="0" bIns="0" anchor="t">
            <a:spAutoFit/>
          </a:bodyPr>
          <a:lstStyle/>
          <a:p>
            <a:pPr algn="l">
              <a:lnSpc>
                <a:spcPct val="138000"/>
              </a:lnSpc>
            </a:pPr>
            <a:r>
              <a:rPr sz="1150" b="0">
                <a:solidFill>
                  <a:srgbClr val="3F3350"/>
                </a:solidFill>
                <a:latin typeface="Arial"/>
              </a:rPr>
              <a:t>The two that began before the clock started met the target; all four that began afterwards missed it. The pattern fits the proposed mechanism but does not establish it.</a:t>
            </a:r>
          </a:p>
        </p:txBody>
      </p:sp>
      <p:sp>
        <p:nvSpPr>
          <p:cNvPr id="14" name="Rectangle 13"/>
          <p:cNvSpPr/>
          <p:nvPr/>
        </p:nvSpPr>
        <p:spPr>
          <a:xfrm>
            <a:off x="8089900" y="1905000"/>
            <a:ext cx="3486150" cy="19050"/>
          </a:xfrm>
          <a:prstGeom prst="rect">
            <a:avLst/>
          </a:prstGeom>
          <a:solidFill>
            <a:srgbClr val="50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8089900" y="2032000"/>
            <a:ext cx="3486150" cy="317500"/>
          </a:xfrm>
          <a:prstGeom prst="rect">
            <a:avLst/>
          </a:prstGeom>
          <a:noFill/>
        </p:spPr>
        <p:txBody>
          <a:bodyPr wrap="square" lIns="0" tIns="0" rIns="0" bIns="0" anchor="t">
            <a:spAutoFit/>
          </a:bodyPr>
          <a:lstStyle/>
          <a:p>
            <a:pPr algn="l">
              <a:lnSpc>
                <a:spcPct val="100000"/>
              </a:lnSpc>
            </a:pPr>
            <a:r>
              <a:rPr sz="1600" b="1">
                <a:solidFill>
                  <a:srgbClr val="50017D"/>
                </a:solidFill>
                <a:latin typeface="Arial"/>
              </a:rPr>
              <a:t>p = 0.71</a:t>
            </a:r>
          </a:p>
        </p:txBody>
      </p:sp>
      <p:sp>
        <p:nvSpPr>
          <p:cNvPr id="16" name="TextBox 15"/>
          <p:cNvSpPr txBox="1"/>
          <p:nvPr/>
        </p:nvSpPr>
        <p:spPr>
          <a:xfrm>
            <a:off x="8089900" y="2387600"/>
            <a:ext cx="3486150" cy="444500"/>
          </a:xfrm>
          <a:prstGeom prst="rect">
            <a:avLst/>
          </a:prstGeom>
          <a:noFill/>
        </p:spPr>
        <p:txBody>
          <a:bodyPr wrap="square" lIns="0" tIns="0" rIns="0" bIns="0" anchor="t">
            <a:spAutoFit/>
          </a:bodyPr>
          <a:lstStyle/>
          <a:p>
            <a:pPr algn="l">
              <a:lnSpc>
                <a:spcPct val="125000"/>
              </a:lnSpc>
            </a:pPr>
            <a:r>
              <a:rPr sz="1150" b="1">
                <a:solidFill>
                  <a:srgbClr val="1F0E33"/>
                </a:solidFill>
                <a:latin typeface="Arial"/>
              </a:rPr>
              <a:t>Work intervals, early against late starters</a:t>
            </a:r>
          </a:p>
        </p:txBody>
      </p:sp>
      <p:sp>
        <p:nvSpPr>
          <p:cNvPr id="17" name="TextBox 16"/>
          <p:cNvSpPr txBox="1"/>
          <p:nvPr/>
        </p:nvSpPr>
        <p:spPr>
          <a:xfrm>
            <a:off x="8089900" y="2870200"/>
            <a:ext cx="3486150" cy="1524000"/>
          </a:xfrm>
          <a:prstGeom prst="rect">
            <a:avLst/>
          </a:prstGeom>
          <a:noFill/>
        </p:spPr>
        <p:txBody>
          <a:bodyPr wrap="square" lIns="0" tIns="0" rIns="0" bIns="0" anchor="t">
            <a:spAutoFit/>
          </a:bodyPr>
          <a:lstStyle/>
          <a:p>
            <a:pPr algn="l">
              <a:lnSpc>
                <a:spcPct val="138000"/>
              </a:lnSpc>
            </a:pPr>
            <a:r>
              <a:rPr sz="1150" b="0">
                <a:solidFill>
                  <a:srgbClr val="3F3350"/>
                </a:solidFill>
                <a:latin typeface="Arial"/>
              </a:rPr>
              <a:t>Work intervals did not differ significantly. Earlier preparation moves work outside the window rather than shortening it. Given the small case base, this does not establish that earlier preparation has no operational effect.</a:t>
            </a:r>
          </a:p>
        </p:txBody>
      </p:sp>
      <p:sp>
        <p:nvSpPr>
          <p:cNvPr id="18" name="Rectangle 17"/>
          <p:cNvSpPr/>
          <p:nvPr/>
        </p:nvSpPr>
        <p:spPr>
          <a:xfrm>
            <a:off x="609600" y="5080000"/>
            <a:ext cx="10972800" cy="1143000"/>
          </a:xfrm>
          <a:prstGeom prst="rect">
            <a:avLst/>
          </a:prstGeom>
          <a:solidFill>
            <a:srgbClr val="FAF7FD"/>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787400" y="5232400"/>
            <a:ext cx="10617200" cy="889000"/>
          </a:xfrm>
          <a:prstGeom prst="rect">
            <a:avLst/>
          </a:prstGeom>
          <a:noFill/>
        </p:spPr>
        <p:txBody>
          <a:bodyPr wrap="square" lIns="0" tIns="0" rIns="0" bIns="0" anchor="t">
            <a:spAutoFit/>
          </a:bodyPr>
          <a:lstStyle/>
          <a:p>
            <a:pPr algn="l">
              <a:lnSpc>
                <a:spcPct val="142000"/>
              </a:lnSpc>
            </a:pPr>
            <a:r>
              <a:rPr sz="1200" b="0">
                <a:solidFill>
                  <a:srgbClr val="3F3350"/>
                </a:solidFill>
                <a:latin typeface="Arial"/>
              </a:rPr>
              <a:t>Two further observations from the case set. No recorded trial characteristic predicted an early start, so the early starts were not the product of a rule the service could repeat. The model also starts the right trials sooner: three of the four are among the six it starts earliest, by 34, 22 and 17 days, and of the twelve trials the service began before the model would, eleven missed the target anyway.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BACK-UP · B5</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B5</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774700"/>
            <a:ext cx="11176000" cy="1270000"/>
          </a:xfrm>
          <a:prstGeom prst="rect">
            <a:avLst/>
          </a:prstGeom>
          <a:noFill/>
        </p:spPr>
        <p:txBody>
          <a:bodyPr wrap="square" lIns="0" tIns="0" rIns="0" bIns="0" anchor="t">
            <a:spAutoFit/>
          </a:bodyPr>
          <a:lstStyle/>
          <a:p>
            <a:pPr algn="l">
              <a:lnSpc>
                <a:spcPct val="116000"/>
              </a:lnSpc>
            </a:pPr>
            <a:r>
              <a:rPr sz="2100" b="1">
                <a:solidFill>
                  <a:srgbClr val="1F0E33"/>
                </a:solidFill>
                <a:latin typeface="Arial"/>
              </a:rPr>
              <a:t>What a rescue costs, what preparation buys, and what capacity buys</a:t>
            </a:r>
          </a:p>
        </p:txBody>
      </p:sp>
      <p:pic>
        <p:nvPicPr>
          <p:cNvPr id="6" name="Picture 5" descr="fig5_11_frontier_rotation.png"/>
          <p:cNvPicPr>
            <a:picLocks noChangeAspect="1"/>
          </p:cNvPicPr>
          <p:nvPr/>
        </p:nvPicPr>
        <p:blipFill>
          <a:blip r:embed="rId3"/>
          <a:stretch>
            <a:fillRect/>
          </a:stretch>
        </p:blipFill>
        <p:spPr>
          <a:xfrm>
            <a:off x="558800" y="1524000"/>
            <a:ext cx="3581400" cy="2504910"/>
          </a:xfrm>
          <a:prstGeom prst="rect">
            <a:avLst/>
          </a:prstGeom>
        </p:spPr>
      </p:pic>
      <p:sp>
        <p:nvSpPr>
          <p:cNvPr id="7" name="TextBox 6"/>
          <p:cNvSpPr txBox="1"/>
          <p:nvPr/>
        </p:nvSpPr>
        <p:spPr>
          <a:xfrm>
            <a:off x="558800" y="3556000"/>
            <a:ext cx="3581400" cy="190500"/>
          </a:xfrm>
          <a:prstGeom prst="rect">
            <a:avLst/>
          </a:prstGeom>
          <a:noFill/>
        </p:spPr>
        <p:txBody>
          <a:bodyPr wrap="square" lIns="0" tIns="0" rIns="0" bIns="0" anchor="t">
            <a:spAutoFit/>
          </a:bodyPr>
          <a:lstStyle/>
          <a:p>
            <a:pPr algn="l">
              <a:lnSpc>
                <a:spcPct val="135000"/>
              </a:lnSpc>
            </a:pPr>
            <a:r>
              <a:rPr sz="1050" b="0">
                <a:solidFill>
                  <a:srgbClr val="9D8FB0"/>
                </a:solidFill>
                <a:latin typeface="Arial"/>
              </a:rPr>
              <a:t>Figure 5.7 — what a rescue costs at two leads</a:t>
            </a:r>
          </a:p>
        </p:txBody>
      </p:sp>
      <p:pic>
        <p:nvPicPr>
          <p:cNvPr id="8" name="Picture 7" descr="fig5_12_preparation_steps.png"/>
          <p:cNvPicPr>
            <a:picLocks noChangeAspect="1"/>
          </p:cNvPicPr>
          <p:nvPr/>
        </p:nvPicPr>
        <p:blipFill>
          <a:blip r:embed="rId4"/>
          <a:stretch>
            <a:fillRect/>
          </a:stretch>
        </p:blipFill>
        <p:spPr>
          <a:xfrm>
            <a:off x="4330700" y="1524000"/>
            <a:ext cx="3581400" cy="2608418"/>
          </a:xfrm>
          <a:prstGeom prst="rect">
            <a:avLst/>
          </a:prstGeom>
        </p:spPr>
      </p:pic>
      <p:sp>
        <p:nvSpPr>
          <p:cNvPr id="9" name="TextBox 8"/>
          <p:cNvSpPr txBox="1"/>
          <p:nvPr/>
        </p:nvSpPr>
        <p:spPr>
          <a:xfrm>
            <a:off x="4330700" y="3556000"/>
            <a:ext cx="3581400" cy="190500"/>
          </a:xfrm>
          <a:prstGeom prst="rect">
            <a:avLst/>
          </a:prstGeom>
          <a:noFill/>
        </p:spPr>
        <p:txBody>
          <a:bodyPr wrap="square" lIns="0" tIns="0" rIns="0" bIns="0" anchor="t">
            <a:spAutoFit/>
          </a:bodyPr>
          <a:lstStyle/>
          <a:p>
            <a:pPr algn="l">
              <a:lnSpc>
                <a:spcPct val="135000"/>
              </a:lnSpc>
            </a:pPr>
            <a:r>
              <a:rPr sz="1050" b="0">
                <a:solidFill>
                  <a:srgbClr val="9D8FB0"/>
                </a:solidFill>
                <a:latin typeface="Arial"/>
              </a:rPr>
              <a:t>Figure 5.8 — what preparation buys</a:t>
            </a:r>
          </a:p>
        </p:txBody>
      </p:sp>
      <p:pic>
        <p:nvPicPr>
          <p:cNvPr id="10" name="Picture 9" descr="fig5_13_tradeoff_pair.png"/>
          <p:cNvPicPr>
            <a:picLocks noChangeAspect="1"/>
          </p:cNvPicPr>
          <p:nvPr/>
        </p:nvPicPr>
        <p:blipFill>
          <a:blip r:embed="rId5"/>
          <a:stretch>
            <a:fillRect/>
          </a:stretch>
        </p:blipFill>
        <p:spPr>
          <a:xfrm>
            <a:off x="8102600" y="1524000"/>
            <a:ext cx="3581400" cy="1606455"/>
          </a:xfrm>
          <a:prstGeom prst="rect">
            <a:avLst/>
          </a:prstGeom>
        </p:spPr>
      </p:pic>
      <p:sp>
        <p:nvSpPr>
          <p:cNvPr id="11" name="TextBox 10"/>
          <p:cNvSpPr txBox="1"/>
          <p:nvPr/>
        </p:nvSpPr>
        <p:spPr>
          <a:xfrm>
            <a:off x="8102600" y="3556000"/>
            <a:ext cx="3581400" cy="190500"/>
          </a:xfrm>
          <a:prstGeom prst="rect">
            <a:avLst/>
          </a:prstGeom>
          <a:noFill/>
        </p:spPr>
        <p:txBody>
          <a:bodyPr wrap="square" lIns="0" tIns="0" rIns="0" bIns="0" anchor="t">
            <a:spAutoFit/>
          </a:bodyPr>
          <a:lstStyle/>
          <a:p>
            <a:pPr algn="l">
              <a:lnSpc>
                <a:spcPct val="135000"/>
              </a:lnSpc>
            </a:pPr>
            <a:r>
              <a:rPr sz="1050" b="0">
                <a:solidFill>
                  <a:srgbClr val="9D8FB0"/>
                </a:solidFill>
                <a:latin typeface="Arial"/>
              </a:rPr>
              <a:t>Figure 5.9 — what capacity buys</a:t>
            </a:r>
          </a:p>
        </p:txBody>
      </p:sp>
      <p:grpSp>
        <p:nvGrpSpPr>
          <p:cNvPr id="18" name="Group 17">
            <a:extLst>
              <a:ext uri="{FF2B5EF4-FFF2-40B4-BE49-F238E27FC236}">
                <a16:creationId xmlns:a16="http://schemas.microsoft.com/office/drawing/2014/main" id="{F17ADB60-5AF1-A0E6-D34A-1761C54F21F2}"/>
              </a:ext>
            </a:extLst>
          </p:cNvPr>
          <p:cNvGrpSpPr/>
          <p:nvPr/>
        </p:nvGrpSpPr>
        <p:grpSpPr>
          <a:xfrm>
            <a:off x="558800" y="4325260"/>
            <a:ext cx="11125200" cy="2159000"/>
            <a:chOff x="558800" y="4064000"/>
            <a:chExt cx="11125200" cy="2159000"/>
          </a:xfrm>
        </p:grpSpPr>
        <p:sp>
          <p:nvSpPr>
            <p:cNvPr id="12" name="TextBox 11"/>
            <p:cNvSpPr txBox="1"/>
            <p:nvPr/>
          </p:nvSpPr>
          <p:spPr>
            <a:xfrm>
              <a:off x="558800" y="4064000"/>
              <a:ext cx="165100" cy="254000"/>
            </a:xfrm>
            <a:prstGeom prst="rect">
              <a:avLst/>
            </a:prstGeom>
            <a:noFill/>
          </p:spPr>
          <p:txBody>
            <a:bodyPr wrap="square" lIns="0" tIns="0" rIns="0" bIns="0" anchor="t">
              <a:spAutoFit/>
            </a:bodyPr>
            <a:lstStyle/>
            <a:p>
              <a:pPr algn="l">
                <a:lnSpc>
                  <a:spcPct val="135000"/>
                </a:lnSpc>
              </a:pPr>
              <a:r>
                <a:rPr sz="1100" b="0">
                  <a:solidFill>
                    <a:srgbClr val="50017D"/>
                  </a:solidFill>
                  <a:latin typeface="Arial"/>
                </a:rPr>
                <a:t>—</a:t>
              </a:r>
            </a:p>
          </p:txBody>
        </p:sp>
        <p:sp>
          <p:nvSpPr>
            <p:cNvPr id="13" name="TextBox 12"/>
            <p:cNvSpPr txBox="1"/>
            <p:nvPr/>
          </p:nvSpPr>
          <p:spPr>
            <a:xfrm>
              <a:off x="762000" y="4064000"/>
              <a:ext cx="3378200" cy="1790298"/>
            </a:xfrm>
            <a:prstGeom prst="rect">
              <a:avLst/>
            </a:prstGeom>
            <a:noFill/>
          </p:spPr>
          <p:txBody>
            <a:bodyPr wrap="square" lIns="0" tIns="0" rIns="0" bIns="0" anchor="t">
              <a:spAutoFit/>
            </a:bodyPr>
            <a:lstStyle/>
            <a:p>
              <a:pPr algn="l">
                <a:lnSpc>
                  <a:spcPct val="134000"/>
                </a:lnSpc>
              </a:pPr>
              <a:r>
                <a:rPr sz="1100" b="0" dirty="0">
                  <a:solidFill>
                    <a:srgbClr val="1F0E33"/>
                  </a:solidFill>
                  <a:latin typeface="Arial"/>
                </a:rPr>
                <a:t>On the largest queue, 1 May 2025, a 21-day lead makes each rescue cost additional lateness. A 35-day lead brings two trial</a:t>
              </a:r>
              <a:r>
                <a:rPr lang="th-TH" sz="1100" b="0" dirty="0">
                  <a:solidFill>
                    <a:srgbClr val="1F0E33"/>
                  </a:solidFill>
                  <a:latin typeface="Arial"/>
                </a:rPr>
                <a:t>(</a:t>
              </a:r>
              <a:r>
                <a:rPr sz="1100" b="0" dirty="0">
                  <a:solidFill>
                    <a:srgbClr val="1F0E33"/>
                  </a:solidFill>
                  <a:latin typeface="Arial"/>
                </a:rPr>
                <a:t>s in on time at the lowest weighted lateness of any plan. On the 1 February 2025 queue the two goals never conflict at any lead. A governance rule that ranks lateness first therefore gives up nothing when preparation is adequate and two rescues when it is not.</a:t>
              </a:r>
            </a:p>
          </p:txBody>
        </p:sp>
        <p:sp>
          <p:nvSpPr>
            <p:cNvPr id="14" name="TextBox 13"/>
            <p:cNvSpPr txBox="1"/>
            <p:nvPr/>
          </p:nvSpPr>
          <p:spPr>
            <a:xfrm>
              <a:off x="4330700" y="4064000"/>
              <a:ext cx="165100" cy="254000"/>
            </a:xfrm>
            <a:prstGeom prst="rect">
              <a:avLst/>
            </a:prstGeom>
            <a:noFill/>
          </p:spPr>
          <p:txBody>
            <a:bodyPr wrap="square" lIns="0" tIns="0" rIns="0" bIns="0" anchor="t">
              <a:spAutoFit/>
            </a:bodyPr>
            <a:lstStyle/>
            <a:p>
              <a:pPr algn="l">
                <a:lnSpc>
                  <a:spcPct val="135000"/>
                </a:lnSpc>
              </a:pPr>
              <a:r>
                <a:rPr sz="1100" b="0">
                  <a:solidFill>
                    <a:srgbClr val="50017D"/>
                  </a:solidFill>
                  <a:latin typeface="Arial"/>
                </a:rPr>
                <a:t>—</a:t>
              </a:r>
            </a:p>
          </p:txBody>
        </p:sp>
        <p:sp>
          <p:nvSpPr>
            <p:cNvPr id="15" name="TextBox 14"/>
            <p:cNvSpPr txBox="1"/>
            <p:nvPr/>
          </p:nvSpPr>
          <p:spPr>
            <a:xfrm>
              <a:off x="4533900" y="4064000"/>
              <a:ext cx="3378200" cy="2159000"/>
            </a:xfrm>
            <a:prstGeom prst="rect">
              <a:avLst/>
            </a:prstGeom>
            <a:noFill/>
          </p:spPr>
          <p:txBody>
            <a:bodyPr wrap="square" lIns="0" tIns="0" rIns="0" bIns="0" anchor="t">
              <a:spAutoFit/>
            </a:bodyPr>
            <a:lstStyle/>
            <a:p>
              <a:pPr algn="l">
                <a:lnSpc>
                  <a:spcPct val="134000"/>
                </a:lnSpc>
              </a:pPr>
              <a:r>
                <a:rPr sz="1100" b="0">
                  <a:solidFill>
                    <a:srgbClr val="1F0E33"/>
                  </a:solidFill>
                  <a:latin typeface="Arial"/>
                </a:rPr>
                <a:t>Figure 5.8 reports the least preparation that first reaches each on-time count. The first rescue is cheap; each further one costs more lead than the last. Across the whole range tested the February queue never passes two, and that ceiling belongs to the queue rather than to any lever.</a:t>
              </a:r>
            </a:p>
          </p:txBody>
        </p:sp>
        <p:sp>
          <p:nvSpPr>
            <p:cNvPr id="16" name="TextBox 15"/>
            <p:cNvSpPr txBox="1"/>
            <p:nvPr/>
          </p:nvSpPr>
          <p:spPr>
            <a:xfrm>
              <a:off x="8102600" y="4064000"/>
              <a:ext cx="165100" cy="254000"/>
            </a:xfrm>
            <a:prstGeom prst="rect">
              <a:avLst/>
            </a:prstGeom>
            <a:noFill/>
          </p:spPr>
          <p:txBody>
            <a:bodyPr wrap="square" lIns="0" tIns="0" rIns="0" bIns="0" anchor="t">
              <a:spAutoFit/>
            </a:bodyPr>
            <a:lstStyle/>
            <a:p>
              <a:pPr algn="l">
                <a:lnSpc>
                  <a:spcPct val="135000"/>
                </a:lnSpc>
              </a:pPr>
              <a:r>
                <a:rPr sz="1100" b="0">
                  <a:solidFill>
                    <a:srgbClr val="50017D"/>
                  </a:solidFill>
                  <a:latin typeface="Arial"/>
                </a:rPr>
                <a:t>—</a:t>
              </a:r>
            </a:p>
          </p:txBody>
        </p:sp>
        <p:sp>
          <p:nvSpPr>
            <p:cNvPr id="17" name="TextBox 16"/>
            <p:cNvSpPr txBox="1"/>
            <p:nvPr/>
          </p:nvSpPr>
          <p:spPr>
            <a:xfrm>
              <a:off x="8305800" y="4064000"/>
              <a:ext cx="3378200" cy="2159000"/>
            </a:xfrm>
            <a:prstGeom prst="rect">
              <a:avLst/>
            </a:prstGeom>
            <a:noFill/>
          </p:spPr>
          <p:txBody>
            <a:bodyPr wrap="square" lIns="0" tIns="0" rIns="0" bIns="0" anchor="t">
              <a:spAutoFit/>
            </a:bodyPr>
            <a:lstStyle/>
            <a:p>
              <a:pPr algn="l">
                <a:lnSpc>
                  <a:spcPct val="134000"/>
                </a:lnSpc>
              </a:pPr>
              <a:r>
                <a:rPr sz="1100" b="0">
                  <a:solidFill>
                    <a:srgbClr val="1F0E33"/>
                  </a:solidFill>
                  <a:latin typeface="Arial"/>
                </a:rPr>
                <a:t>Holding the lead at 35 days, weighted lateness falls with every slot opened at each on-time count, while the pharmacy burden the plan commits rises with both. That is the capacity decision stated properly: it buys a shorter queue, not a higher on-time count.</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BACK-UP · B6</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B6</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787400"/>
            <a:ext cx="11049000" cy="1270000"/>
          </a:xfrm>
          <a:prstGeom prst="rect">
            <a:avLst/>
          </a:prstGeom>
          <a:noFill/>
        </p:spPr>
        <p:txBody>
          <a:bodyPr wrap="square" lIns="0" tIns="0" rIns="0" bIns="0" anchor="t">
            <a:spAutoFit/>
          </a:bodyPr>
          <a:lstStyle/>
          <a:p>
            <a:pPr algn="l">
              <a:lnSpc>
                <a:spcPct val="116000"/>
              </a:lnSpc>
            </a:pPr>
            <a:r>
              <a:rPr sz="2200" b="1">
                <a:solidFill>
                  <a:srgbClr val="1F0E33"/>
                </a:solidFill>
                <a:latin typeface="Arial"/>
              </a:rPr>
              <a:t>The robustness sweep, and the burden weights</a:t>
            </a:r>
          </a:p>
        </p:txBody>
      </p:sp>
      <p:sp>
        <p:nvSpPr>
          <p:cNvPr id="6" name="TextBox 5"/>
          <p:cNvSpPr txBox="1"/>
          <p:nvPr/>
        </p:nvSpPr>
        <p:spPr>
          <a:xfrm>
            <a:off x="609600" y="1905000"/>
            <a:ext cx="5715000" cy="215900"/>
          </a:xfrm>
          <a:prstGeom prst="rect">
            <a:avLst/>
          </a:prstGeom>
          <a:noFill/>
        </p:spPr>
        <p:txBody>
          <a:bodyPr wrap="square" lIns="0" tIns="0" rIns="0" bIns="0" anchor="t">
            <a:spAutoFit/>
          </a:bodyPr>
          <a:lstStyle/>
          <a:p>
            <a:pPr algn="l">
              <a:lnSpc>
                <a:spcPct val="135000"/>
              </a:lnSpc>
            </a:pPr>
            <a:r>
              <a:rPr sz="1100" b="1" spc="220">
                <a:solidFill>
                  <a:srgbClr val="50017D"/>
                </a:solidFill>
                <a:latin typeface="Arial"/>
              </a:rPr>
              <a:t>9,000 GENERATED PORTFOLIOS</a:t>
            </a:r>
          </a:p>
        </p:txBody>
      </p:sp>
      <p:sp>
        <p:nvSpPr>
          <p:cNvPr id="7" name="TextBox 6"/>
          <p:cNvSpPr txBox="1"/>
          <p:nvPr/>
        </p:nvSpPr>
        <p:spPr>
          <a:xfrm>
            <a:off x="609600" y="2260600"/>
            <a:ext cx="165100" cy="254000"/>
          </a:xfrm>
          <a:prstGeom prst="rect">
            <a:avLst/>
          </a:prstGeom>
          <a:noFill/>
        </p:spPr>
        <p:txBody>
          <a:bodyPr wrap="square" lIns="0" tIns="0" rIns="0" bIns="0" anchor="t">
            <a:spAutoFit/>
          </a:bodyPr>
          <a:lstStyle/>
          <a:p>
            <a:pPr algn="l">
              <a:lnSpc>
                <a:spcPct val="135000"/>
              </a:lnSpc>
            </a:pPr>
            <a:r>
              <a:rPr sz="1250" b="0">
                <a:solidFill>
                  <a:srgbClr val="50017D"/>
                </a:solidFill>
                <a:latin typeface="Arial"/>
              </a:rPr>
              <a:t>—</a:t>
            </a:r>
          </a:p>
        </p:txBody>
      </p:sp>
      <p:sp>
        <p:nvSpPr>
          <p:cNvPr id="8" name="TextBox 7"/>
          <p:cNvSpPr txBox="1"/>
          <p:nvPr/>
        </p:nvSpPr>
        <p:spPr>
          <a:xfrm>
            <a:off x="825500" y="2260600"/>
            <a:ext cx="5499100" cy="1905000"/>
          </a:xfrm>
          <a:prstGeom prst="rect">
            <a:avLst/>
          </a:prstGeom>
          <a:noFill/>
        </p:spPr>
        <p:txBody>
          <a:bodyPr wrap="square" lIns="0" tIns="0" rIns="0" bIns="0" anchor="t">
            <a:spAutoFit/>
          </a:bodyPr>
          <a:lstStyle/>
          <a:p>
            <a:pPr algn="l">
              <a:lnSpc>
                <a:spcPct val="140000"/>
              </a:lnSpc>
            </a:pPr>
            <a:r>
              <a:rPr sz="1250" b="0">
                <a:solidFill>
                  <a:srgbClr val="1F0E33"/>
                </a:solidFill>
                <a:latin typeface="Arial"/>
              </a:rPr>
              <a:t>At current performance the model never beats the arrival-order rule for on-time completions.</a:t>
            </a:r>
          </a:p>
        </p:txBody>
      </p:sp>
      <p:sp>
        <p:nvSpPr>
          <p:cNvPr id="9" name="TextBox 8"/>
          <p:cNvSpPr txBox="1"/>
          <p:nvPr/>
        </p:nvSpPr>
        <p:spPr>
          <a:xfrm>
            <a:off x="609600" y="2844800"/>
            <a:ext cx="165100" cy="254000"/>
          </a:xfrm>
          <a:prstGeom prst="rect">
            <a:avLst/>
          </a:prstGeom>
          <a:noFill/>
        </p:spPr>
        <p:txBody>
          <a:bodyPr wrap="square" lIns="0" tIns="0" rIns="0" bIns="0" anchor="t">
            <a:spAutoFit/>
          </a:bodyPr>
          <a:lstStyle/>
          <a:p>
            <a:pPr algn="l">
              <a:lnSpc>
                <a:spcPct val="135000"/>
              </a:lnSpc>
            </a:pPr>
            <a:r>
              <a:rPr sz="1250" b="0">
                <a:solidFill>
                  <a:srgbClr val="50017D"/>
                </a:solidFill>
                <a:latin typeface="Arial"/>
              </a:rPr>
              <a:t>—</a:t>
            </a:r>
          </a:p>
        </p:txBody>
      </p:sp>
      <p:sp>
        <p:nvSpPr>
          <p:cNvPr id="10" name="TextBox 9"/>
          <p:cNvSpPr txBox="1"/>
          <p:nvPr/>
        </p:nvSpPr>
        <p:spPr>
          <a:xfrm>
            <a:off x="825500" y="2844800"/>
            <a:ext cx="5499100" cy="1905000"/>
          </a:xfrm>
          <a:prstGeom prst="rect">
            <a:avLst/>
          </a:prstGeom>
          <a:noFill/>
        </p:spPr>
        <p:txBody>
          <a:bodyPr wrap="square" lIns="0" tIns="0" rIns="0" bIns="0" anchor="t">
            <a:spAutoFit/>
          </a:bodyPr>
          <a:lstStyle/>
          <a:p>
            <a:pPr algn="l">
              <a:lnSpc>
                <a:spcPct val="140000"/>
              </a:lnSpc>
            </a:pPr>
            <a:r>
              <a:rPr sz="1250" b="0">
                <a:solidFill>
                  <a:srgbClr val="1F0E33"/>
                </a:solidFill>
                <a:latin typeface="Arial"/>
              </a:rPr>
              <a:t>At the demonstrated floors it wins in 36 per cent of cases, each win costing 24.3 weighted days of lateness elsewhere.</a:t>
            </a:r>
          </a:p>
        </p:txBody>
      </p:sp>
      <p:sp>
        <p:nvSpPr>
          <p:cNvPr id="11" name="TextBox 10"/>
          <p:cNvSpPr txBox="1"/>
          <p:nvPr/>
        </p:nvSpPr>
        <p:spPr>
          <a:xfrm>
            <a:off x="609600" y="3429000"/>
            <a:ext cx="165100" cy="254000"/>
          </a:xfrm>
          <a:prstGeom prst="rect">
            <a:avLst/>
          </a:prstGeom>
          <a:noFill/>
        </p:spPr>
        <p:txBody>
          <a:bodyPr wrap="square" lIns="0" tIns="0" rIns="0" bIns="0" anchor="t">
            <a:spAutoFit/>
          </a:bodyPr>
          <a:lstStyle/>
          <a:p>
            <a:pPr algn="l">
              <a:lnSpc>
                <a:spcPct val="135000"/>
              </a:lnSpc>
            </a:pPr>
            <a:r>
              <a:rPr sz="1250" b="0">
                <a:solidFill>
                  <a:srgbClr val="50017D"/>
                </a:solidFill>
                <a:latin typeface="Arial"/>
              </a:rPr>
              <a:t>—</a:t>
            </a:r>
          </a:p>
        </p:txBody>
      </p:sp>
      <p:sp>
        <p:nvSpPr>
          <p:cNvPr id="12" name="TextBox 11"/>
          <p:cNvSpPr txBox="1"/>
          <p:nvPr/>
        </p:nvSpPr>
        <p:spPr>
          <a:xfrm>
            <a:off x="825500" y="3429000"/>
            <a:ext cx="5499100" cy="1905000"/>
          </a:xfrm>
          <a:prstGeom prst="rect">
            <a:avLst/>
          </a:prstGeom>
          <a:noFill/>
        </p:spPr>
        <p:txBody>
          <a:bodyPr wrap="square" lIns="0" tIns="0" rIns="0" bIns="0" anchor="t">
            <a:spAutoFit/>
          </a:bodyPr>
          <a:lstStyle/>
          <a:p>
            <a:pPr algn="l">
              <a:lnSpc>
                <a:spcPct val="140000"/>
              </a:lnSpc>
            </a:pPr>
            <a:r>
              <a:rPr sz="1250" b="0">
                <a:solidFill>
                  <a:srgbClr val="1F0E33"/>
                </a:solidFill>
                <a:latin typeface="Arial"/>
              </a:rPr>
              <a:t>It helps most when trials arrive early and the aseptic share is low.</a:t>
            </a:r>
          </a:p>
        </p:txBody>
      </p:sp>
      <p:sp>
        <p:nvSpPr>
          <p:cNvPr id="13" name="TextBox 12"/>
          <p:cNvSpPr txBox="1"/>
          <p:nvPr/>
        </p:nvSpPr>
        <p:spPr>
          <a:xfrm>
            <a:off x="6883400" y="1905000"/>
            <a:ext cx="4699000" cy="215900"/>
          </a:xfrm>
          <a:prstGeom prst="rect">
            <a:avLst/>
          </a:prstGeom>
          <a:noFill/>
        </p:spPr>
        <p:txBody>
          <a:bodyPr wrap="square" lIns="0" tIns="0" rIns="0" bIns="0" anchor="t">
            <a:spAutoFit/>
          </a:bodyPr>
          <a:lstStyle/>
          <a:p>
            <a:pPr algn="l">
              <a:lnSpc>
                <a:spcPct val="135000"/>
              </a:lnSpc>
            </a:pPr>
            <a:r>
              <a:rPr sz="1100" b="1" spc="220">
                <a:solidFill>
                  <a:srgbClr val="50017D"/>
                </a:solidFill>
                <a:latin typeface="Arial"/>
              </a:rPr>
              <a:t>ROUTINE-TRIAL-EQUIVALENT WEIGHTS</a:t>
            </a:r>
          </a:p>
        </p:txBody>
      </p:sp>
      <p:sp>
        <p:nvSpPr>
          <p:cNvPr id="14" name="TextBox 13"/>
          <p:cNvSpPr txBox="1"/>
          <p:nvPr/>
        </p:nvSpPr>
        <p:spPr>
          <a:xfrm>
            <a:off x="6883400" y="2260600"/>
            <a:ext cx="1460500" cy="508000"/>
          </a:xfrm>
          <a:prstGeom prst="rect">
            <a:avLst/>
          </a:prstGeom>
          <a:noFill/>
        </p:spPr>
        <p:txBody>
          <a:bodyPr wrap="square" lIns="0" tIns="0" rIns="0" bIns="0" anchor="t">
            <a:spAutoFit/>
          </a:bodyPr>
          <a:lstStyle/>
          <a:p>
            <a:pPr algn="l">
              <a:lnSpc>
                <a:spcPct val="100000"/>
              </a:lnSpc>
            </a:pPr>
            <a:r>
              <a:rPr sz="2900" b="1">
                <a:solidFill>
                  <a:srgbClr val="50017D"/>
                </a:solidFill>
                <a:latin typeface="Arial"/>
              </a:rPr>
              <a:t>1.00</a:t>
            </a:r>
          </a:p>
        </p:txBody>
      </p:sp>
      <p:sp>
        <p:nvSpPr>
          <p:cNvPr id="15" name="TextBox 14"/>
          <p:cNvSpPr txBox="1"/>
          <p:nvPr/>
        </p:nvSpPr>
        <p:spPr>
          <a:xfrm>
            <a:off x="6883400" y="2743200"/>
            <a:ext cx="1460500" cy="254000"/>
          </a:xfrm>
          <a:prstGeom prst="rect">
            <a:avLst/>
          </a:prstGeom>
          <a:noFill/>
        </p:spPr>
        <p:txBody>
          <a:bodyPr wrap="square" lIns="0" tIns="0" rIns="0" bIns="0" anchor="t">
            <a:spAutoFit/>
          </a:bodyPr>
          <a:lstStyle/>
          <a:p>
            <a:pPr algn="l">
              <a:lnSpc>
                <a:spcPct val="135000"/>
              </a:lnSpc>
            </a:pPr>
            <a:r>
              <a:rPr sz="1150" b="0">
                <a:solidFill>
                  <a:srgbClr val="6B5B7E"/>
                </a:solidFill>
                <a:latin typeface="Arial"/>
              </a:rPr>
              <a:t>Low burden</a:t>
            </a:r>
          </a:p>
        </p:txBody>
      </p:sp>
      <p:sp>
        <p:nvSpPr>
          <p:cNvPr id="16" name="TextBox 15"/>
          <p:cNvSpPr txBox="1"/>
          <p:nvPr/>
        </p:nvSpPr>
        <p:spPr>
          <a:xfrm>
            <a:off x="8445500" y="2260600"/>
            <a:ext cx="1460500" cy="508000"/>
          </a:xfrm>
          <a:prstGeom prst="rect">
            <a:avLst/>
          </a:prstGeom>
          <a:noFill/>
        </p:spPr>
        <p:txBody>
          <a:bodyPr wrap="square" lIns="0" tIns="0" rIns="0" bIns="0" anchor="t">
            <a:spAutoFit/>
          </a:bodyPr>
          <a:lstStyle/>
          <a:p>
            <a:pPr algn="l">
              <a:lnSpc>
                <a:spcPct val="100000"/>
              </a:lnSpc>
            </a:pPr>
            <a:r>
              <a:rPr sz="2900" b="1">
                <a:solidFill>
                  <a:srgbClr val="50017D"/>
                </a:solidFill>
                <a:latin typeface="Arial"/>
              </a:rPr>
              <a:t>1.74</a:t>
            </a:r>
          </a:p>
        </p:txBody>
      </p:sp>
      <p:sp>
        <p:nvSpPr>
          <p:cNvPr id="17" name="TextBox 16"/>
          <p:cNvSpPr txBox="1"/>
          <p:nvPr/>
        </p:nvSpPr>
        <p:spPr>
          <a:xfrm>
            <a:off x="8445500" y="2743200"/>
            <a:ext cx="1460500" cy="254000"/>
          </a:xfrm>
          <a:prstGeom prst="rect">
            <a:avLst/>
          </a:prstGeom>
          <a:noFill/>
        </p:spPr>
        <p:txBody>
          <a:bodyPr wrap="square" lIns="0" tIns="0" rIns="0" bIns="0" anchor="t">
            <a:spAutoFit/>
          </a:bodyPr>
          <a:lstStyle/>
          <a:p>
            <a:pPr algn="l">
              <a:lnSpc>
                <a:spcPct val="135000"/>
              </a:lnSpc>
            </a:pPr>
            <a:r>
              <a:rPr sz="1150" b="0">
                <a:solidFill>
                  <a:srgbClr val="6B5B7E"/>
                </a:solidFill>
                <a:latin typeface="Arial"/>
              </a:rPr>
              <a:t>Moderate burden</a:t>
            </a:r>
          </a:p>
        </p:txBody>
      </p:sp>
      <p:sp>
        <p:nvSpPr>
          <p:cNvPr id="18" name="TextBox 17"/>
          <p:cNvSpPr txBox="1"/>
          <p:nvPr/>
        </p:nvSpPr>
        <p:spPr>
          <a:xfrm>
            <a:off x="10007600" y="2260600"/>
            <a:ext cx="1460500" cy="508000"/>
          </a:xfrm>
          <a:prstGeom prst="rect">
            <a:avLst/>
          </a:prstGeom>
          <a:noFill/>
        </p:spPr>
        <p:txBody>
          <a:bodyPr wrap="square" lIns="0" tIns="0" rIns="0" bIns="0" anchor="t">
            <a:spAutoFit/>
          </a:bodyPr>
          <a:lstStyle/>
          <a:p>
            <a:pPr algn="l">
              <a:lnSpc>
                <a:spcPct val="100000"/>
              </a:lnSpc>
            </a:pPr>
            <a:r>
              <a:rPr sz="2900" b="1">
                <a:solidFill>
                  <a:srgbClr val="50017D"/>
                </a:solidFill>
                <a:latin typeface="Arial"/>
              </a:rPr>
              <a:t>2.61</a:t>
            </a:r>
          </a:p>
        </p:txBody>
      </p:sp>
      <p:sp>
        <p:nvSpPr>
          <p:cNvPr id="19" name="TextBox 18"/>
          <p:cNvSpPr txBox="1"/>
          <p:nvPr/>
        </p:nvSpPr>
        <p:spPr>
          <a:xfrm>
            <a:off x="10007600" y="2743200"/>
            <a:ext cx="1460500" cy="254000"/>
          </a:xfrm>
          <a:prstGeom prst="rect">
            <a:avLst/>
          </a:prstGeom>
          <a:noFill/>
        </p:spPr>
        <p:txBody>
          <a:bodyPr wrap="square" lIns="0" tIns="0" rIns="0" bIns="0" anchor="t">
            <a:spAutoFit/>
          </a:bodyPr>
          <a:lstStyle/>
          <a:p>
            <a:pPr algn="l">
              <a:lnSpc>
                <a:spcPct val="135000"/>
              </a:lnSpc>
            </a:pPr>
            <a:r>
              <a:rPr sz="1150" b="0">
                <a:solidFill>
                  <a:srgbClr val="6B5B7E"/>
                </a:solidFill>
                <a:latin typeface="Arial"/>
              </a:rPr>
              <a:t>High burden</a:t>
            </a:r>
          </a:p>
        </p:txBody>
      </p:sp>
      <p:sp>
        <p:nvSpPr>
          <p:cNvPr id="20" name="TextBox 19"/>
          <p:cNvSpPr txBox="1"/>
          <p:nvPr/>
        </p:nvSpPr>
        <p:spPr>
          <a:xfrm>
            <a:off x="6883400" y="3302000"/>
            <a:ext cx="4699000" cy="762000"/>
          </a:xfrm>
          <a:prstGeom prst="rect">
            <a:avLst/>
          </a:prstGeom>
          <a:noFill/>
        </p:spPr>
        <p:txBody>
          <a:bodyPr wrap="square" lIns="0" tIns="0" rIns="0" bIns="0" anchor="t">
            <a:spAutoFit/>
          </a:bodyPr>
          <a:lstStyle/>
          <a:p>
            <a:pPr algn="l">
              <a:lnSpc>
                <a:spcPct val="142000"/>
              </a:lnSpc>
            </a:pPr>
            <a:r>
              <a:rPr sz="1250" b="0">
                <a:solidFill>
                  <a:srgbClr val="1F0E33"/>
                </a:solidFill>
                <a:latin typeface="Arial"/>
              </a:rPr>
              <a:t>Used only to compare the burden composition of two portfolios. </a:t>
            </a:r>
            <a:r>
              <a:rPr sz="1250" b="1">
                <a:solidFill>
                  <a:srgbClr val="50017D"/>
                </a:solidFill>
                <a:latin typeface="Arial"/>
              </a:rPr>
              <a:t>They are not staff-time ratios.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55600"/>
            <a:ext cx="7620000" cy="190500"/>
          </a:xfrm>
          <a:prstGeom prst="rect">
            <a:avLst/>
          </a:prstGeom>
          <a:noFill/>
        </p:spPr>
        <p:txBody>
          <a:bodyPr wrap="square" lIns="0" tIns="0" rIns="0" bIns="0" anchor="t">
            <a:spAutoFit/>
          </a:bodyPr>
          <a:lstStyle/>
          <a:p>
            <a:pPr algn="l">
              <a:lnSpc>
                <a:spcPct val="135000"/>
              </a:lnSpc>
            </a:pPr>
            <a:r>
              <a:rPr sz="1150" b="1" spc="370">
                <a:solidFill>
                  <a:srgbClr val="50017D"/>
                </a:solidFill>
                <a:latin typeface="Arial"/>
              </a:rPr>
              <a:t>BACK-UP · B7</a:t>
            </a:r>
          </a:p>
        </p:txBody>
      </p:sp>
      <p:sp>
        <p:nvSpPr>
          <p:cNvPr id="3" name="TextBox 2"/>
          <p:cNvSpPr txBox="1"/>
          <p:nvPr/>
        </p:nvSpPr>
        <p:spPr>
          <a:xfrm>
            <a:off x="10160000" y="355600"/>
            <a:ext cx="1422400" cy="190500"/>
          </a:xfrm>
          <a:prstGeom prst="rect">
            <a:avLst/>
          </a:prstGeom>
          <a:noFill/>
        </p:spPr>
        <p:txBody>
          <a:bodyPr wrap="square" lIns="0" tIns="0" rIns="0" bIns="0" anchor="t">
            <a:spAutoFit/>
          </a:bodyPr>
          <a:lstStyle/>
          <a:p>
            <a:pPr algn="r">
              <a:lnSpc>
                <a:spcPct val="135000"/>
              </a:lnSpc>
            </a:pPr>
            <a:r>
              <a:rPr sz="1100" b="0">
                <a:solidFill>
                  <a:srgbClr val="9D8FB0"/>
                </a:solidFill>
                <a:latin typeface="Arial"/>
              </a:rPr>
              <a:t>B7</a:t>
            </a:r>
          </a:p>
        </p:txBody>
      </p:sp>
      <p:sp>
        <p:nvSpPr>
          <p:cNvPr id="4" name="Rectangle 3"/>
          <p:cNvSpPr/>
          <p:nvPr/>
        </p:nvSpPr>
        <p:spPr>
          <a:xfrm>
            <a:off x="609600" y="635000"/>
            <a:ext cx="10972800" cy="9525"/>
          </a:xfrm>
          <a:prstGeom prst="rect">
            <a:avLst/>
          </a:prstGeom>
          <a:solidFill>
            <a:srgbClr val="E8E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09600" y="774700"/>
            <a:ext cx="11176000" cy="1270000"/>
          </a:xfrm>
          <a:prstGeom prst="rect">
            <a:avLst/>
          </a:prstGeom>
          <a:noFill/>
        </p:spPr>
        <p:txBody>
          <a:bodyPr wrap="square" lIns="0" tIns="0" rIns="0" bIns="0" anchor="t">
            <a:spAutoFit/>
          </a:bodyPr>
          <a:lstStyle/>
          <a:p>
            <a:pPr algn="l">
              <a:lnSpc>
                <a:spcPct val="116000"/>
              </a:lnSpc>
            </a:pPr>
            <a:r>
              <a:rPr sz="2100" b="1">
                <a:solidFill>
                  <a:srgbClr val="1F0E33"/>
                </a:solidFill>
                <a:latin typeface="Arial"/>
              </a:rPr>
              <a:t>The planner interface, with the caveat that it computes nothing and has not been used by anyone</a:t>
            </a:r>
          </a:p>
        </p:txBody>
      </p:sp>
      <p:pic>
        <p:nvPicPr>
          <p:cNvPr id="6" name="Picture 5" descr="figI_5_recommendation.png"/>
          <p:cNvPicPr>
            <a:picLocks noChangeAspect="1"/>
          </p:cNvPicPr>
          <p:nvPr/>
        </p:nvPicPr>
        <p:blipFill>
          <a:blip r:embed="rId3"/>
          <a:stretch>
            <a:fillRect/>
          </a:stretch>
        </p:blipFill>
        <p:spPr>
          <a:xfrm>
            <a:off x="609600" y="1905000"/>
            <a:ext cx="5334000" cy="4451508"/>
          </a:xfrm>
          <a:prstGeom prst="rect">
            <a:avLst/>
          </a:prstGeom>
        </p:spPr>
      </p:pic>
      <p:sp>
        <p:nvSpPr>
          <p:cNvPr id="7" name="TextBox 6"/>
          <p:cNvSpPr txBox="1"/>
          <p:nvPr/>
        </p:nvSpPr>
        <p:spPr>
          <a:xfrm>
            <a:off x="609600" y="6032500"/>
            <a:ext cx="5334000" cy="190500"/>
          </a:xfrm>
          <a:prstGeom prst="rect">
            <a:avLst/>
          </a:prstGeom>
          <a:noFill/>
        </p:spPr>
        <p:txBody>
          <a:bodyPr wrap="square" lIns="0" tIns="0" rIns="0" bIns="0" anchor="t">
            <a:spAutoFit/>
          </a:bodyPr>
          <a:lstStyle/>
          <a:p>
            <a:pPr algn="l">
              <a:lnSpc>
                <a:spcPct val="135000"/>
              </a:lnSpc>
            </a:pPr>
            <a:r>
              <a:rPr sz="1100" b="0">
                <a:solidFill>
                  <a:srgbClr val="9D8FB0"/>
                </a:solidFill>
                <a:latin typeface="Arial"/>
              </a:rPr>
              <a:t>Figure I.5 — the recommendation screen</a:t>
            </a:r>
          </a:p>
        </p:txBody>
      </p:sp>
      <p:pic>
        <p:nvPicPr>
          <p:cNvPr id="8" name="Picture 7" descr="figI_6_meeting_summary.png"/>
          <p:cNvPicPr>
            <a:picLocks noChangeAspect="1"/>
          </p:cNvPicPr>
          <p:nvPr/>
        </p:nvPicPr>
        <p:blipFill>
          <a:blip r:embed="rId4"/>
          <a:stretch>
            <a:fillRect/>
          </a:stretch>
        </p:blipFill>
        <p:spPr>
          <a:xfrm>
            <a:off x="6248400" y="1905000"/>
            <a:ext cx="5334000" cy="5326190"/>
          </a:xfrm>
          <a:prstGeom prst="rect">
            <a:avLst/>
          </a:prstGeom>
        </p:spPr>
      </p:pic>
      <p:sp>
        <p:nvSpPr>
          <p:cNvPr id="9" name="TextBox 8"/>
          <p:cNvSpPr txBox="1"/>
          <p:nvPr/>
        </p:nvSpPr>
        <p:spPr>
          <a:xfrm>
            <a:off x="6248400" y="6032500"/>
            <a:ext cx="5334000" cy="190500"/>
          </a:xfrm>
          <a:prstGeom prst="rect">
            <a:avLst/>
          </a:prstGeom>
          <a:noFill/>
        </p:spPr>
        <p:txBody>
          <a:bodyPr wrap="square" lIns="0" tIns="0" rIns="0" bIns="0" anchor="t">
            <a:spAutoFit/>
          </a:bodyPr>
          <a:lstStyle/>
          <a:p>
            <a:pPr algn="l">
              <a:lnSpc>
                <a:spcPct val="135000"/>
              </a:lnSpc>
            </a:pPr>
            <a:r>
              <a:rPr sz="1100" b="0">
                <a:solidFill>
                  <a:srgbClr val="9D8FB0"/>
                </a:solidFill>
                <a:latin typeface="Arial"/>
              </a:rPr>
              <a:t>Figure I.10 — the meeting summary screen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968</TotalTime>
  <Words>5882</Words>
  <Application>Microsoft Macintosh PowerPoint</Application>
  <PresentationFormat>Widescreen</PresentationFormat>
  <Paragraphs>453</Paragraphs>
  <Slides>25</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trials pharmacy can complete within 60 days, and what limits that number</dc:title>
  <dc:subject>LTHTR pharmacy clinical trials set-up — results report-out</dc:subject>
  <dc:creator/>
  <cp:keywords/>
  <dc:description>Editable rebuild of the LTHTR results deck: 12 main slides, an A4 leave-behind, and seven back-up slides. All text is live PowerPoint text; figures are images.</dc:description>
  <cp:lastModifiedBy>Kachanon Lertdamrongwong</cp:lastModifiedBy>
  <cp:revision>3</cp:revision>
  <dcterms:created xsi:type="dcterms:W3CDTF">2013-01-27T09:14:16Z</dcterms:created>
  <dcterms:modified xsi:type="dcterms:W3CDTF">2026-09-11T19:14:04Z</dcterms:modified>
  <cp:category/>
</cp:coreProperties>
</file>